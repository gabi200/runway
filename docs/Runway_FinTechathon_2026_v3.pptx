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13.svg" ContentType="image/svg+xml"/>
  <Override PartName="/ppt/media/image18.svg" ContentType="image/svg+xml"/>
  <Override PartName="/ppt/media/image3.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66" r:id="rId19"/>
    <p:sldId id="267" r:id="rId20"/>
    <p:sldId id="268" r:id="rId21"/>
    <p:sldId id="269" r:id="rId22"/>
    <p:sldId id="270" r:id="rId23"/>
    <p:sldId id="271" r:id="rId24"/>
    <p:sldId id="272" r:id="rId25"/>
    <p:sldId id="273" r:id="rId26"/>
    <p:sldId id="274" r:id="rId27"/>
    <p:sldId id="275" r:id="rId28"/>
    <p:sldId id="276" r:id="rId29"/>
  </p:sldIdLst>
  <p:sldSz cx="18288000" cy="10287000"/>
  <p:notesSz cx="6858000" cy="9144000"/>
  <p:embeddedFontLst>
    <p:embeddedFont>
      <p:font typeface="Open Sauce Light" charset="1" panose="00000400000000000000"/>
      <p:regular r:id="rId16"/>
    </p:embeddedFont>
    <p:embeddedFont>
      <p:font typeface="Open Sauce" charset="1" panose="00000500000000000000"/>
      <p:regular r:id="rId17"/>
    </p:embeddedFont>
    <p:embeddedFont>
      <p:font typeface="Open Sauce Bold" charset="1" panose="000008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15" Type="http://schemas.openxmlformats.org/officeDocument/2006/relationships/notesMaster" Target="notesMasters/notesMaster1.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slide" Target="slides/slide1.xml"/><Relationship Id="rId20" Type="http://schemas.openxmlformats.org/officeDocument/2006/relationships/slide" Target="slides/slide2.xml"/><Relationship Id="rId21" Type="http://schemas.openxmlformats.org/officeDocument/2006/relationships/slide" Target="slides/slide3.xml"/><Relationship Id="rId22" Type="http://schemas.openxmlformats.org/officeDocument/2006/relationships/slide" Target="slides/slide4.xml"/><Relationship Id="rId23" Type="http://schemas.openxmlformats.org/officeDocument/2006/relationships/slide" Target="slides/slide5.xml"/><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9.xml"/><Relationship Id="rId28" Type="http://schemas.openxmlformats.org/officeDocument/2006/relationships/slide" Target="slides/slide10.xml"/><Relationship Id="rId29"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800" b="0">
                <a:solidFill>
                  <a:srgbClr val="9FB5AB"/>
                </a:solidFill>
                <a:latin typeface="Open Sauce Light"/>
                <a:ea typeface="Open Sauce Light"/>
                <a:cs typeface="Open Sauce Light"/>
              </a:rPr>
              <a:t>Lowest running balance in each week, € thousands</a:t>
            </a:r>
          </a:p>
        </c:rich>
      </c:tx>
      <c:layout/>
      <c:overlay val="0"/>
    </c:title>
    <c:autoTitleDeleted val="0"/>
    <c:plotArea>
      <c:barChart>
        <c:barDir val="col"/>
        <c:grouping val="clustered"/>
        <c:ser>
          <c:idx val="0"/>
          <c:order val="0"/>
          <c:tx>
            <c:strRef>
              <c:f>Sheet1!$B$1</c:f>
              <c:strCache>
                <c:ptCount val="1"/>
                <c:pt idx="0">
                  <c:v>Lowest balance in week (EUR k)</c:v>
                </c:pt>
              </c:strCache>
            </c:strRef>
          </c:tx>
          <c:invertIfNegative val="0"/>
          <c:dPt>
            <c:idx val="0"/>
            <c:spPr>
              <a:solidFill>
                <a:srgbClr val="2E9D71"/>
              </a:solidFill>
            </c:spPr>
          </c:dPt>
          <c:dPt>
            <c:idx val="1"/>
            <c:spPr>
              <a:solidFill>
                <a:srgbClr val="2E9D71"/>
              </a:solidFill>
            </c:spPr>
          </c:dPt>
          <c:dPt>
            <c:idx val="2"/>
            <c:spPr>
              <a:solidFill>
                <a:srgbClr val="2E9D71"/>
              </a:solidFill>
            </c:spPr>
          </c:dPt>
          <c:dPt>
            <c:idx val="3"/>
            <c:spPr>
              <a:solidFill>
                <a:srgbClr val="2E9D71"/>
              </a:solidFill>
            </c:spPr>
          </c:dPt>
          <c:dPt>
            <c:idx val="4"/>
            <c:spPr>
              <a:solidFill>
                <a:srgbClr val="2E9D71"/>
              </a:solidFill>
            </c:spPr>
          </c:dPt>
          <c:dPt>
            <c:idx val="5"/>
            <c:spPr>
              <a:solidFill>
                <a:srgbClr val="F2F99E"/>
              </a:solidFill>
            </c:spPr>
          </c:dPt>
          <c:dPt>
            <c:idx val="6"/>
            <c:spPr>
              <a:solidFill>
                <a:srgbClr val="F2F99E"/>
              </a:solidFill>
            </c:spPr>
          </c:dPt>
          <c:dPt>
            <c:idx val="7"/>
            <c:spPr>
              <a:solidFill>
                <a:srgbClr val="2E9D71"/>
              </a:solidFill>
            </c:spPr>
          </c:dPt>
          <c:dPt>
            <c:idx val="8"/>
            <c:spPr>
              <a:solidFill>
                <a:srgbClr val="2E9D71"/>
              </a:solidFill>
            </c:spPr>
          </c:dPt>
          <c:dPt>
            <c:idx val="9"/>
            <c:spPr>
              <a:solidFill>
                <a:srgbClr val="F2F99E"/>
              </a:solidFill>
            </c:spPr>
          </c:dPt>
          <c:dPt>
            <c:idx val="10"/>
            <c:spPr>
              <a:solidFill>
                <a:srgbClr val="F2F99E"/>
              </a:solidFill>
            </c:spPr>
          </c:dPt>
          <c:dPt>
            <c:idx val="11"/>
            <c:spPr>
              <a:solidFill>
                <a:srgbClr val="2E9D71"/>
              </a:solidFill>
            </c:spPr>
          </c:dPt>
          <c:dPt>
            <c:idx val="12"/>
            <c:spPr>
              <a:solidFill>
                <a:srgbClr val="2E9D71"/>
              </a:solidFill>
            </c:spPr>
          </c:dPt>
          <c:dLbls>
            <c:dLbl>
              <c:idx val="5"/>
              <c:tx>
                <c:rich>
                  <a:bodyPr/>
                  <a:lstStyle/>
                  <a:p>
                    <a:r>
                      <a:rPr sz="1600" b="0">
                        <a:solidFill>
                          <a:srgbClr val="F2F99E"/>
                        </a:solidFill>
                        <a:latin typeface="Open Sauce"/>
                        <a:ea typeface="Open Sauce"/>
                        <a:cs typeface="Open Sauce"/>
                      </a:rPr>
                      <a:t>-29.3k</a:t>
                    </a:r>
                  </a:p>
                </c:rich>
              </c:tx>
              <c:dLblPos val="outEnd"/>
              <c:showLegendKey val="0"/>
              <c:showVal val="1"/>
              <c:showCatName val="0"/>
              <c:showSerName val="0"/>
              <c:showPercent val="0"/>
              <c:showBubbleSize val="0"/>
            </c:dLbl>
            <c:dLbl>
              <c:idx val="9"/>
              <c:tx>
                <c:rich>
                  <a:bodyPr/>
                  <a:lstStyle/>
                  <a:p>
                    <a:r>
                      <a:rPr sz="1600" b="0">
                        <a:solidFill>
                          <a:srgbClr val="F2F99E"/>
                        </a:solidFill>
                        <a:latin typeface="Open Sauce"/>
                        <a:ea typeface="Open Sauce"/>
                        <a:cs typeface="Open Sauce"/>
                      </a:rPr>
                      <a:t>-9.5k</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Sheet1!$A$2:$A$14</c:f>
              <c:strCache>
                <c:ptCount val="13"/>
                <c:pt idx="0">
                  <c:v>W1</c:v>
                </c:pt>
                <c:pt idx="1">
                  <c:v>W2</c:v>
                </c:pt>
                <c:pt idx="2">
                  <c:v>W3</c:v>
                </c:pt>
                <c:pt idx="3">
                  <c:v>W4</c:v>
                </c:pt>
                <c:pt idx="4">
                  <c:v>W5</c:v>
                </c:pt>
                <c:pt idx="5">
                  <c:v>W6</c:v>
                </c:pt>
                <c:pt idx="6">
                  <c:v>W7</c:v>
                </c:pt>
                <c:pt idx="7">
                  <c:v>W8</c:v>
                </c:pt>
                <c:pt idx="8">
                  <c:v>W9</c:v>
                </c:pt>
                <c:pt idx="9">
                  <c:v>W10</c:v>
                </c:pt>
                <c:pt idx="10">
                  <c:v>W11</c:v>
                </c:pt>
                <c:pt idx="11">
                  <c:v>W12</c:v>
                </c:pt>
                <c:pt idx="12">
                  <c:v>W13</c:v>
                </c:pt>
              </c:strCache>
            </c:strRef>
          </c:cat>
          <c:val>
            <c:numRef>
              <c:f>Sheet1!$B$2:$B$14</c:f>
              <c:numCache>
                <c:formatCode>General</c:formatCode>
                <c:ptCount val="13"/>
                <c:pt idx="0">
                  <c:v>12.5</c:v>
                </c:pt>
                <c:pt idx="1">
                  <c:v>4.5</c:v>
                </c:pt>
                <c:pt idx="2">
                  <c:v>4.5</c:v>
                </c:pt>
                <c:pt idx="3">
                  <c:v>16.5</c:v>
                </c:pt>
                <c:pt idx="4">
                  <c:v>27.7</c:v>
                </c:pt>
                <c:pt idx="5">
                  <c:v>-29.3</c:v>
                </c:pt>
                <c:pt idx="6">
                  <c:v>-26.3</c:v>
                </c:pt>
                <c:pt idx="7">
                  <c:v>57.1</c:v>
                </c:pt>
                <c:pt idx="8">
                  <c:v>57.1</c:v>
                </c:pt>
                <c:pt idx="9">
                  <c:v>-9.5</c:v>
                </c:pt>
                <c:pt idx="10">
                  <c:v>-9.5</c:v>
                </c:pt>
                <c:pt idx="11">
                  <c:v>74.5</c:v>
                </c:pt>
                <c:pt idx="12">
                  <c:v>70.9</c:v>
                </c:pt>
              </c:numCache>
            </c:numRef>
          </c:val>
        </c:ser>
        <c:gapWidth val="45"/>
        <c:axId val="-2068027336"/>
        <c:axId val="-2113994440"/>
      </c:barChart>
      <c:catAx>
        <c:axId val="-2068027336"/>
        <c:scaling>
          <c:orientation val="minMax"/>
        </c:scaling>
        <c:delete val="0"/>
        <c:axPos val="b"/>
        <c:majorTickMark val="out"/>
        <c:minorTickMark val="none"/>
        <c:tickLblPos val="low"/>
        <c:spPr>
          <a:ln>
            <a:solidFill>
              <a:srgbClr val="5A6B63"/>
            </a:solidFill>
          </a:ln>
        </c:spPr>
        <c:txPr>
          <a:bodyPr/>
          <a:lstStyle/>
          <a:p>
            <a:pPr>
              <a:defRPr sz="1400">
                <a:solidFill>
                  <a:srgbClr val="9FB5AB"/>
                </a:solidFill>
              </a:defRPr>
            </a:pPr>
          </a:p>
        </c:txPr>
        <c:crossAx val="-2113994440"/>
        <c:crosses val="autoZero"/>
        <c:auto val="1"/>
        <c:lblAlgn val="ctr"/>
        <c:lblOffset val="100"/>
        <c:noMultiLvlLbl val="0"/>
      </c:catAx>
      <c:valAx>
        <c:axId val="-2113994440"/>
        <c:scaling/>
        <c:delete val="0"/>
        <c:axPos val="l"/>
        <c:majorGridlines>
          <c:spPr>
            <a:ln>
              <a:solidFill>
                <a:srgbClr val="222A26"/>
              </a:solidFill>
            </a:ln>
          </c:spPr>
        </c:majorGridlines>
        <c:majorTickMark val="out"/>
        <c:minorTickMark val="none"/>
        <c:tickLblPos val="nextTo"/>
        <c:spPr>
          <a:ln>
            <a:noFill/>
          </a:ln>
        </c:spPr>
        <c:txPr>
          <a:bodyPr/>
          <a:lstStyle/>
          <a:p>
            <a:pPr>
              <a:defRPr sz="1400">
                <a:solidFill>
                  <a:srgbClr val="9FB5AB"/>
                </a:solidFill>
              </a:defRPr>
            </a:pPr>
          </a:p>
        </c:txPr>
        <c:crossAx val="-2068027336"/>
        <c:crosses val="autoZero"/>
      </c:valAx>
    </c:plotArea>
    <c:dispBlanksAs val="gap"/>
  </c:chart>
  <c:txPr>
    <a:bodyPr/>
    <a:lstStyle/>
    <a:p>
      <a:pPr>
        <a:defRPr sz="1600">
          <a:solidFill>
            <a:srgbClr val="F2FFF9"/>
          </a:solidFill>
          <a:latin typeface="Open Sauce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800" b="0">
                <a:solidFill>
                  <a:srgbClr val="9FB5AB"/>
                </a:solidFill>
                <a:latin typeface="Open Sauce Light"/>
                <a:ea typeface="Open Sauce Light"/>
                <a:cs typeface="Open Sauce Light"/>
              </a:rPr>
              <a:t>True cost of €18,000 for 36 days, €</a:t>
            </a:r>
          </a:p>
        </c:rich>
      </c:tx>
      <c:layout/>
      <c:overlay val="0"/>
    </c:title>
    <c:autoTitleDeleted val="0"/>
    <c:plotArea>
      <c:barChart>
        <c:barDir val="bar"/>
        <c:grouping val="clustered"/>
        <c:ser>
          <c:idx val="0"/>
          <c:order val="0"/>
          <c:tx>
            <c:strRef>
              <c:f>Sheet1!$B$1</c:f>
              <c:strCache>
                <c:ptCount val="1"/>
                <c:pt idx="0">
                  <c:v>True cost (EUR)</c:v>
                </c:pt>
              </c:strCache>
            </c:strRef>
          </c:tx>
          <c:dPt>
            <c:idx val="0"/>
            <c:spPr>
              <a:solidFill>
                <a:srgbClr val="3E5E51"/>
              </a:solidFill>
            </c:spPr>
          </c:dPt>
          <c:dPt>
            <c:idx val="1"/>
            <c:spPr>
              <a:solidFill>
                <a:srgbClr val="3E5E51"/>
              </a:solidFill>
            </c:spPr>
          </c:dPt>
          <c:dPt>
            <c:idx val="2"/>
            <c:spPr>
              <a:solidFill>
                <a:srgbClr val="3E5E51"/>
              </a:solidFill>
            </c:spPr>
          </c:dPt>
          <c:dPt>
            <c:idx val="3"/>
            <c:spPr>
              <a:solidFill>
                <a:srgbClr val="3E5E51"/>
              </a:solidFill>
            </c:spPr>
          </c:dPt>
          <c:dPt>
            <c:idx val="4"/>
            <c:spPr>
              <a:solidFill>
                <a:srgbClr val="56D5A2"/>
              </a:solidFill>
            </c:spPr>
          </c:dPt>
          <c:cat>
            <c:strRef>
              <c:f>Sheet1!$A$2:$A$6</c:f>
              <c:strCache>
                <c:ptCount val="5"/>
                <c:pt idx="0">
                  <c:v>State-guaranteed loan · cash 9 Nov</c:v>
                </c:pt>
                <c:pt idx="1">
                  <c:v>Short-term loan · cash 24 Oct</c:v>
                </c:pt>
                <c:pt idx="2">
                  <c:v>Invoice financing · cash 21 Oct</c:v>
                </c:pt>
                <c:pt idx="3">
                  <c:v>Overdraft · cash 20 Oct</c:v>
                </c:pt>
                <c:pt idx="4">
                  <c:v>Supply-chain finance · cash 23 Oct</c:v>
                </c:pt>
              </c:strCache>
            </c:strRef>
          </c:cat>
          <c:val>
            <c:numRef>
              <c:f>Sheet1!$B$2:$B$6</c:f>
              <c:numCache>
                <c:formatCode>General</c:formatCode>
                <c:ptCount val="5"/>
                <c:pt idx="0">
                  <c:v>1260.0</c:v>
                </c:pt>
                <c:pt idx="1">
                  <c:v>992.22</c:v>
                </c:pt>
                <c:pt idx="2">
                  <c:v>540.0</c:v>
                </c:pt>
                <c:pt idx="3">
                  <c:v>413.04</c:v>
                </c:pt>
                <c:pt idx="4">
                  <c:v>216.0</c:v>
                </c:pt>
              </c:numCache>
            </c:numRef>
          </c:val>
        </c:ser>
        <c:dLbls>
          <c:numFmt formatCode="#,##0.00" sourceLinked="0"/>
          <c:txPr>
            <a:bodyPr/>
            <a:lstStyle/>
            <a:p>
              <a:pPr>
                <a:defRPr sz="1600">
                  <a:solidFill>
                    <a:srgbClr val="F2FFF9"/>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solidFill>
              <a:srgbClr val="5A6B63"/>
            </a:solidFill>
          </a:ln>
        </c:spPr>
        <c:txPr>
          <a:bodyPr/>
          <a:lstStyle/>
          <a:p>
            <a:pPr>
              <a:defRPr sz="1500">
                <a:solidFill>
                  <a:srgbClr val="F2FFF9"/>
                </a:solidFill>
              </a:defRPr>
            </a:pPr>
          </a:p>
        </c:txPr>
        <c:crossAx val="-2113994440"/>
        <c:crosses val="autoZero"/>
        <c:auto val="1"/>
        <c:lblAlgn val="ctr"/>
        <c:lblOffset val="100"/>
        <c:noMultiLvlLbl val="0"/>
      </c:catAx>
      <c:valAx>
        <c:axId val="-2113994440"/>
        <c:scaling>
          <c:max val="1500.0"/>
        </c:scaling>
        <c:delete/>
        <c:axPos val="b"/>
        <c:majorTickMark val="out"/>
        <c:minorTickMark val="none"/>
        <c:tickLblPos val="nextTo"/>
        <c:crossAx val="-2068027336"/>
        <c:crosses val="autoZero"/>
      </c:valAx>
    </c:plotArea>
    <c:dispBlanksAs val="gap"/>
  </c:chart>
  <c:txPr>
    <a:bodyPr/>
    <a:lstStyle/>
    <a:p>
      <a:pPr>
        <a:defRPr sz="1600">
          <a:solidFill>
            <a:srgbClr val="F2FFF9"/>
          </a:solidFill>
          <a:latin typeface="Open Sauce Ligh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Hi, we are Team Hexcellent from Politehnica Bucharest. Runway is an AI copilot that keeps small businesses from running out of cash: it forecasts, warns early, finds financing and prepares the application, under limits you can see. All data in the demo is fictional.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Small businesses rarely fail because they are unprofitable. They fail in the gap between paying their own bills and being paid. The hidden cause is late-paying customers. Our demo company, Lumen Packaging, 20 employees, sells 65 percent of its output to one appliance maker that pays 75 days after invoice and then about five days late. Payroll, VAT and the paperboard supplier do not wait.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Runway is one agent that does four jobs. It forecasts cash 13 weeks ahead, alerts early when the balance will go below zero, matches financing to the need, and prepares the application. It also chases overdue customers and can move a non-critical supplier payment. It works with the owner and the external accountant, and it runs on a cloud model, a local model or completely offline.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The agent, a cloud model, a local Ollama model or the offline planner, only requests tools. Names, e-mails and IBANs are masked before any model call. Every request goes through one executor: the rules engine, plain Python with no AI, says allow, ask a human, or deny; the decision is written to a hash-chained audit log before anything runs; only then does a tool touch the mock bank, which has its own token scopes and checks. The model never holds a bank credential, and there is no tool that can add or change a payee or an IBAN.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Plain Python builds the forecast from the trial balance and the bank statement, and walks the balance day by day, payments before receipts. Each expected receipt is moved by that customer's own average lateness: Brightfield pays on day 75 plus about five days. The result: minus 29,303 euros on 26 November, and a second dip at Christmas. Any number can be clicked to show the ledger rows it comes from; if a figure cannot be traced, it is not shown.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The need is computed by a tool, not by the model: 18,000 euros from 25 November for 36 days, with one supplier payment moved to its last allowed day; 30,000 without. Runway checks each product's eligibility, for example supply-chain finance only against the big customer's invoices, and ranks every option by true cost with its cash date. Cheapest: supply-chain finance at 216 euros. It then prepares the application PDF; the agent never submits it. And any amount or action in a reply that no tool result or document backs up gets a visible 'Check by Runway' note.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Five permission tiers. Reading and analysis are automatic and logged. Low-risk actions, reminders and small payments backed by an invoice, are automatic within hard daily and weekly caps. Anything material waits for named humans, each signed in with their own PIN; above 5,000 euros it needs both owner and accountant from two sessions. An optional review team of AI agents can comment, but never approve. The dangerous actions do not exist as tools. And before anything reaches a language model, names, e-mails and IBANs are replaced by placeholders. The kill switch drops the agent to read-only at once.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Everything the agent and the people do lands in a hash-chained audit log. Someone who owns the database could rebuild the whole chain, and our console shows the local check being fooled; so we publish the chain head outside the database, and against it the forgery is detected. We also built Runway to be attacked: all ten attack scenarios, A1 to A10, are stopped, and each is an automated test. A hidden-text invoice asking to pay a new IBAN is flagged and the payment blocked. A paraphrased fraud e-mail fools our keyword scanner, on purpose, and the rules engine still blocks the payment. A forged approval fails the signature check. Judges can try all of this in the red-team console.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What makes it different to use. Everything is plain language: approvals, the audit log and what the agent did read as sentences. Alerts come before the problem: on 19 October the Monday brief already names the 25 November gap, five weeks ahead, and fraud alerts reach the owner as soon as a document is flagged. It works offline: a deterministic planner runs the same tools with no network, and if the model fails the turn finishes offline and says so. And it asks when a request is ambiguous instead of guessing.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We list our risks openly; the numbers match our security self-assessment. PIN sign-in is demo-grade. Keyword detection can be evaded, which is why it is not the control. One SQLite file is the root of trust, which is why we publish the audit head outside it. Attack tests run against the offline planner. Pseudonymisation is partial. Signing keys are per role and held on the server. Next: real bank APIs, real identity with per-person keys, more country packs beyond the EU and China, and automatic anchoring to a public chain.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Thank you. The code, the documentation and the execution logs are on GitHub, and the demo video is part of our submission. The agent proposes, code enforces, humans decide.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2.png"/><Relationship Id="rId5" Type="http://schemas.openxmlformats.org/officeDocument/2006/relationships/image" Target="../media/image13.sv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image" Target="../media/image14.png"/><Relationship Id="rId9" Type="http://schemas.openxmlformats.org/officeDocument/2006/relationships/image" Target="../media/image15.jpeg"/><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4.jpe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image" Target="../media/image7.png"/><Relationship Id="rId8" Type="http://schemas.openxmlformats.org/officeDocument/2006/relationships/image" Target="../media/image8.svg"/><Relationship Id="rId9" Type="http://schemas.openxmlformats.org/officeDocument/2006/relationships/image" Target="../media/image9.jpeg"/><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2.png"/><Relationship Id="rId5" Type="http://schemas.openxmlformats.org/officeDocument/2006/relationships/image" Target="../media/image13.svg"/><Relationship Id="rId6" Type="http://schemas.openxmlformats.org/officeDocument/2006/relationships/image" Target="../media/image16.jpeg"/><Relationship Id="rId7" Type="http://schemas.openxmlformats.org/officeDocument/2006/relationships/image" Target="../media/image17.png"/><Relationship Id="rId8" Type="http://schemas.openxmlformats.org/officeDocument/2006/relationships/image" Target="../media/image18.svg"/><Relationship Id="rId9" Type="http://schemas.openxmlformats.org/officeDocument/2006/relationships/image" Target="../media/image7.png"/><Relationship Id="rId10" Type="http://schemas.openxmlformats.org/officeDocument/2006/relationships/image" Target="../media/image8.svg"/><Relationship Id="rId11" Type="http://schemas.openxmlformats.org/officeDocument/2006/relationships/image" Target="../media/image5.png"/><Relationship Id="rId12" Type="http://schemas.openxmlformats.org/officeDocument/2006/relationships/image" Target="../media/image6.svg"/><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26.jpe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image" Target="../media/image7.png"/><Relationship Id="rId8" Type="http://schemas.openxmlformats.org/officeDocument/2006/relationships/image" Target="../media/image8.svg"/><Relationship Id="rId9" Type="http://schemas.openxmlformats.org/officeDocument/2006/relationships/chart" Target="../charts/char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13.svg"/><Relationship Id="rId7" Type="http://schemas.openxmlformats.org/officeDocument/2006/relationships/image" Target="../media/image9.jpeg"/><Relationship Id="rId8" Type="http://schemas.openxmlformats.org/officeDocument/2006/relationships/image" Target="../media/image27.jpeg"/><Relationship Id="rId9" Type="http://schemas.openxmlformats.org/officeDocument/2006/relationships/image" Target="../media/image28.jpeg"/><Relationship Id="rId10" Type="http://schemas.openxmlformats.org/officeDocument/2006/relationships/image" Target="../media/image5.png"/><Relationship Id="rId11" Type="http://schemas.openxmlformats.org/officeDocument/2006/relationships/image" Target="../media/image6.svg"/><Relationship Id="rId12" Type="http://schemas.openxmlformats.org/officeDocument/2006/relationships/chart" Target="../charts/chart2.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11.jpe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19.jpe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13.svg"/><Relationship Id="rId7" Type="http://schemas.openxmlformats.org/officeDocument/2006/relationships/image" Target="../media/image9.jpeg"/><Relationship Id="rId8" Type="http://schemas.openxmlformats.org/officeDocument/2006/relationships/image" Target="../media/image27.jpeg"/><Relationship Id="rId9" Type="http://schemas.openxmlformats.org/officeDocument/2006/relationships/image" Target="../media/image28.jpeg"/><Relationship Id="rId10" Type="http://schemas.openxmlformats.org/officeDocument/2006/relationships/image" Target="../media/image5.png"/><Relationship Id="rId11" Type="http://schemas.openxmlformats.org/officeDocument/2006/relationships/image" Target="../media/image6.svg"/><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11.jpe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notesSlide" Target="../notesSlides/notesSlide11.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80808"/>
        </a:solidFill>
      </p:bgPr>
    </p:bg>
    <p:spTree>
      <p:nvGrpSpPr>
        <p:cNvPr id="1" name=""/>
        <p:cNvGrpSpPr/>
        <p:nvPr/>
      </p:nvGrpSpPr>
      <p:grpSpPr>
        <a:xfrm>
          <a:off x="0" y="0"/>
          <a:ext cx="0" cy="0"/>
          <a:chOff x="0" y="0"/>
          <a:chExt cx="0" cy="0"/>
        </a:xfrm>
      </p:grpSpPr>
      <p:sp>
        <p:nvSpPr>
          <p:cNvPr name="Freeform 2" id="2"/>
          <p:cNvSpPr/>
          <p:nvPr/>
        </p:nvSpPr>
        <p:spPr>
          <a:xfrm flipH="false" flipV="false" rot="0">
            <a:off x="12415991" y="0"/>
            <a:ext cx="5779424" cy="10287000"/>
          </a:xfrm>
          <a:custGeom>
            <a:avLst/>
            <a:gdLst/>
            <a:ahLst/>
            <a:cxnLst/>
            <a:rect r="r" b="b" t="t" l="l"/>
            <a:pathLst>
              <a:path h="10287000" w="5779424">
                <a:moveTo>
                  <a:pt x="0" y="0"/>
                </a:moveTo>
                <a:lnTo>
                  <a:pt x="5779424" y="0"/>
                </a:lnTo>
                <a:lnTo>
                  <a:pt x="5779424" y="10287000"/>
                </a:lnTo>
                <a:lnTo>
                  <a:pt x="0" y="10287000"/>
                </a:lnTo>
                <a:lnTo>
                  <a:pt x="0" y="0"/>
                </a:lnTo>
                <a:close/>
              </a:path>
            </a:pathLst>
          </a:custGeom>
          <a:blipFill>
            <a:blip r:embed="rId2"/>
            <a:stretch>
              <a:fillRect l="0" t="0" r="0" b="0"/>
            </a:stretch>
          </a:blipFill>
        </p:spPr>
      </p:sp>
      <p:sp>
        <p:nvSpPr>
          <p:cNvPr id="3" name="TextBox 2"/>
          <p:cNvSpPr txBox="1"/>
          <p:nvPr/>
        </p:nvSpPr>
        <p:spPr>
          <a:xfrm>
            <a:off x="1682496" y="2697480"/>
            <a:ext cx="9144000" cy="45720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TOPIC E  ·  SME FINANCE COPILOT</a:t>
            </a:r>
          </a:p>
        </p:txBody>
      </p:sp>
      <p:sp>
        <p:nvSpPr>
          <p:cNvPr id="4" name="Runway wordmark"/>
          <p:cNvSpPr txBox="1"/>
          <p:nvPr/>
        </p:nvSpPr>
        <p:spPr>
          <a:xfrm>
            <a:off x="1682496" y="2971800"/>
            <a:ext cx="10058400" cy="2381250"/>
          </a:xfrm>
          <a:prstGeom prst="rect">
            <a:avLst/>
          </a:prstGeom>
          <a:noFill/>
        </p:spPr>
        <p:txBody>
          <a:bodyPr wrap="square" lIns="0" rIns="0" tIns="0" bIns="0">
            <a:spAutoFit/>
          </a:bodyPr>
          <a:lstStyle/>
          <a:p>
            <a:r>
              <a:rPr sz="15000" b="1" spc="-900">
                <a:solidFill>
                  <a:srgbClr val="F2FFF9"/>
                </a:solidFill>
                <a:latin typeface="Segoe UI"/>
                <a:ea typeface="Segoe UI"/>
                <a:cs typeface="Segoe UI"/>
              </a:rPr>
              <a:t>runway</a:t>
            </a:r>
            <a:r>
              <a:rPr sz="15000" b="1" spc="-900">
                <a:solidFill>
                  <a:srgbClr val="A4D0B5"/>
                </a:solidFill>
                <a:latin typeface="Segoe UI"/>
                <a:ea typeface="Segoe UI"/>
                <a:cs typeface="Segoe UI"/>
              </a:rPr>
              <a:t>.</a:t>
            </a:r>
          </a:p>
        </p:txBody>
      </p:sp>
      <p:sp>
        <p:nvSpPr>
          <p:cNvPr id="5" name="TextBox 4"/>
          <p:cNvSpPr txBox="1"/>
          <p:nvPr/>
        </p:nvSpPr>
        <p:spPr>
          <a:xfrm>
            <a:off x="1682496" y="5577840"/>
            <a:ext cx="9875520" cy="1188720"/>
          </a:xfrm>
          <a:prstGeom prst="rect">
            <a:avLst/>
          </a:prstGeom>
          <a:noFill/>
        </p:spPr>
        <p:txBody>
          <a:bodyPr wrap="square" lIns="0" rIns="0" tIns="0" bIns="0" anchor="t">
            <a:spAutoFit/>
          </a:bodyPr>
          <a:lstStyle/>
          <a:p>
            <a:pPr algn="l">
              <a:lnSpc>
                <a:spcPct val="115000"/>
              </a:lnSpc>
              <a:spcAft>
                <a:spcPts val="0"/>
              </a:spcAft>
            </a:pPr>
            <a:r>
              <a:rPr sz="2600" b="0">
                <a:solidFill>
                  <a:srgbClr val="F2FFF9"/>
                </a:solidFill>
                <a:latin typeface="Open Sauce Light"/>
                <a:ea typeface="Open Sauce Light"/>
                <a:cs typeface="Open Sauce Light"/>
              </a:rPr>
              <a:t>An AI copilot that keeps small businesses from running out of cash, and can never move money it should not.</a:t>
            </a:r>
          </a:p>
        </p:txBody>
      </p:sp>
      <p:sp>
        <p:nvSpPr>
          <p:cNvPr id="6" name="TextBox 5"/>
          <p:cNvSpPr txBox="1"/>
          <p:nvPr/>
        </p:nvSpPr>
        <p:spPr>
          <a:xfrm>
            <a:off x="1682496" y="8092440"/>
            <a:ext cx="3840480" cy="320040"/>
          </a:xfrm>
          <a:prstGeom prst="rect">
            <a:avLst/>
          </a:prstGeom>
          <a:noFill/>
        </p:spPr>
        <p:txBody>
          <a:bodyPr wrap="square" lIns="0" rIns="0" tIns="0" bIns="0" anchor="t">
            <a:spAutoFit/>
          </a:bodyPr>
          <a:lstStyle/>
          <a:p>
            <a:pPr algn="l">
              <a:spcAft>
                <a:spcPts val="0"/>
              </a:spcAft>
            </a:pPr>
            <a:r>
              <a:rPr sz="1800" b="0">
                <a:solidFill>
                  <a:srgbClr val="56D5A2"/>
                </a:solidFill>
                <a:latin typeface="Open Sauce Light"/>
                <a:ea typeface="Open Sauce Light"/>
                <a:cs typeface="Open Sauce Light"/>
              </a:rPr>
              <a:t>Presented by</a:t>
            </a:r>
          </a:p>
        </p:txBody>
      </p:sp>
      <p:sp>
        <p:nvSpPr>
          <p:cNvPr id="7" name="TextBox 6"/>
          <p:cNvSpPr txBox="1"/>
          <p:nvPr/>
        </p:nvSpPr>
        <p:spPr>
          <a:xfrm>
            <a:off x="1682496" y="8485632"/>
            <a:ext cx="4206240" cy="457200"/>
          </a:xfrm>
          <a:prstGeom prst="rect">
            <a:avLst/>
          </a:prstGeom>
          <a:noFill/>
        </p:spPr>
        <p:txBody>
          <a:bodyPr wrap="square" lIns="0" rIns="0" tIns="0" bIns="0" anchor="t">
            <a:spAutoFit/>
          </a:bodyPr>
          <a:lstStyle/>
          <a:p>
            <a:pPr algn="l">
              <a:spcAft>
                <a:spcPts val="0"/>
              </a:spcAft>
            </a:pPr>
            <a:r>
              <a:rPr sz="2400" b="0">
                <a:solidFill>
                  <a:srgbClr val="F2FFF9"/>
                </a:solidFill>
                <a:latin typeface="Open Sauce Light"/>
                <a:ea typeface="Open Sauce Light"/>
                <a:cs typeface="Open Sauce Light"/>
              </a:rPr>
              <a:t>Team Hexcellent</a:t>
            </a:r>
          </a:p>
        </p:txBody>
      </p:sp>
      <p:sp>
        <p:nvSpPr>
          <p:cNvPr id="8" name="TextBox 7"/>
          <p:cNvSpPr txBox="1"/>
          <p:nvPr/>
        </p:nvSpPr>
        <p:spPr>
          <a:xfrm>
            <a:off x="6035040" y="8092440"/>
            <a:ext cx="5486400" cy="320040"/>
          </a:xfrm>
          <a:prstGeom prst="rect">
            <a:avLst/>
          </a:prstGeom>
          <a:noFill/>
        </p:spPr>
        <p:txBody>
          <a:bodyPr wrap="square" lIns="0" rIns="0" tIns="0" bIns="0" anchor="t">
            <a:spAutoFit/>
          </a:bodyPr>
          <a:lstStyle/>
          <a:p>
            <a:pPr algn="l">
              <a:spcAft>
                <a:spcPts val="0"/>
              </a:spcAft>
            </a:pPr>
            <a:r>
              <a:rPr sz="1800" b="0">
                <a:solidFill>
                  <a:srgbClr val="56D5A2"/>
                </a:solidFill>
                <a:latin typeface="Open Sauce Light"/>
                <a:ea typeface="Open Sauce Light"/>
                <a:cs typeface="Open Sauce Light"/>
              </a:rPr>
              <a:t>Event</a:t>
            </a:r>
          </a:p>
        </p:txBody>
      </p:sp>
      <p:sp>
        <p:nvSpPr>
          <p:cNvPr id="9" name="TextBox 8"/>
          <p:cNvSpPr txBox="1"/>
          <p:nvPr/>
        </p:nvSpPr>
        <p:spPr>
          <a:xfrm>
            <a:off x="6035040" y="8485632"/>
            <a:ext cx="5852160" cy="457200"/>
          </a:xfrm>
          <a:prstGeom prst="rect">
            <a:avLst/>
          </a:prstGeom>
          <a:noFill/>
        </p:spPr>
        <p:txBody>
          <a:bodyPr wrap="square" lIns="0" rIns="0" tIns="0" bIns="0" anchor="t">
            <a:spAutoFit/>
          </a:bodyPr>
          <a:lstStyle/>
          <a:p>
            <a:pPr algn="l">
              <a:spcAft>
                <a:spcPts val="0"/>
              </a:spcAft>
            </a:pPr>
            <a:r>
              <a:rPr sz="2400" b="0">
                <a:solidFill>
                  <a:srgbClr val="F2FFF9"/>
                </a:solidFill>
                <a:latin typeface="Open Sauce Light"/>
                <a:ea typeface="Open Sauce Light"/>
                <a:cs typeface="Open Sauce Light"/>
              </a:rPr>
              <a:t>2026 Shenzhen International FinTech Competition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80808"/>
        </a:solidFill>
      </p:bgPr>
    </p:bg>
    <p:spTree>
      <p:nvGrpSpPr>
        <p:cNvPr id="1" name=""/>
        <p:cNvGrpSpPr/>
        <p:nvPr/>
      </p:nvGrpSpPr>
      <p:grpSpPr>
        <a:xfrm>
          <a:off x="0" y="0"/>
          <a:ext cx="0" cy="0"/>
          <a:chOff x="0" y="0"/>
          <a:chExt cx="0" cy="0"/>
        </a:xfrm>
      </p:grpSpPr>
      <p:sp>
        <p:nvSpPr>
          <p:cNvPr name="Freeform 5" id="5"/>
          <p:cNvSpPr/>
          <p:nvPr/>
        </p:nvSpPr>
        <p:spPr>
          <a:xfrm flipH="false" flipV="false" rot="0">
            <a:off x="10725912" y="2075688"/>
            <a:ext cx="595203" cy="595203"/>
          </a:xfrm>
          <a:custGeom>
            <a:avLst/>
            <a:gdLst/>
            <a:ahLst/>
            <a:cxnLst/>
            <a:rect r="r" b="b" t="t" l="l"/>
            <a:pathLst>
              <a:path h="595203" w="595203">
                <a:moveTo>
                  <a:pt x="0" y="0"/>
                </a:moveTo>
                <a:lnTo>
                  <a:pt x="595203" y="0"/>
                </a:lnTo>
                <a:lnTo>
                  <a:pt x="595203" y="595203"/>
                </a:lnTo>
                <a:lnTo>
                  <a:pt x="0" y="5952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0725912" y="3950207"/>
            <a:ext cx="595203" cy="595203"/>
          </a:xfrm>
          <a:custGeom>
            <a:avLst/>
            <a:gdLst/>
            <a:ahLst/>
            <a:cxnLst/>
            <a:rect r="r" b="b" t="t" l="l"/>
            <a:pathLst>
              <a:path h="595203" w="595203">
                <a:moveTo>
                  <a:pt x="0" y="0"/>
                </a:moveTo>
                <a:lnTo>
                  <a:pt x="595203" y="0"/>
                </a:lnTo>
                <a:lnTo>
                  <a:pt x="595203" y="595203"/>
                </a:lnTo>
                <a:lnTo>
                  <a:pt x="0" y="5952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0725912" y="5824727"/>
            <a:ext cx="595203" cy="595203"/>
          </a:xfrm>
          <a:custGeom>
            <a:avLst/>
            <a:gdLst/>
            <a:ahLst/>
            <a:cxnLst/>
            <a:rect r="r" b="b" t="t" l="l"/>
            <a:pathLst>
              <a:path h="595203" w="595203">
                <a:moveTo>
                  <a:pt x="0" y="0"/>
                </a:moveTo>
                <a:lnTo>
                  <a:pt x="595203" y="0"/>
                </a:lnTo>
                <a:lnTo>
                  <a:pt x="595203" y="595203"/>
                </a:lnTo>
                <a:lnTo>
                  <a:pt x="0" y="5952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400000">
            <a:off x="4006735" y="3511732"/>
            <a:ext cx="10274531" cy="18288000"/>
          </a:xfrm>
          <a:custGeom>
            <a:avLst/>
            <a:gdLst/>
            <a:ahLst/>
            <a:cxnLst/>
            <a:rect r="r" b="b" t="t" l="l"/>
            <a:pathLst>
              <a:path h="18288000" w="10274531">
                <a:moveTo>
                  <a:pt x="0" y="0"/>
                </a:moveTo>
                <a:lnTo>
                  <a:pt x="10274530" y="0"/>
                </a:lnTo>
                <a:lnTo>
                  <a:pt x="10274530" y="18288000"/>
                </a:lnTo>
                <a:lnTo>
                  <a:pt x="0" y="18288000"/>
                </a:lnTo>
                <a:lnTo>
                  <a:pt x="0" y="0"/>
                </a:lnTo>
                <a:close/>
              </a:path>
            </a:pathLst>
          </a:custGeom>
          <a:blipFill>
            <a:blip r:embed="rId8"/>
            <a:stretch>
              <a:fillRect l="0" t="0" r="0" b="0"/>
            </a:stretch>
          </a:blipFill>
        </p:spPr>
      </p:sp>
      <p:sp>
        <p:nvSpPr>
          <p:cNvPr id="17" name="Runway wordmark"/>
          <p:cNvSpPr txBox="1"/>
          <p:nvPr/>
        </p:nvSpPr>
        <p:spPr>
          <a:xfrm>
            <a:off x="1680493" y="955547"/>
            <a:ext cx="2133600" cy="635000"/>
          </a:xfrm>
          <a:prstGeom prst="rect">
            <a:avLst/>
          </a:prstGeom>
          <a:noFill/>
        </p:spPr>
        <p:txBody>
          <a:bodyPr wrap="square" lIns="0" rIns="0" tIns="0" bIns="0">
            <a:spAutoFit/>
          </a:bodyPr>
          <a:lstStyle/>
          <a:p>
            <a:r>
              <a:rPr sz="4000" b="1" spc="-240">
                <a:solidFill>
                  <a:srgbClr val="F2FFF9"/>
                </a:solidFill>
                <a:latin typeface="Segoe UI"/>
                <a:ea typeface="Segoe UI"/>
                <a:cs typeface="Segoe UI"/>
              </a:rPr>
              <a:t>runway</a:t>
            </a:r>
            <a:r>
              <a:rPr sz="4000" b="1" spc="-240">
                <a:solidFill>
                  <a:srgbClr val="A4D0B5"/>
                </a:solidFill>
                <a:latin typeface="Segoe UI"/>
                <a:ea typeface="Segoe UI"/>
                <a:cs typeface="Segoe UI"/>
              </a:rPr>
              <a:t>.</a:t>
            </a:r>
          </a:p>
        </p:txBody>
      </p:sp>
      <p:sp>
        <p:nvSpPr>
          <p:cNvPr id="18" name="TextBox 17"/>
          <p:cNvSpPr txBox="1"/>
          <p:nvPr/>
        </p:nvSpPr>
        <p:spPr>
          <a:xfrm>
            <a:off x="1682496" y="2834640"/>
            <a:ext cx="7315200" cy="45720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THE PROBLEM</a:t>
            </a:r>
          </a:p>
        </p:txBody>
      </p:sp>
      <p:sp>
        <p:nvSpPr>
          <p:cNvPr id="19" name="TextBox 18"/>
          <p:cNvSpPr txBox="1"/>
          <p:nvPr/>
        </p:nvSpPr>
        <p:spPr>
          <a:xfrm>
            <a:off x="1682496" y="3383280"/>
            <a:ext cx="9144000" cy="2743200"/>
          </a:xfrm>
          <a:prstGeom prst="rect">
            <a:avLst/>
          </a:prstGeom>
          <a:noFill/>
        </p:spPr>
        <p:txBody>
          <a:bodyPr wrap="square" lIns="0" rIns="0" tIns="0" bIns="0" anchor="t">
            <a:spAutoFit/>
          </a:bodyPr>
          <a:lstStyle/>
          <a:p>
            <a:pPr algn="l">
              <a:lnSpc>
                <a:spcPct val="95000"/>
              </a:lnSpc>
              <a:spcAft>
                <a:spcPts val="0"/>
              </a:spcAft>
            </a:pPr>
            <a:r>
              <a:rPr sz="8000" b="0">
                <a:solidFill>
                  <a:srgbClr val="F2FFF9"/>
                </a:solidFill>
                <a:latin typeface="Open Sauce"/>
                <a:ea typeface="Open Sauce"/>
                <a:cs typeface="Open Sauce"/>
              </a:rPr>
              <a:t>PROFITABLE,</a:t>
            </a:r>
          </a:p>
          <a:p>
            <a:pPr algn="l">
              <a:lnSpc>
                <a:spcPct val="95000"/>
              </a:lnSpc>
              <a:spcAft>
                <a:spcPts val="0"/>
              </a:spcAft>
            </a:pPr>
            <a:r>
              <a:rPr sz="8000" b="0">
                <a:solidFill>
                  <a:srgbClr val="F2FFF9"/>
                </a:solidFill>
                <a:latin typeface="Open Sauce"/>
                <a:ea typeface="Open Sauce"/>
                <a:cs typeface="Open Sauce"/>
              </a:rPr>
              <a:t>BUT OUT</a:t>
            </a:r>
          </a:p>
          <a:p>
            <a:pPr algn="l">
              <a:lnSpc>
                <a:spcPct val="95000"/>
              </a:lnSpc>
              <a:spcAft>
                <a:spcPts val="0"/>
              </a:spcAft>
            </a:pPr>
            <a:r>
              <a:rPr sz="8000" b="0">
                <a:solidFill>
                  <a:srgbClr val="F2FFF9"/>
                </a:solidFill>
                <a:latin typeface="Open Sauce"/>
                <a:ea typeface="Open Sauce"/>
                <a:cs typeface="Open Sauce"/>
              </a:rPr>
              <a:t>OF CASH</a:t>
            </a:r>
          </a:p>
        </p:txBody>
      </p:sp>
      <p:sp>
        <p:nvSpPr>
          <p:cNvPr id="20" name="TextBox 19"/>
          <p:cNvSpPr txBox="1"/>
          <p:nvPr/>
        </p:nvSpPr>
        <p:spPr>
          <a:xfrm>
            <a:off x="11658600" y="2057400"/>
            <a:ext cx="5029200" cy="411480"/>
          </a:xfrm>
          <a:prstGeom prst="rect">
            <a:avLst/>
          </a:prstGeom>
          <a:noFill/>
        </p:spPr>
        <p:txBody>
          <a:bodyPr wrap="square" lIns="0" rIns="0" tIns="0" bIns="0" anchor="t">
            <a:spAutoFit/>
          </a:bodyPr>
          <a:lstStyle/>
          <a:p>
            <a:pPr algn="l">
              <a:spcAft>
                <a:spcPts val="0"/>
              </a:spcAft>
            </a:pPr>
            <a:r>
              <a:rPr sz="2400" b="0">
                <a:solidFill>
                  <a:srgbClr val="F2F99E"/>
                </a:solidFill>
                <a:latin typeface="Open Sauce Light"/>
                <a:ea typeface="Open Sauce Light"/>
                <a:cs typeface="Open Sauce Light"/>
              </a:rPr>
              <a:t>GAPS, NOT LOSSES</a:t>
            </a:r>
          </a:p>
        </p:txBody>
      </p:sp>
      <p:sp>
        <p:nvSpPr>
          <p:cNvPr id="21" name="TextBox 20"/>
          <p:cNvSpPr txBox="1"/>
          <p:nvPr/>
        </p:nvSpPr>
        <p:spPr>
          <a:xfrm>
            <a:off x="11658600" y="2532888"/>
            <a:ext cx="4937760" cy="1097280"/>
          </a:xfrm>
          <a:prstGeom prst="rect">
            <a:avLst/>
          </a:prstGeom>
          <a:noFill/>
        </p:spPr>
        <p:txBody>
          <a:bodyPr wrap="square" lIns="0" rIns="0" tIns="0" bIns="0" anchor="t">
            <a:spAutoFit/>
          </a:bodyPr>
          <a:lstStyle/>
          <a:p>
            <a:pPr algn="l">
              <a:lnSpc>
                <a:spcPct val="120000"/>
              </a:lnSpc>
              <a:spcAft>
                <a:spcPts val="0"/>
              </a:spcAft>
            </a:pPr>
            <a:r>
              <a:rPr sz="1800" b="0">
                <a:solidFill>
                  <a:srgbClr val="F2FFF9"/>
                </a:solidFill>
                <a:latin typeface="Open Sauce Light"/>
                <a:ea typeface="Open Sauce Light"/>
                <a:cs typeface="Open Sauce Light"/>
              </a:rPr>
              <a:t>Small businesses fail from cash-flow gaps, not from a lack of profit.</a:t>
            </a:r>
          </a:p>
        </p:txBody>
      </p:sp>
      <p:sp>
        <p:nvSpPr>
          <p:cNvPr id="22" name="TextBox 21"/>
          <p:cNvSpPr txBox="1"/>
          <p:nvPr/>
        </p:nvSpPr>
        <p:spPr>
          <a:xfrm>
            <a:off x="11658600" y="3931920"/>
            <a:ext cx="5029200" cy="411480"/>
          </a:xfrm>
          <a:prstGeom prst="rect">
            <a:avLst/>
          </a:prstGeom>
          <a:noFill/>
        </p:spPr>
        <p:txBody>
          <a:bodyPr wrap="square" lIns="0" rIns="0" tIns="0" bIns="0" anchor="t">
            <a:spAutoFit/>
          </a:bodyPr>
          <a:lstStyle/>
          <a:p>
            <a:pPr algn="l">
              <a:spcAft>
                <a:spcPts val="0"/>
              </a:spcAft>
            </a:pPr>
            <a:r>
              <a:rPr sz="2400" b="0">
                <a:solidFill>
                  <a:srgbClr val="F2F99E"/>
                </a:solidFill>
                <a:latin typeface="Open Sauce Light"/>
                <a:ea typeface="Open Sauce Light"/>
                <a:cs typeface="Open Sauce Light"/>
              </a:rPr>
              <a:t>LATE PAYERS, THE HIDDEN CAUSE</a:t>
            </a:r>
          </a:p>
        </p:txBody>
      </p:sp>
      <p:sp>
        <p:nvSpPr>
          <p:cNvPr id="23" name="TextBox 22"/>
          <p:cNvSpPr txBox="1"/>
          <p:nvPr/>
        </p:nvSpPr>
        <p:spPr>
          <a:xfrm>
            <a:off x="11658600" y="4407408"/>
            <a:ext cx="4937760" cy="1097280"/>
          </a:xfrm>
          <a:prstGeom prst="rect">
            <a:avLst/>
          </a:prstGeom>
          <a:noFill/>
        </p:spPr>
        <p:txBody>
          <a:bodyPr wrap="square" lIns="0" rIns="0" tIns="0" bIns="0" anchor="t">
            <a:spAutoFit/>
          </a:bodyPr>
          <a:lstStyle/>
          <a:p>
            <a:pPr algn="l">
              <a:lnSpc>
                <a:spcPct val="120000"/>
              </a:lnSpc>
              <a:spcAft>
                <a:spcPts val="0"/>
              </a:spcAft>
            </a:pPr>
            <a:r>
              <a:rPr sz="1800" b="0">
                <a:solidFill>
                  <a:srgbClr val="F2FFF9"/>
                </a:solidFill>
                <a:latin typeface="Open Sauce Light"/>
                <a:ea typeface="Open Sauce Light"/>
                <a:cs typeface="Open Sauce Light"/>
              </a:rPr>
              <a:t>Lumen Packaging sells 65% of its output to one customer that pays 75 days after invoice, then 5 days late.</a:t>
            </a:r>
          </a:p>
        </p:txBody>
      </p:sp>
      <p:sp>
        <p:nvSpPr>
          <p:cNvPr id="24" name="TextBox 23"/>
          <p:cNvSpPr txBox="1"/>
          <p:nvPr/>
        </p:nvSpPr>
        <p:spPr>
          <a:xfrm>
            <a:off x="11658600" y="5806440"/>
            <a:ext cx="5029200" cy="411480"/>
          </a:xfrm>
          <a:prstGeom prst="rect">
            <a:avLst/>
          </a:prstGeom>
          <a:noFill/>
        </p:spPr>
        <p:txBody>
          <a:bodyPr wrap="square" lIns="0" rIns="0" tIns="0" bIns="0" anchor="t">
            <a:spAutoFit/>
          </a:bodyPr>
          <a:lstStyle/>
          <a:p>
            <a:pPr algn="l">
              <a:spcAft>
                <a:spcPts val="0"/>
              </a:spcAft>
            </a:pPr>
            <a:r>
              <a:rPr sz="2400" b="0">
                <a:solidFill>
                  <a:srgbClr val="F2F99E"/>
                </a:solidFill>
                <a:latin typeface="Open Sauce Light"/>
                <a:ea typeface="Open Sauce Light"/>
                <a:cs typeface="Open Sauce Light"/>
              </a:rPr>
              <a:t>BILLS DO NOT WAIT</a:t>
            </a:r>
          </a:p>
        </p:txBody>
      </p:sp>
      <p:sp>
        <p:nvSpPr>
          <p:cNvPr id="25" name="TextBox 24"/>
          <p:cNvSpPr txBox="1"/>
          <p:nvPr/>
        </p:nvSpPr>
        <p:spPr>
          <a:xfrm>
            <a:off x="11658600" y="6281927"/>
            <a:ext cx="4937760" cy="1097280"/>
          </a:xfrm>
          <a:prstGeom prst="rect">
            <a:avLst/>
          </a:prstGeom>
          <a:noFill/>
        </p:spPr>
        <p:txBody>
          <a:bodyPr wrap="square" lIns="0" rIns="0" tIns="0" bIns="0" anchor="t">
            <a:spAutoFit/>
          </a:bodyPr>
          <a:lstStyle/>
          <a:p>
            <a:pPr algn="l">
              <a:lnSpc>
                <a:spcPct val="120000"/>
              </a:lnSpc>
              <a:spcAft>
                <a:spcPts val="0"/>
              </a:spcAft>
            </a:pPr>
            <a:r>
              <a:rPr sz="1800" b="0">
                <a:solidFill>
                  <a:srgbClr val="F2FFF9"/>
                </a:solidFill>
                <a:latin typeface="Open Sauce Light"/>
                <a:ea typeface="Open Sauce Light"/>
                <a:cs typeface="Open Sauce Light"/>
              </a:rPr>
              <a:t>Payroll, VAT and suppliers fall due first. The owner sees the gap when the bank calls.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80808"/>
        </a:solidFill>
      </p:bgPr>
    </p:bg>
    <p:spTree>
      <p:nvGrpSpPr>
        <p:cNvPr id="1" name=""/>
        <p:cNvGrpSpPr/>
        <p:nvPr/>
      </p:nvGrpSpPr>
      <p:grpSpPr>
        <a:xfrm>
          <a:off x="0" y="0"/>
          <a:ext cx="0" cy="0"/>
          <a:chOff x="0" y="0"/>
          <a:chExt cx="0" cy="0"/>
        </a:xfrm>
      </p:grpSpPr>
      <p:sp>
        <p:nvSpPr>
          <p:cNvPr name="Freeform 7" id="7"/>
          <p:cNvSpPr/>
          <p:nvPr/>
        </p:nvSpPr>
        <p:spPr>
          <a:xfrm flipH="false" flipV="false" rot="5400000">
            <a:off x="8001000" y="8138160"/>
            <a:ext cx="1129492" cy="1129492"/>
          </a:xfrm>
          <a:custGeom>
            <a:avLst/>
            <a:gdLst/>
            <a:ahLst/>
            <a:cxnLst/>
            <a:rect r="r" b="b" t="t" l="l"/>
            <a:pathLst>
              <a:path h="1129492" w="1129492">
                <a:moveTo>
                  <a:pt x="0" y="0"/>
                </a:moveTo>
                <a:lnTo>
                  <a:pt x="1129491" y="0"/>
                </a:lnTo>
                <a:lnTo>
                  <a:pt x="1129491" y="1129492"/>
                </a:lnTo>
                <a:lnTo>
                  <a:pt x="0" y="11294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9730991" y="-6219201"/>
            <a:ext cx="10679272" cy="9941431"/>
          </a:xfrm>
          <a:custGeom>
            <a:avLst/>
            <a:gdLst/>
            <a:ahLst/>
            <a:cxnLst/>
            <a:rect r="r" b="b" t="t" l="l"/>
            <a:pathLst>
              <a:path h="9941431" w="10679272">
                <a:moveTo>
                  <a:pt x="0" y="0"/>
                </a:moveTo>
                <a:lnTo>
                  <a:pt x="10679272" y="0"/>
                </a:lnTo>
                <a:lnTo>
                  <a:pt x="10679272" y="9941431"/>
                </a:lnTo>
                <a:lnTo>
                  <a:pt x="0" y="994143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id="15" name="Runway wordmark"/>
          <p:cNvSpPr txBox="1"/>
          <p:nvPr/>
        </p:nvSpPr>
        <p:spPr>
          <a:xfrm>
            <a:off x="1680493" y="955547"/>
            <a:ext cx="2133600" cy="635000"/>
          </a:xfrm>
          <a:prstGeom prst="rect">
            <a:avLst/>
          </a:prstGeom>
          <a:noFill/>
        </p:spPr>
        <p:txBody>
          <a:bodyPr wrap="square" lIns="0" rIns="0" tIns="0" bIns="0">
            <a:spAutoFit/>
          </a:bodyPr>
          <a:lstStyle/>
          <a:p>
            <a:r>
              <a:rPr sz="4000" b="1" spc="-240">
                <a:solidFill>
                  <a:srgbClr val="F2FFF9"/>
                </a:solidFill>
                <a:latin typeface="Segoe UI"/>
                <a:ea typeface="Segoe UI"/>
                <a:cs typeface="Segoe UI"/>
              </a:rPr>
              <a:t>runway</a:t>
            </a:r>
            <a:r>
              <a:rPr sz="4000" b="1" spc="-240">
                <a:solidFill>
                  <a:srgbClr val="A4D0B5"/>
                </a:solidFill>
                <a:latin typeface="Segoe UI"/>
                <a:ea typeface="Segoe UI"/>
                <a:cs typeface="Segoe UI"/>
              </a:rPr>
              <a:t>.</a:t>
            </a:r>
          </a:p>
        </p:txBody>
      </p:sp>
      <p:sp>
        <p:nvSpPr>
          <p:cNvPr id="16" name="TextBox 15"/>
          <p:cNvSpPr txBox="1"/>
          <p:nvPr/>
        </p:nvSpPr>
        <p:spPr>
          <a:xfrm>
            <a:off x="1682496" y="2450592"/>
            <a:ext cx="7315200" cy="45720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THE SOLUTION</a:t>
            </a:r>
          </a:p>
        </p:txBody>
      </p:sp>
      <p:sp>
        <p:nvSpPr>
          <p:cNvPr id="17" name="TextBox 16"/>
          <p:cNvSpPr txBox="1"/>
          <p:nvPr/>
        </p:nvSpPr>
        <p:spPr>
          <a:xfrm>
            <a:off x="1682496" y="3017520"/>
            <a:ext cx="7863840" cy="2011680"/>
          </a:xfrm>
          <a:prstGeom prst="rect">
            <a:avLst/>
          </a:prstGeom>
          <a:noFill/>
        </p:spPr>
        <p:txBody>
          <a:bodyPr wrap="square" lIns="0" rIns="0" tIns="0" bIns="0" anchor="t">
            <a:spAutoFit/>
          </a:bodyPr>
          <a:lstStyle/>
          <a:p>
            <a:pPr algn="l">
              <a:lnSpc>
                <a:spcPct val="95000"/>
              </a:lnSpc>
              <a:spcAft>
                <a:spcPts val="0"/>
              </a:spcAft>
            </a:pPr>
            <a:r>
              <a:rPr sz="8000" b="0">
                <a:solidFill>
                  <a:srgbClr val="F2FFF9"/>
                </a:solidFill>
                <a:latin typeface="Open Sauce"/>
                <a:ea typeface="Open Sauce"/>
                <a:cs typeface="Open Sauce"/>
              </a:rPr>
              <a:t>MEET</a:t>
            </a:r>
          </a:p>
          <a:p>
            <a:pPr algn="l">
              <a:lnSpc>
                <a:spcPct val="95000"/>
              </a:lnSpc>
              <a:spcAft>
                <a:spcPts val="0"/>
              </a:spcAft>
            </a:pPr>
            <a:r>
              <a:rPr sz="8000" b="0">
                <a:solidFill>
                  <a:srgbClr val="F2FFF9"/>
                </a:solidFill>
                <a:latin typeface="Open Sauce"/>
                <a:ea typeface="Open Sauce"/>
                <a:cs typeface="Open Sauce"/>
              </a:rPr>
              <a:t>RUNWAY</a:t>
            </a:r>
          </a:p>
        </p:txBody>
      </p:sp>
      <p:sp>
        <p:nvSpPr>
          <p:cNvPr id="18" name="TextBox 17"/>
          <p:cNvSpPr txBox="1"/>
          <p:nvPr/>
        </p:nvSpPr>
        <p:spPr>
          <a:xfrm>
            <a:off x="1682496" y="5440680"/>
            <a:ext cx="6949440" cy="1280160"/>
          </a:xfrm>
          <a:prstGeom prst="rect">
            <a:avLst/>
          </a:prstGeom>
          <a:noFill/>
        </p:spPr>
        <p:txBody>
          <a:bodyPr wrap="square" lIns="0" rIns="0" tIns="0" bIns="0" anchor="t">
            <a:spAutoFit/>
          </a:bodyPr>
          <a:lstStyle/>
          <a:p>
            <a:pPr algn="l">
              <a:lnSpc>
                <a:spcPct val="110000"/>
              </a:lnSpc>
              <a:spcAft>
                <a:spcPts val="0"/>
              </a:spcAft>
            </a:pPr>
            <a:r>
              <a:rPr sz="2800" b="0">
                <a:solidFill>
                  <a:srgbClr val="56D5A2"/>
                </a:solidFill>
                <a:latin typeface="Open Sauce"/>
                <a:ea typeface="Open Sauce"/>
                <a:cs typeface="Open Sauce"/>
              </a:rPr>
              <a:t>One agent. It does the work; code and people keep it in bounds.</a:t>
            </a:r>
          </a:p>
        </p:txBody>
      </p:sp>
      <p:sp>
        <p:nvSpPr>
          <p:cNvPr id="19" name="TextBox 18"/>
          <p:cNvSpPr txBox="1"/>
          <p:nvPr/>
        </p:nvSpPr>
        <p:spPr>
          <a:xfrm>
            <a:off x="1682496" y="6858000"/>
            <a:ext cx="6583680" cy="1188720"/>
          </a:xfrm>
          <a:prstGeom prst="rect">
            <a:avLst/>
          </a:prstGeom>
          <a:noFill/>
        </p:spPr>
        <p:txBody>
          <a:bodyPr wrap="square" lIns="0" rIns="0" tIns="0" bIns="0" anchor="t">
            <a:spAutoFit/>
          </a:bodyPr>
          <a:lstStyle/>
          <a:p>
            <a:pPr algn="l">
              <a:lnSpc>
                <a:spcPct val="125000"/>
              </a:lnSpc>
              <a:spcAft>
                <a:spcPts val="0"/>
              </a:spcAft>
            </a:pPr>
            <a:r>
              <a:rPr sz="1900" b="0">
                <a:solidFill>
                  <a:srgbClr val="F2FFF9"/>
                </a:solidFill>
                <a:latin typeface="Open Sauce Light"/>
                <a:ea typeface="Open Sauce Light"/>
                <a:cs typeface="Open Sauce Light"/>
              </a:rPr>
              <a:t>Works with the owner and the external accountant. Runs on DeepSeek, Gemini, a local model through Ollama, or fully offline.</a:t>
            </a:r>
          </a:p>
        </p:txBody>
      </p:sp>
      <p:sp>
        <p:nvSpPr>
          <p:cNvPr id="20" name="Rounded Rectangle 19"/>
          <p:cNvSpPr/>
          <p:nvPr/>
        </p:nvSpPr>
        <p:spPr>
          <a:xfrm>
            <a:off x="9418320" y="3886200"/>
            <a:ext cx="3474720" cy="233172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738360" y="4160520"/>
            <a:ext cx="2834640" cy="365760"/>
          </a:xfrm>
          <a:prstGeom prst="rect">
            <a:avLst/>
          </a:prstGeom>
          <a:noFill/>
        </p:spPr>
        <p:txBody>
          <a:bodyPr wrap="square" lIns="0" rIns="0" tIns="0" bIns="0" anchor="t">
            <a:spAutoFit/>
          </a:bodyPr>
          <a:lstStyle/>
          <a:p>
            <a:pPr algn="l">
              <a:spcAft>
                <a:spcPts val="0"/>
              </a:spcAft>
            </a:pPr>
            <a:r>
              <a:rPr sz="2000" b="0">
                <a:solidFill>
                  <a:srgbClr val="56D5A2"/>
                </a:solidFill>
                <a:latin typeface="Open Sauce"/>
                <a:ea typeface="Open Sauce"/>
                <a:cs typeface="Open Sauce"/>
              </a:rPr>
              <a:t>01</a:t>
            </a:r>
          </a:p>
        </p:txBody>
      </p:sp>
      <p:sp>
        <p:nvSpPr>
          <p:cNvPr id="22" name="TextBox 21"/>
          <p:cNvSpPr txBox="1"/>
          <p:nvPr/>
        </p:nvSpPr>
        <p:spPr>
          <a:xfrm>
            <a:off x="9738360" y="4599432"/>
            <a:ext cx="2926080" cy="457200"/>
          </a:xfrm>
          <a:prstGeom prst="rect">
            <a:avLst/>
          </a:prstGeom>
          <a:noFill/>
        </p:spPr>
        <p:txBody>
          <a:bodyPr wrap="square" lIns="0" rIns="0" tIns="0" bIns="0" anchor="t">
            <a:spAutoFit/>
          </a:bodyPr>
          <a:lstStyle/>
          <a:p>
            <a:pPr algn="l">
              <a:spcAft>
                <a:spcPts val="0"/>
              </a:spcAft>
            </a:pPr>
            <a:r>
              <a:rPr sz="2100" b="0">
                <a:solidFill>
                  <a:srgbClr val="F2F99E"/>
                </a:solidFill>
                <a:latin typeface="Open Sauce Light"/>
                <a:ea typeface="Open Sauce Light"/>
                <a:cs typeface="Open Sauce Light"/>
              </a:rPr>
              <a:t>FORECAST</a:t>
            </a:r>
          </a:p>
        </p:txBody>
      </p:sp>
      <p:sp>
        <p:nvSpPr>
          <p:cNvPr id="23" name="TextBox 22"/>
          <p:cNvSpPr txBox="1"/>
          <p:nvPr/>
        </p:nvSpPr>
        <p:spPr>
          <a:xfrm>
            <a:off x="9738360" y="5102352"/>
            <a:ext cx="2880360" cy="100584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13 weeks of cash, day by day, from the books.</a:t>
            </a:r>
          </a:p>
        </p:txBody>
      </p:sp>
      <p:sp>
        <p:nvSpPr>
          <p:cNvPr id="24" name="Rounded Rectangle 23"/>
          <p:cNvSpPr/>
          <p:nvPr/>
        </p:nvSpPr>
        <p:spPr>
          <a:xfrm>
            <a:off x="13121640" y="3886200"/>
            <a:ext cx="3474720" cy="233172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3441680" y="4160520"/>
            <a:ext cx="2834640" cy="365760"/>
          </a:xfrm>
          <a:prstGeom prst="rect">
            <a:avLst/>
          </a:prstGeom>
          <a:noFill/>
        </p:spPr>
        <p:txBody>
          <a:bodyPr wrap="square" lIns="0" rIns="0" tIns="0" bIns="0" anchor="t">
            <a:spAutoFit/>
          </a:bodyPr>
          <a:lstStyle/>
          <a:p>
            <a:pPr algn="l">
              <a:spcAft>
                <a:spcPts val="0"/>
              </a:spcAft>
            </a:pPr>
            <a:r>
              <a:rPr sz="2000" b="0">
                <a:solidFill>
                  <a:srgbClr val="56D5A2"/>
                </a:solidFill>
                <a:latin typeface="Open Sauce"/>
                <a:ea typeface="Open Sauce"/>
                <a:cs typeface="Open Sauce"/>
              </a:rPr>
              <a:t>02</a:t>
            </a:r>
          </a:p>
        </p:txBody>
      </p:sp>
      <p:sp>
        <p:nvSpPr>
          <p:cNvPr id="26" name="TextBox 25"/>
          <p:cNvSpPr txBox="1"/>
          <p:nvPr/>
        </p:nvSpPr>
        <p:spPr>
          <a:xfrm>
            <a:off x="13441680" y="4599432"/>
            <a:ext cx="2926080" cy="457200"/>
          </a:xfrm>
          <a:prstGeom prst="rect">
            <a:avLst/>
          </a:prstGeom>
          <a:noFill/>
        </p:spPr>
        <p:txBody>
          <a:bodyPr wrap="square" lIns="0" rIns="0" tIns="0" bIns="0" anchor="t">
            <a:spAutoFit/>
          </a:bodyPr>
          <a:lstStyle/>
          <a:p>
            <a:pPr algn="l">
              <a:spcAft>
                <a:spcPts val="0"/>
              </a:spcAft>
            </a:pPr>
            <a:r>
              <a:rPr sz="2100" b="0">
                <a:solidFill>
                  <a:srgbClr val="F2F99E"/>
                </a:solidFill>
                <a:latin typeface="Open Sauce Light"/>
                <a:ea typeface="Open Sauce Light"/>
                <a:cs typeface="Open Sauce Light"/>
              </a:rPr>
              <a:t>ALERT EARLY</a:t>
            </a:r>
          </a:p>
        </p:txBody>
      </p:sp>
      <p:sp>
        <p:nvSpPr>
          <p:cNvPr id="27" name="TextBox 26"/>
          <p:cNvSpPr txBox="1"/>
          <p:nvPr/>
        </p:nvSpPr>
        <p:spPr>
          <a:xfrm>
            <a:off x="13441680" y="5102352"/>
            <a:ext cx="2880360" cy="100584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Says when cash goes below zero, why, and what ends it.</a:t>
            </a:r>
          </a:p>
        </p:txBody>
      </p:sp>
      <p:sp>
        <p:nvSpPr>
          <p:cNvPr id="28" name="Rounded Rectangle 27"/>
          <p:cNvSpPr/>
          <p:nvPr/>
        </p:nvSpPr>
        <p:spPr>
          <a:xfrm>
            <a:off x="9418320" y="6492240"/>
            <a:ext cx="3474720" cy="233172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738360" y="6766559"/>
            <a:ext cx="2834640" cy="365760"/>
          </a:xfrm>
          <a:prstGeom prst="rect">
            <a:avLst/>
          </a:prstGeom>
          <a:noFill/>
        </p:spPr>
        <p:txBody>
          <a:bodyPr wrap="square" lIns="0" rIns="0" tIns="0" bIns="0" anchor="t">
            <a:spAutoFit/>
          </a:bodyPr>
          <a:lstStyle/>
          <a:p>
            <a:pPr algn="l">
              <a:spcAft>
                <a:spcPts val="0"/>
              </a:spcAft>
            </a:pPr>
            <a:r>
              <a:rPr sz="2000" b="0">
                <a:solidFill>
                  <a:srgbClr val="56D5A2"/>
                </a:solidFill>
                <a:latin typeface="Open Sauce"/>
                <a:ea typeface="Open Sauce"/>
                <a:cs typeface="Open Sauce"/>
              </a:rPr>
              <a:t>03</a:t>
            </a:r>
          </a:p>
        </p:txBody>
      </p:sp>
      <p:sp>
        <p:nvSpPr>
          <p:cNvPr id="30" name="TextBox 29"/>
          <p:cNvSpPr txBox="1"/>
          <p:nvPr/>
        </p:nvSpPr>
        <p:spPr>
          <a:xfrm>
            <a:off x="9738360" y="7205472"/>
            <a:ext cx="2926080" cy="457200"/>
          </a:xfrm>
          <a:prstGeom prst="rect">
            <a:avLst/>
          </a:prstGeom>
          <a:noFill/>
        </p:spPr>
        <p:txBody>
          <a:bodyPr wrap="square" lIns="0" rIns="0" tIns="0" bIns="0" anchor="t">
            <a:spAutoFit/>
          </a:bodyPr>
          <a:lstStyle/>
          <a:p>
            <a:pPr algn="l">
              <a:spcAft>
                <a:spcPts val="0"/>
              </a:spcAft>
            </a:pPr>
            <a:r>
              <a:rPr sz="2100" b="0">
                <a:solidFill>
                  <a:srgbClr val="F2F99E"/>
                </a:solidFill>
                <a:latin typeface="Open Sauce Light"/>
                <a:ea typeface="Open Sauce Light"/>
                <a:cs typeface="Open Sauce Light"/>
              </a:rPr>
              <a:t>MATCH FINANCING</a:t>
            </a:r>
          </a:p>
        </p:txBody>
      </p:sp>
      <p:sp>
        <p:nvSpPr>
          <p:cNvPr id="31" name="TextBox 30"/>
          <p:cNvSpPr txBox="1"/>
          <p:nvPr/>
        </p:nvSpPr>
        <p:spPr>
          <a:xfrm>
            <a:off x="9738360" y="7708392"/>
            <a:ext cx="2880360" cy="100584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Sizes the need in code and ranks products by true cost.</a:t>
            </a:r>
          </a:p>
        </p:txBody>
      </p:sp>
      <p:sp>
        <p:nvSpPr>
          <p:cNvPr id="32" name="Rounded Rectangle 31"/>
          <p:cNvSpPr/>
          <p:nvPr/>
        </p:nvSpPr>
        <p:spPr>
          <a:xfrm>
            <a:off x="13121640" y="6492240"/>
            <a:ext cx="3474720" cy="233172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3441680" y="6766559"/>
            <a:ext cx="2834640" cy="365760"/>
          </a:xfrm>
          <a:prstGeom prst="rect">
            <a:avLst/>
          </a:prstGeom>
          <a:noFill/>
        </p:spPr>
        <p:txBody>
          <a:bodyPr wrap="square" lIns="0" rIns="0" tIns="0" bIns="0" anchor="t">
            <a:spAutoFit/>
          </a:bodyPr>
          <a:lstStyle/>
          <a:p>
            <a:pPr algn="l">
              <a:spcAft>
                <a:spcPts val="0"/>
              </a:spcAft>
            </a:pPr>
            <a:r>
              <a:rPr sz="2000" b="0">
                <a:solidFill>
                  <a:srgbClr val="56D5A2"/>
                </a:solidFill>
                <a:latin typeface="Open Sauce"/>
                <a:ea typeface="Open Sauce"/>
                <a:cs typeface="Open Sauce"/>
              </a:rPr>
              <a:t>04</a:t>
            </a:r>
          </a:p>
        </p:txBody>
      </p:sp>
      <p:sp>
        <p:nvSpPr>
          <p:cNvPr id="34" name="TextBox 33"/>
          <p:cNvSpPr txBox="1"/>
          <p:nvPr/>
        </p:nvSpPr>
        <p:spPr>
          <a:xfrm>
            <a:off x="13441680" y="7205472"/>
            <a:ext cx="2926080" cy="457200"/>
          </a:xfrm>
          <a:prstGeom prst="rect">
            <a:avLst/>
          </a:prstGeom>
          <a:noFill/>
        </p:spPr>
        <p:txBody>
          <a:bodyPr wrap="square" lIns="0" rIns="0" tIns="0" bIns="0" anchor="t">
            <a:spAutoFit/>
          </a:bodyPr>
          <a:lstStyle/>
          <a:p>
            <a:pPr algn="l">
              <a:spcAft>
                <a:spcPts val="0"/>
              </a:spcAft>
            </a:pPr>
            <a:r>
              <a:rPr sz="2100" b="0">
                <a:solidFill>
                  <a:srgbClr val="F2F99E"/>
                </a:solidFill>
                <a:latin typeface="Open Sauce Light"/>
                <a:ea typeface="Open Sauce Light"/>
                <a:cs typeface="Open Sauce Light"/>
              </a:rPr>
              <a:t>APPLICATION</a:t>
            </a:r>
          </a:p>
        </p:txBody>
      </p:sp>
      <p:sp>
        <p:nvSpPr>
          <p:cNvPr id="35" name="TextBox 34"/>
          <p:cNvSpPr txBox="1"/>
          <p:nvPr/>
        </p:nvSpPr>
        <p:spPr>
          <a:xfrm>
            <a:off x="13441680" y="7708392"/>
            <a:ext cx="2880360" cy="100584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Prepares a signed PDF for the owner and the accountant.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2FFF9"/>
        </a:solidFill>
      </p:bgPr>
    </p:bg>
    <p:spTree>
      <p:nvGrpSpPr>
        <p:cNvPr id="1" name=""/>
        <p:cNvGrpSpPr/>
        <p:nvPr/>
      </p:nvGrpSpPr>
      <p:grpSpPr>
        <a:xfrm>
          <a:off x="0" y="0"/>
          <a:ext cx="0" cy="0"/>
          <a:chOff x="0" y="0"/>
          <a:chExt cx="0" cy="0"/>
        </a:xfrm>
      </p:grpSpPr>
      <p:sp>
        <p:nvSpPr>
          <p:cNvPr name="Freeform 16" id="16"/>
          <p:cNvSpPr/>
          <p:nvPr/>
        </p:nvSpPr>
        <p:spPr>
          <a:xfrm flipH="false" flipV="false" rot="0">
            <a:off x="10379940" y="-6627112"/>
            <a:ext cx="10679272" cy="9941431"/>
          </a:xfrm>
          <a:custGeom>
            <a:avLst/>
            <a:gdLst/>
            <a:ahLst/>
            <a:cxnLst/>
            <a:rect r="r" b="b" t="t" l="l"/>
            <a:pathLst>
              <a:path h="9941431" w="10679272">
                <a:moveTo>
                  <a:pt x="0" y="0"/>
                </a:moveTo>
                <a:lnTo>
                  <a:pt x="10679272" y="0"/>
                </a:lnTo>
                <a:lnTo>
                  <a:pt x="10679272" y="9941431"/>
                </a:lnTo>
                <a:lnTo>
                  <a:pt x="0" y="994143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0">
            <a:off x="-5769618" y="5521139"/>
            <a:ext cx="10679272" cy="9941431"/>
          </a:xfrm>
          <a:custGeom>
            <a:avLst/>
            <a:gdLst/>
            <a:ahLst/>
            <a:cxnLst/>
            <a:rect r="r" b="b" t="t" l="l"/>
            <a:pathLst>
              <a:path h="9941431" w="10679272">
                <a:moveTo>
                  <a:pt x="0" y="0"/>
                </a:moveTo>
                <a:lnTo>
                  <a:pt x="10679272" y="0"/>
                </a:lnTo>
                <a:lnTo>
                  <a:pt x="10679272" y="9941432"/>
                </a:lnTo>
                <a:lnTo>
                  <a:pt x="0" y="994143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id="19" name="Runway wordmark"/>
          <p:cNvSpPr txBox="1"/>
          <p:nvPr/>
        </p:nvSpPr>
        <p:spPr>
          <a:xfrm>
            <a:off x="1680493" y="955547"/>
            <a:ext cx="2133600" cy="635000"/>
          </a:xfrm>
          <a:prstGeom prst="rect">
            <a:avLst/>
          </a:prstGeom>
          <a:noFill/>
        </p:spPr>
        <p:txBody>
          <a:bodyPr wrap="square" lIns="0" rIns="0" tIns="0" bIns="0">
            <a:spAutoFit/>
          </a:bodyPr>
          <a:lstStyle/>
          <a:p>
            <a:r>
              <a:rPr sz="4000" b="1" spc="-240">
                <a:solidFill>
                  <a:srgbClr val="242B29"/>
                </a:solidFill>
                <a:latin typeface="Segoe UI"/>
                <a:ea typeface="Segoe UI"/>
                <a:cs typeface="Segoe UI"/>
              </a:rPr>
              <a:t>runway</a:t>
            </a:r>
            <a:r>
              <a:rPr sz="4000" b="1" spc="-240">
                <a:solidFill>
                  <a:srgbClr val="21644B"/>
                </a:solidFill>
                <a:latin typeface="Segoe UI"/>
                <a:ea typeface="Segoe UI"/>
                <a:cs typeface="Segoe UI"/>
              </a:rPr>
              <a:t>.</a:t>
            </a:r>
          </a:p>
        </p:txBody>
      </p:sp>
      <p:sp>
        <p:nvSpPr>
          <p:cNvPr id="20" name="TextBox 19"/>
          <p:cNvSpPr txBox="1"/>
          <p:nvPr/>
        </p:nvSpPr>
        <p:spPr>
          <a:xfrm>
            <a:off x="1682496" y="1920240"/>
            <a:ext cx="7315200" cy="457200"/>
          </a:xfrm>
          <a:prstGeom prst="rect">
            <a:avLst/>
          </a:prstGeom>
          <a:noFill/>
        </p:spPr>
        <p:txBody>
          <a:bodyPr wrap="square" lIns="0" rIns="0" tIns="0" bIns="0" anchor="t">
            <a:spAutoFit/>
          </a:bodyPr>
          <a:lstStyle/>
          <a:p>
            <a:pPr algn="l">
              <a:spcAft>
                <a:spcPts val="0"/>
              </a:spcAft>
            </a:pPr>
            <a:r>
              <a:rPr sz="2200" b="0">
                <a:solidFill>
                  <a:srgbClr val="2E9D71"/>
                </a:solidFill>
                <a:latin typeface="Open Sauce Light"/>
                <a:ea typeface="Open Sauce Light"/>
                <a:cs typeface="Open Sauce Light"/>
              </a:rPr>
              <a:t>ARCHITECTURE</a:t>
            </a:r>
          </a:p>
        </p:txBody>
      </p:sp>
      <p:sp>
        <p:nvSpPr>
          <p:cNvPr id="21" name="TextBox 20"/>
          <p:cNvSpPr txBox="1"/>
          <p:nvPr/>
        </p:nvSpPr>
        <p:spPr>
          <a:xfrm>
            <a:off x="1682496" y="2377440"/>
            <a:ext cx="8229600" cy="914400"/>
          </a:xfrm>
          <a:prstGeom prst="rect">
            <a:avLst/>
          </a:prstGeom>
          <a:noFill/>
        </p:spPr>
        <p:txBody>
          <a:bodyPr wrap="square" lIns="0" rIns="0" tIns="0" bIns="0" anchor="t">
            <a:spAutoFit/>
          </a:bodyPr>
          <a:lstStyle/>
          <a:p>
            <a:pPr algn="l">
              <a:spcAft>
                <a:spcPts val="0"/>
              </a:spcAft>
            </a:pPr>
            <a:r>
              <a:rPr sz="7200" b="0">
                <a:solidFill>
                  <a:srgbClr val="080808"/>
                </a:solidFill>
                <a:latin typeface="Open Sauce"/>
                <a:ea typeface="Open Sauce"/>
                <a:cs typeface="Open Sauce"/>
              </a:rPr>
              <a:t>ONE GATE</a:t>
            </a:r>
          </a:p>
        </p:txBody>
      </p:sp>
      <p:sp>
        <p:nvSpPr>
          <p:cNvPr id="22" name="TextBox 21"/>
          <p:cNvSpPr txBox="1"/>
          <p:nvPr/>
        </p:nvSpPr>
        <p:spPr>
          <a:xfrm>
            <a:off x="9326880" y="2514600"/>
            <a:ext cx="7278624" cy="914400"/>
          </a:xfrm>
          <a:prstGeom prst="rect">
            <a:avLst/>
          </a:prstGeom>
          <a:noFill/>
        </p:spPr>
        <p:txBody>
          <a:bodyPr wrap="square" lIns="0" rIns="0" tIns="0" bIns="0" anchor="t">
            <a:spAutoFit/>
          </a:bodyPr>
          <a:lstStyle/>
          <a:p>
            <a:pPr algn="l">
              <a:lnSpc>
                <a:spcPct val="120000"/>
              </a:lnSpc>
              <a:spcAft>
                <a:spcPts val="0"/>
              </a:spcAft>
            </a:pPr>
            <a:r>
              <a:rPr sz="1900" b="0">
                <a:solidFill>
                  <a:srgbClr val="080808"/>
                </a:solidFill>
                <a:latin typeface="Open Sauce Light"/>
                <a:ea typeface="Open Sauce Light"/>
                <a:cs typeface="Open Sauce Light"/>
              </a:rPr>
              <a:t>The language model never touches the bank or payee details. Every tool call passes the rules engine first.</a:t>
            </a:r>
          </a:p>
        </p:txBody>
      </p:sp>
      <p:sp>
        <p:nvSpPr>
          <p:cNvPr id="23" name="Rounded Rectangle 22"/>
          <p:cNvSpPr/>
          <p:nvPr/>
        </p:nvSpPr>
        <p:spPr>
          <a:xfrm>
            <a:off x="1682496" y="3794760"/>
            <a:ext cx="2606040" cy="1417320"/>
          </a:xfrm>
          <a:prstGeom prst="roundRect">
            <a:avLst>
              <a:gd name="adj" fmla="val 8000"/>
            </a:avLst>
          </a:prstGeom>
          <a:solidFill>
            <a:srgbClr val="FFFFFF"/>
          </a:solidFill>
          <a:ln w="12700">
            <a:solidFill>
              <a:srgbClr val="B9D8C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911095" y="4023360"/>
            <a:ext cx="2148840" cy="411480"/>
          </a:xfrm>
          <a:prstGeom prst="rect">
            <a:avLst/>
          </a:prstGeom>
          <a:noFill/>
        </p:spPr>
        <p:txBody>
          <a:bodyPr wrap="square" lIns="0" rIns="0" tIns="0" bIns="0" anchor="t">
            <a:spAutoFit/>
          </a:bodyPr>
          <a:lstStyle/>
          <a:p>
            <a:pPr algn="l">
              <a:spcAft>
                <a:spcPts val="0"/>
              </a:spcAft>
            </a:pPr>
            <a:r>
              <a:rPr sz="2000" b="0">
                <a:solidFill>
                  <a:srgbClr val="080808"/>
                </a:solidFill>
                <a:latin typeface="Open Sauce"/>
                <a:ea typeface="Open Sauce"/>
                <a:cs typeface="Open Sauce"/>
              </a:rPr>
              <a:t>Humans</a:t>
            </a:r>
          </a:p>
        </p:txBody>
      </p:sp>
      <p:sp>
        <p:nvSpPr>
          <p:cNvPr id="25" name="TextBox 24"/>
          <p:cNvSpPr txBox="1"/>
          <p:nvPr/>
        </p:nvSpPr>
        <p:spPr>
          <a:xfrm>
            <a:off x="1911095" y="4507992"/>
            <a:ext cx="2148840" cy="594360"/>
          </a:xfrm>
          <a:prstGeom prst="rect">
            <a:avLst/>
          </a:prstGeom>
          <a:noFill/>
        </p:spPr>
        <p:txBody>
          <a:bodyPr wrap="square" lIns="0" rIns="0" tIns="0" bIns="0" anchor="t">
            <a:spAutoFit/>
          </a:bodyPr>
          <a:lstStyle/>
          <a:p>
            <a:pPr algn="l">
              <a:lnSpc>
                <a:spcPct val="110000"/>
              </a:lnSpc>
              <a:spcAft>
                <a:spcPts val="0"/>
              </a:spcAft>
            </a:pPr>
            <a:r>
              <a:rPr sz="1500" b="0">
                <a:solidFill>
                  <a:srgbClr val="3B4A44"/>
                </a:solidFill>
                <a:latin typeface="Open Sauce Light"/>
                <a:ea typeface="Open Sauce Light"/>
                <a:cs typeface="Open Sauce Light"/>
              </a:rPr>
              <a:t>owner and accountant, PIN sign-in per role</a:t>
            </a:r>
          </a:p>
        </p:txBody>
      </p:sp>
      <p:cxnSp>
        <p:nvCxnSpPr>
          <p:cNvPr id="26" name="Connector 25"/>
          <p:cNvCxnSpPr/>
          <p:nvPr/>
        </p:nvCxnSpPr>
        <p:spPr>
          <a:xfrm>
            <a:off x="4343400" y="4507992"/>
            <a:ext cx="356616" cy="0"/>
          </a:xfrm>
          <a:prstGeom prst="line">
            <a:avLst/>
          </a:prstGeom>
          <a:ln w="22225">
            <a:solidFill>
              <a:srgbClr val="2E9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754880" y="3794760"/>
            <a:ext cx="2606040" cy="1417320"/>
          </a:xfrm>
          <a:prstGeom prst="roundRect">
            <a:avLst>
              <a:gd name="adj" fmla="val 8000"/>
            </a:avLst>
          </a:prstGeom>
          <a:solidFill>
            <a:srgbClr val="FFFFFF"/>
          </a:solidFill>
          <a:ln w="12700">
            <a:solidFill>
              <a:srgbClr val="B9D8C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983480" y="4023360"/>
            <a:ext cx="2148840" cy="411480"/>
          </a:xfrm>
          <a:prstGeom prst="rect">
            <a:avLst/>
          </a:prstGeom>
          <a:noFill/>
        </p:spPr>
        <p:txBody>
          <a:bodyPr wrap="square" lIns="0" rIns="0" tIns="0" bIns="0" anchor="t">
            <a:spAutoFit/>
          </a:bodyPr>
          <a:lstStyle/>
          <a:p>
            <a:pPr algn="l">
              <a:spcAft>
                <a:spcPts val="0"/>
              </a:spcAft>
            </a:pPr>
            <a:r>
              <a:rPr sz="2000" b="0">
                <a:solidFill>
                  <a:srgbClr val="080808"/>
                </a:solidFill>
                <a:latin typeface="Open Sauce"/>
                <a:ea typeface="Open Sauce"/>
                <a:cs typeface="Open Sauce"/>
              </a:rPr>
              <a:t>Agent</a:t>
            </a:r>
          </a:p>
        </p:txBody>
      </p:sp>
      <p:sp>
        <p:nvSpPr>
          <p:cNvPr id="29" name="TextBox 28"/>
          <p:cNvSpPr txBox="1"/>
          <p:nvPr/>
        </p:nvSpPr>
        <p:spPr>
          <a:xfrm>
            <a:off x="4983480" y="4507992"/>
            <a:ext cx="2148840" cy="594360"/>
          </a:xfrm>
          <a:prstGeom prst="rect">
            <a:avLst/>
          </a:prstGeom>
          <a:noFill/>
        </p:spPr>
        <p:txBody>
          <a:bodyPr wrap="square" lIns="0" rIns="0" tIns="0" bIns="0" anchor="t">
            <a:spAutoFit/>
          </a:bodyPr>
          <a:lstStyle/>
          <a:p>
            <a:pPr algn="l">
              <a:lnSpc>
                <a:spcPct val="110000"/>
              </a:lnSpc>
              <a:spcAft>
                <a:spcPts val="0"/>
              </a:spcAft>
            </a:pPr>
            <a:r>
              <a:rPr sz="1500" b="0">
                <a:solidFill>
                  <a:srgbClr val="3B4A44"/>
                </a:solidFill>
                <a:latin typeface="Open Sauce Light"/>
                <a:ea typeface="Open Sauce Light"/>
                <a:cs typeface="Open Sauce Light"/>
              </a:rPr>
              <a:t>DeepSeek, Gemini, local Ollama or offline</a:t>
            </a:r>
          </a:p>
        </p:txBody>
      </p:sp>
      <p:cxnSp>
        <p:nvCxnSpPr>
          <p:cNvPr id="30" name="Connector 29"/>
          <p:cNvCxnSpPr/>
          <p:nvPr/>
        </p:nvCxnSpPr>
        <p:spPr>
          <a:xfrm>
            <a:off x="7415784" y="4507992"/>
            <a:ext cx="356616" cy="0"/>
          </a:xfrm>
          <a:prstGeom prst="line">
            <a:avLst/>
          </a:prstGeom>
          <a:ln w="22225">
            <a:solidFill>
              <a:srgbClr val="2E9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827264" y="3794760"/>
            <a:ext cx="2606040" cy="1417320"/>
          </a:xfrm>
          <a:prstGeom prst="roundRect">
            <a:avLst>
              <a:gd name="adj" fmla="val 8000"/>
            </a:avLst>
          </a:prstGeom>
          <a:solidFill>
            <a:srgbClr val="FFFFFF"/>
          </a:solidFill>
          <a:ln w="12700">
            <a:solidFill>
              <a:srgbClr val="B9D8C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055864" y="4023360"/>
            <a:ext cx="2148840" cy="411480"/>
          </a:xfrm>
          <a:prstGeom prst="rect">
            <a:avLst/>
          </a:prstGeom>
          <a:noFill/>
        </p:spPr>
        <p:txBody>
          <a:bodyPr wrap="square" lIns="0" rIns="0" tIns="0" bIns="0" anchor="t">
            <a:spAutoFit/>
          </a:bodyPr>
          <a:lstStyle/>
          <a:p>
            <a:pPr algn="l">
              <a:spcAft>
                <a:spcPts val="0"/>
              </a:spcAft>
            </a:pPr>
            <a:r>
              <a:rPr sz="2000" b="0">
                <a:solidFill>
                  <a:srgbClr val="080808"/>
                </a:solidFill>
                <a:latin typeface="Open Sauce"/>
                <a:ea typeface="Open Sauce"/>
                <a:cs typeface="Open Sauce"/>
              </a:rPr>
              <a:t>Tool executor</a:t>
            </a:r>
          </a:p>
        </p:txBody>
      </p:sp>
      <p:sp>
        <p:nvSpPr>
          <p:cNvPr id="33" name="TextBox 32"/>
          <p:cNvSpPr txBox="1"/>
          <p:nvPr/>
        </p:nvSpPr>
        <p:spPr>
          <a:xfrm>
            <a:off x="8055864" y="4507992"/>
            <a:ext cx="2148840" cy="594360"/>
          </a:xfrm>
          <a:prstGeom prst="rect">
            <a:avLst/>
          </a:prstGeom>
          <a:noFill/>
        </p:spPr>
        <p:txBody>
          <a:bodyPr wrap="square" lIns="0" rIns="0" tIns="0" bIns="0" anchor="t">
            <a:spAutoFit/>
          </a:bodyPr>
          <a:lstStyle/>
          <a:p>
            <a:pPr algn="l">
              <a:lnSpc>
                <a:spcPct val="110000"/>
              </a:lnSpc>
              <a:spcAft>
                <a:spcPts val="0"/>
              </a:spcAft>
            </a:pPr>
            <a:r>
              <a:rPr sz="1500" b="0">
                <a:solidFill>
                  <a:srgbClr val="3B4A44"/>
                </a:solidFill>
                <a:latin typeface="Open Sauce Light"/>
                <a:ea typeface="Open Sauce Light"/>
                <a:cs typeface="Open Sauce Light"/>
              </a:rPr>
              <a:t>the only path to side effects</a:t>
            </a:r>
          </a:p>
        </p:txBody>
      </p:sp>
      <p:cxnSp>
        <p:nvCxnSpPr>
          <p:cNvPr id="34" name="Connector 33"/>
          <p:cNvCxnSpPr/>
          <p:nvPr/>
        </p:nvCxnSpPr>
        <p:spPr>
          <a:xfrm>
            <a:off x="10488168" y="4507992"/>
            <a:ext cx="356616" cy="0"/>
          </a:xfrm>
          <a:prstGeom prst="line">
            <a:avLst/>
          </a:prstGeom>
          <a:ln w="22225">
            <a:solidFill>
              <a:srgbClr val="2E9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10899648" y="3794760"/>
            <a:ext cx="2606040" cy="1417320"/>
          </a:xfrm>
          <a:prstGeom prst="roundRect">
            <a:avLst>
              <a:gd name="adj" fmla="val 8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1128248" y="4023360"/>
            <a:ext cx="2148840" cy="411480"/>
          </a:xfrm>
          <a:prstGeom prst="rect">
            <a:avLst/>
          </a:prstGeom>
          <a:noFill/>
        </p:spPr>
        <p:txBody>
          <a:bodyPr wrap="square" lIns="0" rIns="0" tIns="0" bIns="0" anchor="t">
            <a:spAutoFit/>
          </a:bodyPr>
          <a:lstStyle/>
          <a:p>
            <a:pPr algn="l">
              <a:spcAft>
                <a:spcPts val="0"/>
              </a:spcAft>
            </a:pPr>
            <a:r>
              <a:rPr sz="2000" b="0">
                <a:solidFill>
                  <a:srgbClr val="F2FFF9"/>
                </a:solidFill>
                <a:latin typeface="Open Sauce"/>
                <a:ea typeface="Open Sauce"/>
                <a:cs typeface="Open Sauce"/>
              </a:rPr>
              <a:t>Rules engine</a:t>
            </a:r>
          </a:p>
        </p:txBody>
      </p:sp>
      <p:sp>
        <p:nvSpPr>
          <p:cNvPr id="37" name="TextBox 36"/>
          <p:cNvSpPr txBox="1"/>
          <p:nvPr/>
        </p:nvSpPr>
        <p:spPr>
          <a:xfrm>
            <a:off x="11128248" y="4507992"/>
            <a:ext cx="2148840" cy="594360"/>
          </a:xfrm>
          <a:prstGeom prst="rect">
            <a:avLst/>
          </a:prstGeom>
          <a:noFill/>
        </p:spPr>
        <p:txBody>
          <a:bodyPr wrap="square" lIns="0" rIns="0" tIns="0" bIns="0" anchor="t">
            <a:spAutoFit/>
          </a:bodyPr>
          <a:lstStyle/>
          <a:p>
            <a:pPr algn="l">
              <a:lnSpc>
                <a:spcPct val="110000"/>
              </a:lnSpc>
              <a:spcAft>
                <a:spcPts val="0"/>
              </a:spcAft>
            </a:pPr>
            <a:r>
              <a:rPr sz="1500" b="0">
                <a:solidFill>
                  <a:srgbClr val="56D5A2"/>
                </a:solidFill>
                <a:latin typeface="Open Sauce Light"/>
                <a:ea typeface="Open Sauce Light"/>
                <a:cs typeface="Open Sauce Light"/>
              </a:rPr>
              <a:t>plain Python: allow, ask a human, deny</a:t>
            </a:r>
          </a:p>
        </p:txBody>
      </p:sp>
      <p:cxnSp>
        <p:nvCxnSpPr>
          <p:cNvPr id="38" name="Connector 37"/>
          <p:cNvCxnSpPr/>
          <p:nvPr/>
        </p:nvCxnSpPr>
        <p:spPr>
          <a:xfrm>
            <a:off x="13560552" y="4507992"/>
            <a:ext cx="356616" cy="0"/>
          </a:xfrm>
          <a:prstGeom prst="line">
            <a:avLst/>
          </a:prstGeom>
          <a:ln w="22225">
            <a:solidFill>
              <a:srgbClr val="2E9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13972032" y="3794760"/>
            <a:ext cx="2606040" cy="1417320"/>
          </a:xfrm>
          <a:prstGeom prst="roundRect">
            <a:avLst>
              <a:gd name="adj" fmla="val 8000"/>
            </a:avLst>
          </a:prstGeom>
          <a:solidFill>
            <a:srgbClr val="FFFFFF"/>
          </a:solidFill>
          <a:ln w="12700">
            <a:solidFill>
              <a:srgbClr val="B9D8C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4200632" y="4023360"/>
            <a:ext cx="2148840" cy="411480"/>
          </a:xfrm>
          <a:prstGeom prst="rect">
            <a:avLst/>
          </a:prstGeom>
          <a:noFill/>
        </p:spPr>
        <p:txBody>
          <a:bodyPr wrap="square" lIns="0" rIns="0" tIns="0" bIns="0" anchor="t">
            <a:spAutoFit/>
          </a:bodyPr>
          <a:lstStyle/>
          <a:p>
            <a:pPr algn="l">
              <a:spcAft>
                <a:spcPts val="0"/>
              </a:spcAft>
            </a:pPr>
            <a:r>
              <a:rPr sz="2000" b="0">
                <a:solidFill>
                  <a:srgbClr val="080808"/>
                </a:solidFill>
                <a:latin typeface="Open Sauce"/>
                <a:ea typeface="Open Sauce"/>
                <a:cs typeface="Open Sauce"/>
              </a:rPr>
              <a:t>Mock bank</a:t>
            </a:r>
          </a:p>
        </p:txBody>
      </p:sp>
      <p:sp>
        <p:nvSpPr>
          <p:cNvPr id="41" name="TextBox 40"/>
          <p:cNvSpPr txBox="1"/>
          <p:nvPr/>
        </p:nvSpPr>
        <p:spPr>
          <a:xfrm>
            <a:off x="14200632" y="4507992"/>
            <a:ext cx="2148840" cy="594360"/>
          </a:xfrm>
          <a:prstGeom prst="rect">
            <a:avLst/>
          </a:prstGeom>
          <a:noFill/>
        </p:spPr>
        <p:txBody>
          <a:bodyPr wrap="square" lIns="0" rIns="0" tIns="0" bIns="0" anchor="t">
            <a:spAutoFit/>
          </a:bodyPr>
          <a:lstStyle/>
          <a:p>
            <a:pPr algn="l">
              <a:lnSpc>
                <a:spcPct val="110000"/>
              </a:lnSpc>
              <a:spcAft>
                <a:spcPts val="0"/>
              </a:spcAft>
            </a:pPr>
            <a:r>
              <a:rPr sz="1500" b="0">
                <a:solidFill>
                  <a:srgbClr val="3B4A44"/>
                </a:solidFill>
                <a:latin typeface="Open Sauce Light"/>
                <a:ea typeface="Open Sauce Light"/>
                <a:cs typeface="Open Sauce Light"/>
              </a:rPr>
              <a:t>separate API, scoped tokens, own checks</a:t>
            </a:r>
          </a:p>
        </p:txBody>
      </p:sp>
      <p:cxnSp>
        <p:nvCxnSpPr>
          <p:cNvPr id="42" name="Connector 41"/>
          <p:cNvCxnSpPr/>
          <p:nvPr/>
        </p:nvCxnSpPr>
        <p:spPr>
          <a:xfrm>
            <a:off x="6057900" y="5257800"/>
            <a:ext cx="0" cy="457200"/>
          </a:xfrm>
          <a:prstGeom prst="line">
            <a:avLst/>
          </a:prstGeom>
          <a:ln w="22225">
            <a:solidFill>
              <a:srgbClr val="2E9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4754880" y="5760720"/>
            <a:ext cx="2606040" cy="1325880"/>
          </a:xfrm>
          <a:prstGeom prst="roundRect">
            <a:avLst>
              <a:gd name="adj" fmla="val 8000"/>
            </a:avLst>
          </a:prstGeom>
          <a:solidFill>
            <a:srgbClr val="FFFFFF"/>
          </a:solidFill>
          <a:ln w="12700">
            <a:solidFill>
              <a:srgbClr val="B9D8C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4983480" y="5943600"/>
            <a:ext cx="2148840" cy="365760"/>
          </a:xfrm>
          <a:prstGeom prst="rect">
            <a:avLst/>
          </a:prstGeom>
          <a:noFill/>
        </p:spPr>
        <p:txBody>
          <a:bodyPr wrap="square" lIns="0" rIns="0" tIns="0" bIns="0" anchor="t">
            <a:spAutoFit/>
          </a:bodyPr>
          <a:lstStyle/>
          <a:p>
            <a:pPr algn="l">
              <a:spcAft>
                <a:spcPts val="0"/>
              </a:spcAft>
            </a:pPr>
            <a:r>
              <a:rPr sz="1700" b="0">
                <a:solidFill>
                  <a:srgbClr val="080808"/>
                </a:solidFill>
                <a:latin typeface="Open Sauce"/>
                <a:ea typeface="Open Sauce"/>
                <a:cs typeface="Open Sauce"/>
              </a:rPr>
              <a:t>Pseudonymizer</a:t>
            </a:r>
          </a:p>
        </p:txBody>
      </p:sp>
      <p:sp>
        <p:nvSpPr>
          <p:cNvPr id="45" name="TextBox 44"/>
          <p:cNvSpPr txBox="1"/>
          <p:nvPr/>
        </p:nvSpPr>
        <p:spPr>
          <a:xfrm>
            <a:off x="4983480" y="6355080"/>
            <a:ext cx="2148840" cy="640080"/>
          </a:xfrm>
          <a:prstGeom prst="rect">
            <a:avLst/>
          </a:prstGeom>
          <a:noFill/>
        </p:spPr>
        <p:txBody>
          <a:bodyPr wrap="square" lIns="0" rIns="0" tIns="0" bIns="0" anchor="t">
            <a:spAutoFit/>
          </a:bodyPr>
          <a:lstStyle/>
          <a:p>
            <a:pPr algn="l">
              <a:lnSpc>
                <a:spcPct val="110000"/>
              </a:lnSpc>
              <a:spcAft>
                <a:spcPts val="0"/>
              </a:spcAft>
            </a:pPr>
            <a:r>
              <a:rPr sz="1400" b="0">
                <a:solidFill>
                  <a:srgbClr val="3B4A44"/>
                </a:solidFill>
                <a:latin typeface="Open Sauce Light"/>
                <a:ea typeface="Open Sauce Light"/>
                <a:cs typeface="Open Sauce Light"/>
              </a:rPr>
              <a:t>names, e-mails, IBANs masked before any model call</a:t>
            </a:r>
          </a:p>
        </p:txBody>
      </p:sp>
      <p:cxnSp>
        <p:nvCxnSpPr>
          <p:cNvPr id="46" name="Connector 45"/>
          <p:cNvCxnSpPr/>
          <p:nvPr/>
        </p:nvCxnSpPr>
        <p:spPr>
          <a:xfrm>
            <a:off x="9130284" y="5257800"/>
            <a:ext cx="0" cy="457200"/>
          </a:xfrm>
          <a:prstGeom prst="line">
            <a:avLst/>
          </a:prstGeom>
          <a:ln w="22225">
            <a:solidFill>
              <a:srgbClr val="2E9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7827264" y="5760720"/>
            <a:ext cx="2606040" cy="1325880"/>
          </a:xfrm>
          <a:prstGeom prst="roundRect">
            <a:avLst>
              <a:gd name="adj" fmla="val 8000"/>
            </a:avLst>
          </a:prstGeom>
          <a:solidFill>
            <a:srgbClr val="FFFFFF"/>
          </a:solidFill>
          <a:ln w="12700">
            <a:solidFill>
              <a:srgbClr val="B9D8C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055864" y="5943600"/>
            <a:ext cx="2148840" cy="365760"/>
          </a:xfrm>
          <a:prstGeom prst="rect">
            <a:avLst/>
          </a:prstGeom>
          <a:noFill/>
        </p:spPr>
        <p:txBody>
          <a:bodyPr wrap="square" lIns="0" rIns="0" tIns="0" bIns="0" anchor="t">
            <a:spAutoFit/>
          </a:bodyPr>
          <a:lstStyle/>
          <a:p>
            <a:pPr algn="l">
              <a:spcAft>
                <a:spcPts val="0"/>
              </a:spcAft>
            </a:pPr>
            <a:r>
              <a:rPr sz="1700" b="0">
                <a:solidFill>
                  <a:srgbClr val="080808"/>
                </a:solidFill>
                <a:latin typeface="Open Sauce"/>
                <a:ea typeface="Open Sauce"/>
                <a:cs typeface="Open Sauce"/>
              </a:rPr>
              <a:t>Audit log</a:t>
            </a:r>
          </a:p>
        </p:txBody>
      </p:sp>
      <p:sp>
        <p:nvSpPr>
          <p:cNvPr id="49" name="TextBox 48"/>
          <p:cNvSpPr txBox="1"/>
          <p:nvPr/>
        </p:nvSpPr>
        <p:spPr>
          <a:xfrm>
            <a:off x="8055864" y="6355080"/>
            <a:ext cx="2148840" cy="640080"/>
          </a:xfrm>
          <a:prstGeom prst="rect">
            <a:avLst/>
          </a:prstGeom>
          <a:noFill/>
        </p:spPr>
        <p:txBody>
          <a:bodyPr wrap="square" lIns="0" rIns="0" tIns="0" bIns="0" anchor="t">
            <a:spAutoFit/>
          </a:bodyPr>
          <a:lstStyle/>
          <a:p>
            <a:pPr algn="l">
              <a:lnSpc>
                <a:spcPct val="110000"/>
              </a:lnSpc>
              <a:spcAft>
                <a:spcPts val="0"/>
              </a:spcAft>
            </a:pPr>
            <a:r>
              <a:rPr sz="1400" b="0">
                <a:solidFill>
                  <a:srgbClr val="3B4A44"/>
                </a:solidFill>
                <a:latin typeface="Open Sauce Light"/>
                <a:ea typeface="Open Sauce Light"/>
                <a:cs typeface="Open Sauce Light"/>
              </a:rPr>
              <a:t>hash chain; every decision logged first</a:t>
            </a:r>
          </a:p>
        </p:txBody>
      </p:sp>
      <p:cxnSp>
        <p:nvCxnSpPr>
          <p:cNvPr id="50" name="Connector 49"/>
          <p:cNvCxnSpPr/>
          <p:nvPr/>
        </p:nvCxnSpPr>
        <p:spPr>
          <a:xfrm>
            <a:off x="10488168" y="6419088"/>
            <a:ext cx="356616" cy="0"/>
          </a:xfrm>
          <a:prstGeom prst="line">
            <a:avLst/>
          </a:prstGeom>
          <a:ln w="22225">
            <a:solidFill>
              <a:srgbClr val="2E9D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10899648" y="5760720"/>
            <a:ext cx="5678424" cy="1325880"/>
          </a:xfrm>
          <a:prstGeom prst="roundRect">
            <a:avLst>
              <a:gd name="adj" fmla="val 8000"/>
            </a:avLst>
          </a:prstGeom>
          <a:solidFill>
            <a:srgbClr val="FFFFFF"/>
          </a:solidFill>
          <a:ln w="12700">
            <a:solidFill>
              <a:srgbClr val="B9D8C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1128248" y="5943600"/>
            <a:ext cx="5120640" cy="365760"/>
          </a:xfrm>
          <a:prstGeom prst="rect">
            <a:avLst/>
          </a:prstGeom>
          <a:noFill/>
        </p:spPr>
        <p:txBody>
          <a:bodyPr wrap="square" lIns="0" rIns="0" tIns="0" bIns="0" anchor="t">
            <a:spAutoFit/>
          </a:bodyPr>
          <a:lstStyle/>
          <a:p>
            <a:pPr algn="l">
              <a:spcAft>
                <a:spcPts val="0"/>
              </a:spcAft>
            </a:pPr>
            <a:r>
              <a:rPr sz="1700" b="0">
                <a:solidFill>
                  <a:srgbClr val="080808"/>
                </a:solidFill>
                <a:latin typeface="Open Sauce"/>
                <a:ea typeface="Open Sauce"/>
                <a:cs typeface="Open Sauce"/>
              </a:rPr>
              <a:t>Head published outside the database</a:t>
            </a:r>
          </a:p>
        </p:txBody>
      </p:sp>
      <p:sp>
        <p:nvSpPr>
          <p:cNvPr id="53" name="TextBox 52"/>
          <p:cNvSpPr txBox="1"/>
          <p:nvPr/>
        </p:nvSpPr>
        <p:spPr>
          <a:xfrm>
            <a:off x="11128248" y="6355080"/>
            <a:ext cx="5212080" cy="640080"/>
          </a:xfrm>
          <a:prstGeom prst="rect">
            <a:avLst/>
          </a:prstGeom>
          <a:noFill/>
        </p:spPr>
        <p:txBody>
          <a:bodyPr wrap="square" lIns="0" rIns="0" tIns="0" bIns="0" anchor="t">
            <a:spAutoFit/>
          </a:bodyPr>
          <a:lstStyle/>
          <a:p>
            <a:pPr algn="l">
              <a:spcAft>
                <a:spcPts val="0"/>
              </a:spcAft>
            </a:pPr>
            <a:r>
              <a:rPr sz="1400" b="0">
                <a:solidFill>
                  <a:srgbClr val="3B4A44"/>
                </a:solidFill>
                <a:latin typeface="Open Sauce Light"/>
                <a:ea typeface="Open Sauce Light"/>
                <a:cs typeface="Open Sauce Light"/>
              </a:rPr>
              <a:t>notary file or a transaction on any EVM chain</a:t>
            </a:r>
          </a:p>
        </p:txBody>
      </p:sp>
      <p:sp>
        <p:nvSpPr>
          <p:cNvPr id="54" name="TextBox 53"/>
          <p:cNvSpPr txBox="1"/>
          <p:nvPr/>
        </p:nvSpPr>
        <p:spPr>
          <a:xfrm>
            <a:off x="4754880" y="7635240"/>
            <a:ext cx="5486400" cy="365760"/>
          </a:xfrm>
          <a:prstGeom prst="rect">
            <a:avLst/>
          </a:prstGeom>
          <a:noFill/>
        </p:spPr>
        <p:txBody>
          <a:bodyPr wrap="square" lIns="0" rIns="0" tIns="0" bIns="0" anchor="t">
            <a:spAutoFit/>
          </a:bodyPr>
          <a:lstStyle/>
          <a:p>
            <a:pPr algn="l">
              <a:spcAft>
                <a:spcPts val="0"/>
              </a:spcAft>
            </a:pPr>
            <a:r>
              <a:rPr sz="1800" b="0">
                <a:solidFill>
                  <a:srgbClr val="2E9D71"/>
                </a:solidFill>
                <a:latin typeface="Open Sauce Light"/>
                <a:ea typeface="Open Sauce Light"/>
                <a:cs typeface="Open Sauce Light"/>
              </a:rPr>
              <a:t>FIVE DESIGN RULES</a:t>
            </a:r>
          </a:p>
        </p:txBody>
      </p:sp>
      <p:sp>
        <p:nvSpPr>
          <p:cNvPr id="55" name="Rounded Rectangle 54"/>
          <p:cNvSpPr/>
          <p:nvPr/>
        </p:nvSpPr>
        <p:spPr>
          <a:xfrm>
            <a:off x="4754880" y="8092440"/>
            <a:ext cx="2194560" cy="822960"/>
          </a:xfrm>
          <a:prstGeom prst="roundRect">
            <a:avLst>
              <a:gd name="adj" fmla="val 8000"/>
            </a:avLst>
          </a:prstGeom>
          <a:solidFill>
            <a:srgbClr val="DD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4892040" y="8092440"/>
            <a:ext cx="1920240" cy="822960"/>
          </a:xfrm>
          <a:prstGeom prst="rect">
            <a:avLst/>
          </a:prstGeom>
          <a:noFill/>
        </p:spPr>
        <p:txBody>
          <a:bodyPr wrap="square" lIns="0" rIns="0" tIns="0" bIns="0" anchor="ctr">
            <a:spAutoFit/>
          </a:bodyPr>
          <a:lstStyle/>
          <a:p>
            <a:pPr algn="ctr">
              <a:lnSpc>
                <a:spcPct val="100000"/>
              </a:lnSpc>
              <a:spcAft>
                <a:spcPts val="0"/>
              </a:spcAft>
            </a:pPr>
            <a:r>
              <a:rPr sz="1500" b="0">
                <a:solidFill>
                  <a:srgbClr val="080808"/>
                </a:solidFill>
                <a:latin typeface="Open Sauce"/>
                <a:ea typeface="Open Sauce"/>
                <a:cs typeface="Open Sauce"/>
              </a:rPr>
              <a:t>No AI arithmetic</a:t>
            </a:r>
          </a:p>
        </p:txBody>
      </p:sp>
      <p:sp>
        <p:nvSpPr>
          <p:cNvPr id="57" name="Rounded Rectangle 56"/>
          <p:cNvSpPr/>
          <p:nvPr/>
        </p:nvSpPr>
        <p:spPr>
          <a:xfrm>
            <a:off x="7132320" y="8092440"/>
            <a:ext cx="2194560" cy="822960"/>
          </a:xfrm>
          <a:prstGeom prst="roundRect">
            <a:avLst>
              <a:gd name="adj" fmla="val 8000"/>
            </a:avLst>
          </a:prstGeom>
          <a:solidFill>
            <a:srgbClr val="DD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7269480" y="8092440"/>
            <a:ext cx="1920240" cy="822960"/>
          </a:xfrm>
          <a:prstGeom prst="rect">
            <a:avLst/>
          </a:prstGeom>
          <a:noFill/>
        </p:spPr>
        <p:txBody>
          <a:bodyPr wrap="square" lIns="0" rIns="0" tIns="0" bIns="0" anchor="ctr">
            <a:spAutoFit/>
          </a:bodyPr>
          <a:lstStyle/>
          <a:p>
            <a:pPr algn="ctr">
              <a:lnSpc>
                <a:spcPct val="100000"/>
              </a:lnSpc>
              <a:spcAft>
                <a:spcPts val="0"/>
              </a:spcAft>
            </a:pPr>
            <a:r>
              <a:rPr sz="1500" b="0">
                <a:solidFill>
                  <a:srgbClr val="080808"/>
                </a:solidFill>
                <a:latin typeface="Open Sauce"/>
                <a:ea typeface="Open Sauce"/>
                <a:cs typeface="Open Sauce"/>
              </a:rPr>
              <a:t>No credentials for the AI</a:t>
            </a:r>
          </a:p>
        </p:txBody>
      </p:sp>
      <p:sp>
        <p:nvSpPr>
          <p:cNvPr id="59" name="Rounded Rectangle 58"/>
          <p:cNvSpPr/>
          <p:nvPr/>
        </p:nvSpPr>
        <p:spPr>
          <a:xfrm>
            <a:off x="9509760" y="8092440"/>
            <a:ext cx="2194560" cy="822960"/>
          </a:xfrm>
          <a:prstGeom prst="roundRect">
            <a:avLst>
              <a:gd name="adj" fmla="val 8000"/>
            </a:avLst>
          </a:prstGeom>
          <a:solidFill>
            <a:srgbClr val="DD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9646920" y="8092440"/>
            <a:ext cx="1920240" cy="822960"/>
          </a:xfrm>
          <a:prstGeom prst="rect">
            <a:avLst/>
          </a:prstGeom>
          <a:noFill/>
        </p:spPr>
        <p:txBody>
          <a:bodyPr wrap="square" lIns="0" rIns="0" tIns="0" bIns="0" anchor="ctr">
            <a:spAutoFit/>
          </a:bodyPr>
          <a:lstStyle/>
          <a:p>
            <a:pPr algn="ctr">
              <a:lnSpc>
                <a:spcPct val="100000"/>
              </a:lnSpc>
              <a:spcAft>
                <a:spcPts val="0"/>
              </a:spcAft>
            </a:pPr>
            <a:r>
              <a:rPr sz="1500" b="0">
                <a:solidFill>
                  <a:srgbClr val="080808"/>
                </a:solidFill>
                <a:latin typeface="Open Sauce"/>
                <a:ea typeface="Open Sauce"/>
                <a:cs typeface="Open Sauce"/>
              </a:rPr>
              <a:t>Rules are plain code</a:t>
            </a:r>
          </a:p>
        </p:txBody>
      </p:sp>
      <p:sp>
        <p:nvSpPr>
          <p:cNvPr id="61" name="Rounded Rectangle 60"/>
          <p:cNvSpPr/>
          <p:nvPr/>
        </p:nvSpPr>
        <p:spPr>
          <a:xfrm>
            <a:off x="11887200" y="8092440"/>
            <a:ext cx="2194560" cy="822960"/>
          </a:xfrm>
          <a:prstGeom prst="roundRect">
            <a:avLst>
              <a:gd name="adj" fmla="val 8000"/>
            </a:avLst>
          </a:prstGeom>
          <a:solidFill>
            <a:srgbClr val="DD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12024360" y="8092440"/>
            <a:ext cx="1920240" cy="822960"/>
          </a:xfrm>
          <a:prstGeom prst="rect">
            <a:avLst/>
          </a:prstGeom>
          <a:noFill/>
        </p:spPr>
        <p:txBody>
          <a:bodyPr wrap="square" lIns="0" rIns="0" tIns="0" bIns="0" anchor="ctr">
            <a:spAutoFit/>
          </a:bodyPr>
          <a:lstStyle/>
          <a:p>
            <a:pPr algn="ctr">
              <a:lnSpc>
                <a:spcPct val="100000"/>
              </a:lnSpc>
              <a:spcAft>
                <a:spcPts val="0"/>
              </a:spcAft>
            </a:pPr>
            <a:r>
              <a:rPr sz="1500" b="0">
                <a:solidFill>
                  <a:srgbClr val="080808"/>
                </a:solidFill>
                <a:latin typeface="Open Sauce"/>
                <a:ea typeface="Open Sauce"/>
                <a:cs typeface="Open Sauce"/>
              </a:rPr>
              <a:t>No payee tool exists</a:t>
            </a:r>
          </a:p>
        </p:txBody>
      </p:sp>
      <p:sp>
        <p:nvSpPr>
          <p:cNvPr id="63" name="Rounded Rectangle 62"/>
          <p:cNvSpPr/>
          <p:nvPr/>
        </p:nvSpPr>
        <p:spPr>
          <a:xfrm>
            <a:off x="14264640" y="8092440"/>
            <a:ext cx="2194560" cy="822960"/>
          </a:xfrm>
          <a:prstGeom prst="roundRect">
            <a:avLst>
              <a:gd name="adj" fmla="val 8000"/>
            </a:avLst>
          </a:prstGeom>
          <a:solidFill>
            <a:srgbClr val="DD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14401800" y="8092440"/>
            <a:ext cx="1920240" cy="822960"/>
          </a:xfrm>
          <a:prstGeom prst="rect">
            <a:avLst/>
          </a:prstGeom>
          <a:noFill/>
        </p:spPr>
        <p:txBody>
          <a:bodyPr wrap="square" lIns="0" rIns="0" tIns="0" bIns="0" anchor="ctr">
            <a:spAutoFit/>
          </a:bodyPr>
          <a:lstStyle/>
          <a:p>
            <a:pPr algn="ctr">
              <a:lnSpc>
                <a:spcPct val="100000"/>
              </a:lnSpc>
              <a:spcAft>
                <a:spcPts val="0"/>
              </a:spcAft>
            </a:pPr>
            <a:r>
              <a:rPr sz="1500" b="0">
                <a:solidFill>
                  <a:srgbClr val="080808"/>
                </a:solidFill>
                <a:latin typeface="Open Sauce"/>
                <a:ea typeface="Open Sauce"/>
                <a:cs typeface="Open Sauce"/>
              </a:rPr>
              <a:t>Every figure traceable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80808"/>
        </a:solidFill>
      </p:bgPr>
    </p:bg>
    <p:spTree>
      <p:nvGrpSpPr>
        <p:cNvPr id="1" name=""/>
        <p:cNvGrpSpPr/>
        <p:nvPr/>
      </p:nvGrpSpPr>
      <p:grpSpPr>
        <a:xfrm>
          <a:off x="0" y="0"/>
          <a:ext cx="0" cy="0"/>
          <a:chOff x="0" y="0"/>
          <a:chExt cx="0" cy="0"/>
        </a:xfrm>
      </p:grpSpPr>
      <p:sp>
        <p:nvSpPr>
          <p:cNvPr name="Freeform 13" id="13"/>
          <p:cNvSpPr/>
          <p:nvPr/>
        </p:nvSpPr>
        <p:spPr>
          <a:xfrm flipH="false" flipV="false" rot="0">
            <a:off x="9730991" y="-6219201"/>
            <a:ext cx="10679272" cy="9941431"/>
          </a:xfrm>
          <a:custGeom>
            <a:avLst/>
            <a:gdLst/>
            <a:ahLst/>
            <a:cxnLst/>
            <a:rect r="r" b="b" t="t" l="l"/>
            <a:pathLst>
              <a:path h="9941431" w="10679272">
                <a:moveTo>
                  <a:pt x="0" y="0"/>
                </a:moveTo>
                <a:lnTo>
                  <a:pt x="10679272" y="0"/>
                </a:lnTo>
                <a:lnTo>
                  <a:pt x="10679272" y="9941431"/>
                </a:lnTo>
                <a:lnTo>
                  <a:pt x="0" y="994143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id="14" name="Runway wordmark"/>
          <p:cNvSpPr txBox="1"/>
          <p:nvPr/>
        </p:nvSpPr>
        <p:spPr>
          <a:xfrm>
            <a:off x="1680493" y="955547"/>
            <a:ext cx="2133600" cy="635000"/>
          </a:xfrm>
          <a:prstGeom prst="rect">
            <a:avLst/>
          </a:prstGeom>
          <a:noFill/>
        </p:spPr>
        <p:txBody>
          <a:bodyPr wrap="square" lIns="0" rIns="0" tIns="0" bIns="0">
            <a:spAutoFit/>
          </a:bodyPr>
          <a:lstStyle/>
          <a:p>
            <a:r>
              <a:rPr sz="4000" b="1" spc="-240">
                <a:solidFill>
                  <a:srgbClr val="F2FFF9"/>
                </a:solidFill>
                <a:latin typeface="Segoe UI"/>
                <a:ea typeface="Segoe UI"/>
                <a:cs typeface="Segoe UI"/>
              </a:rPr>
              <a:t>runway</a:t>
            </a:r>
            <a:r>
              <a:rPr sz="4000" b="1" spc="-240">
                <a:solidFill>
                  <a:srgbClr val="A4D0B5"/>
                </a:solidFill>
                <a:latin typeface="Segoe UI"/>
                <a:ea typeface="Segoe UI"/>
                <a:cs typeface="Segoe UI"/>
              </a:rPr>
              <a:t>.</a:t>
            </a:r>
          </a:p>
        </p:txBody>
      </p:sp>
      <p:sp>
        <p:nvSpPr>
          <p:cNvPr id="15" name="TextBox 14"/>
          <p:cNvSpPr txBox="1"/>
          <p:nvPr/>
        </p:nvSpPr>
        <p:spPr>
          <a:xfrm>
            <a:off x="1682496" y="2011680"/>
            <a:ext cx="9144000" cy="45720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13-WEEK FORECAST, LATENESS-ADJUSTED</a:t>
            </a:r>
          </a:p>
        </p:txBody>
      </p:sp>
      <p:sp>
        <p:nvSpPr>
          <p:cNvPr id="16" name="TextBox 15"/>
          <p:cNvSpPr txBox="1"/>
          <p:nvPr/>
        </p:nvSpPr>
        <p:spPr>
          <a:xfrm>
            <a:off x="1682496" y="2560320"/>
            <a:ext cx="8229600" cy="914400"/>
          </a:xfrm>
          <a:prstGeom prst="rect">
            <a:avLst/>
          </a:prstGeom>
          <a:noFill/>
        </p:spPr>
        <p:txBody>
          <a:bodyPr wrap="square" lIns="0" rIns="0" tIns="0" bIns="0" anchor="t">
            <a:spAutoFit/>
          </a:bodyPr>
          <a:lstStyle/>
          <a:p>
            <a:pPr algn="l">
              <a:spcAft>
                <a:spcPts val="0"/>
              </a:spcAft>
            </a:pPr>
            <a:r>
              <a:rPr sz="8000" b="0">
                <a:solidFill>
                  <a:srgbClr val="F2FFF9"/>
                </a:solidFill>
                <a:latin typeface="Open Sauce"/>
                <a:ea typeface="Open Sauce"/>
                <a:cs typeface="Open Sauce"/>
              </a:rPr>
              <a:t>THE CASH GAP</a:t>
            </a:r>
          </a:p>
        </p:txBody>
      </p:sp>
      <p:sp>
        <p:nvSpPr>
          <p:cNvPr id="17" name="TextBox 16"/>
          <p:cNvSpPr txBox="1"/>
          <p:nvPr/>
        </p:nvSpPr>
        <p:spPr>
          <a:xfrm>
            <a:off x="1682496" y="4206240"/>
            <a:ext cx="5852160" cy="1371600"/>
          </a:xfrm>
          <a:prstGeom prst="rect">
            <a:avLst/>
          </a:prstGeom>
          <a:noFill/>
        </p:spPr>
        <p:txBody>
          <a:bodyPr wrap="square" lIns="0" rIns="0" tIns="0" bIns="0" anchor="t">
            <a:spAutoFit/>
          </a:bodyPr>
          <a:lstStyle/>
          <a:p>
            <a:pPr algn="l">
              <a:spcAft>
                <a:spcPts val="0"/>
              </a:spcAft>
            </a:pPr>
            <a:r>
              <a:rPr sz="8800" b="0">
                <a:solidFill>
                  <a:srgbClr val="F2F99E"/>
                </a:solidFill>
                <a:latin typeface="Open Sauce"/>
                <a:ea typeface="Open Sauce"/>
                <a:cs typeface="Open Sauce"/>
              </a:rPr>
              <a:t>–€29,303</a:t>
            </a:r>
          </a:p>
        </p:txBody>
      </p:sp>
      <p:sp>
        <p:nvSpPr>
          <p:cNvPr id="18" name="TextBox 17"/>
          <p:cNvSpPr txBox="1"/>
          <p:nvPr/>
        </p:nvSpPr>
        <p:spPr>
          <a:xfrm>
            <a:off x="1682496" y="5623560"/>
            <a:ext cx="5669280" cy="822960"/>
          </a:xfrm>
          <a:prstGeom prst="rect">
            <a:avLst/>
          </a:prstGeom>
          <a:noFill/>
        </p:spPr>
        <p:txBody>
          <a:bodyPr wrap="square" lIns="0" rIns="0" tIns="0" bIns="0" anchor="t">
            <a:spAutoFit/>
          </a:bodyPr>
          <a:lstStyle/>
          <a:p>
            <a:pPr algn="l">
              <a:lnSpc>
                <a:spcPct val="120000"/>
              </a:lnSpc>
              <a:spcAft>
                <a:spcPts val="0"/>
              </a:spcAft>
            </a:pPr>
            <a:r>
              <a:rPr sz="1900" b="0">
                <a:solidFill>
                  <a:srgbClr val="F2FFF9"/>
                </a:solidFill>
                <a:latin typeface="Open Sauce Light"/>
                <a:ea typeface="Open Sauce Light"/>
                <a:cs typeface="Open Sauce Light"/>
              </a:rPr>
              <a:t>Lowest balance, 26 November (week 6), from €40,000 today. Below zero again at Christmas.</a:t>
            </a:r>
          </a:p>
        </p:txBody>
      </p:sp>
      <p:sp>
        <p:nvSpPr>
          <p:cNvPr id="19" name="TextBox 18"/>
          <p:cNvSpPr txBox="1"/>
          <p:nvPr/>
        </p:nvSpPr>
        <p:spPr>
          <a:xfrm>
            <a:off x="1682496" y="6720840"/>
            <a:ext cx="5760720" cy="365760"/>
          </a:xfrm>
          <a:prstGeom prst="rect">
            <a:avLst/>
          </a:prstGeom>
          <a:noFill/>
        </p:spPr>
        <p:txBody>
          <a:bodyPr wrap="square" lIns="0" rIns="0" tIns="0" bIns="0" anchor="t">
            <a:spAutoFit/>
          </a:bodyPr>
          <a:lstStyle/>
          <a:p>
            <a:pPr algn="l">
              <a:spcAft>
                <a:spcPts val="0"/>
              </a:spcAft>
            </a:pPr>
            <a:r>
              <a:rPr sz="1900" b="0">
                <a:solidFill>
                  <a:srgbClr val="56D5A2"/>
                </a:solidFill>
                <a:latin typeface="Open Sauce Light"/>
                <a:ea typeface="Open Sauce Light"/>
                <a:cs typeface="Open Sauce Light"/>
              </a:rPr>
              <a:t>ADJUSTED FOR LATENESS</a:t>
            </a:r>
          </a:p>
        </p:txBody>
      </p:sp>
      <p:sp>
        <p:nvSpPr>
          <p:cNvPr id="20" name="TextBox 19"/>
          <p:cNvSpPr txBox="1"/>
          <p:nvPr/>
        </p:nvSpPr>
        <p:spPr>
          <a:xfrm>
            <a:off x="1682496" y="7114031"/>
            <a:ext cx="5760720" cy="73152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Each receipt moves by that customer's own average delay: Brightfield +5 days.</a:t>
            </a:r>
          </a:p>
        </p:txBody>
      </p:sp>
      <p:sp>
        <p:nvSpPr>
          <p:cNvPr id="21" name="TextBox 20"/>
          <p:cNvSpPr txBox="1"/>
          <p:nvPr/>
        </p:nvSpPr>
        <p:spPr>
          <a:xfrm>
            <a:off x="1682496" y="7909560"/>
            <a:ext cx="5760720" cy="365760"/>
          </a:xfrm>
          <a:prstGeom prst="rect">
            <a:avLst/>
          </a:prstGeom>
          <a:noFill/>
        </p:spPr>
        <p:txBody>
          <a:bodyPr wrap="square" lIns="0" rIns="0" tIns="0" bIns="0" anchor="t">
            <a:spAutoFit/>
          </a:bodyPr>
          <a:lstStyle/>
          <a:p>
            <a:pPr algn="l">
              <a:spcAft>
                <a:spcPts val="0"/>
              </a:spcAft>
            </a:pPr>
            <a:r>
              <a:rPr sz="1900" b="0">
                <a:solidFill>
                  <a:srgbClr val="56D5A2"/>
                </a:solidFill>
                <a:latin typeface="Open Sauce Light"/>
                <a:ea typeface="Open Sauce Light"/>
                <a:cs typeface="Open Sauce Light"/>
              </a:rPr>
              <a:t>EVERY NUMBER EXPLAINED</a:t>
            </a:r>
          </a:p>
        </p:txBody>
      </p:sp>
      <p:sp>
        <p:nvSpPr>
          <p:cNvPr id="22" name="TextBox 21"/>
          <p:cNvSpPr txBox="1"/>
          <p:nvPr/>
        </p:nvSpPr>
        <p:spPr>
          <a:xfrm>
            <a:off x="1682496" y="8302752"/>
            <a:ext cx="5760720" cy="73152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Click any figure to see the ledger rows behind it. No AI arithmetic.</a:t>
            </a:r>
          </a:p>
        </p:txBody>
      </p:sp>
      <p:graphicFrame>
        <p:nvGraphicFramePr>
          <p:cNvPr id="23" name="Chart 22"/>
          <p:cNvGraphicFramePr>
            <a:graphicFrameLocks noGrp="1"/>
          </p:cNvGraphicFramePr>
          <p:nvPr/>
        </p:nvGraphicFramePr>
        <p:xfrm>
          <a:off x="7955279" y="3931920"/>
          <a:ext cx="8650224" cy="5120640"/>
        </p:xfrm>
        <a:graphic>
          <a:graphicData uri="http://schemas.openxmlformats.org/drawingml/2006/chart">
            <c:chart xmlns:c="http://schemas.openxmlformats.org/drawingml/2006/chart" r:id="rId9"/>
          </a:graphicData>
        </a:graphic>
      </p:graphicFrame>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80808"/>
        </a:solidFill>
      </p:bgPr>
    </p:bg>
    <p:spTree>
      <p:nvGrpSpPr>
        <p:cNvPr id="1" name=""/>
        <p:cNvGrpSpPr/>
        <p:nvPr/>
      </p:nvGrpSpPr>
      <p:grpSpPr>
        <a:xfrm>
          <a:off x="0" y="0"/>
          <a:ext cx="0" cy="0"/>
          <a:chOff x="0" y="0"/>
          <a:chExt cx="0" cy="0"/>
        </a:xfrm>
      </p:grpSpPr>
      <p:sp>
        <p:nvSpPr>
          <p:cNvPr name="Freeform 5" id="5"/>
          <p:cNvSpPr/>
          <p:nvPr/>
        </p:nvSpPr>
        <p:spPr>
          <a:xfrm flipH="true" flipV="false" rot="4506284">
            <a:off x="-272430" y="3963060"/>
            <a:ext cx="10705830" cy="10725331"/>
          </a:xfrm>
          <a:custGeom>
            <a:avLst/>
            <a:gdLst/>
            <a:ahLst/>
            <a:cxnLst/>
            <a:rect r="r" b="b" t="t" l="l"/>
            <a:pathLst>
              <a:path h="10725331" w="10705830">
                <a:moveTo>
                  <a:pt x="10705830" y="0"/>
                </a:moveTo>
                <a:lnTo>
                  <a:pt x="0" y="0"/>
                </a:lnTo>
                <a:lnTo>
                  <a:pt x="0" y="10725331"/>
                </a:lnTo>
                <a:lnTo>
                  <a:pt x="10705830" y="10725331"/>
                </a:lnTo>
                <a:lnTo>
                  <a:pt x="10705830" y="0"/>
                </a:lnTo>
                <a:close/>
              </a:path>
            </a:pathLst>
          </a:custGeom>
          <a:blipFill>
            <a:blip r:embed="rId4"/>
            <a:stretch>
              <a:fillRect l="0" t="0" r="0" b="0"/>
            </a:stretch>
          </a:blipFill>
        </p:spPr>
      </p:sp>
      <p:sp>
        <p:nvSpPr>
          <p:cNvPr name="Freeform 15" id="15"/>
          <p:cNvSpPr/>
          <p:nvPr/>
        </p:nvSpPr>
        <p:spPr>
          <a:xfrm flipH="false" flipV="false" rot="5400000">
            <a:off x="16021677" y="1574581"/>
            <a:ext cx="956414" cy="956414"/>
          </a:xfrm>
          <a:custGeom>
            <a:avLst/>
            <a:gdLst/>
            <a:ahLst/>
            <a:cxnLst/>
            <a:rect r="r" b="b" t="t" l="l"/>
            <a:pathLst>
              <a:path h="956414" w="956414">
                <a:moveTo>
                  <a:pt x="0" y="0"/>
                </a:moveTo>
                <a:lnTo>
                  <a:pt x="956414" y="0"/>
                </a:lnTo>
                <a:lnTo>
                  <a:pt x="956414" y="956414"/>
                </a:lnTo>
                <a:lnTo>
                  <a:pt x="0" y="9564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id="23" name="Runway wordmark"/>
          <p:cNvSpPr txBox="1"/>
          <p:nvPr/>
        </p:nvSpPr>
        <p:spPr>
          <a:xfrm>
            <a:off x="1680493" y="955547"/>
            <a:ext cx="2133600" cy="635000"/>
          </a:xfrm>
          <a:prstGeom prst="rect">
            <a:avLst/>
          </a:prstGeom>
          <a:noFill/>
        </p:spPr>
        <p:txBody>
          <a:bodyPr wrap="square" lIns="0" rIns="0" tIns="0" bIns="0">
            <a:spAutoFit/>
          </a:bodyPr>
          <a:lstStyle/>
          <a:p>
            <a:r>
              <a:rPr sz="4000" b="1" spc="-240">
                <a:solidFill>
                  <a:srgbClr val="F2FFF9"/>
                </a:solidFill>
                <a:latin typeface="Segoe UI"/>
                <a:ea typeface="Segoe UI"/>
                <a:cs typeface="Segoe UI"/>
              </a:rPr>
              <a:t>runway</a:t>
            </a:r>
            <a:r>
              <a:rPr sz="4000" b="1" spc="-240">
                <a:solidFill>
                  <a:srgbClr val="A4D0B5"/>
                </a:solidFill>
                <a:latin typeface="Segoe UI"/>
                <a:ea typeface="Segoe UI"/>
                <a:cs typeface="Segoe UI"/>
              </a:rPr>
              <a:t>.</a:t>
            </a:r>
          </a:p>
        </p:txBody>
      </p:sp>
      <p:sp>
        <p:nvSpPr>
          <p:cNvPr id="24" name="TextBox 23"/>
          <p:cNvSpPr txBox="1"/>
          <p:nvPr/>
        </p:nvSpPr>
        <p:spPr>
          <a:xfrm>
            <a:off x="1682496" y="2011680"/>
            <a:ext cx="7315200" cy="45720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FINANCING MATCH</a:t>
            </a:r>
          </a:p>
        </p:txBody>
      </p:sp>
      <p:sp>
        <p:nvSpPr>
          <p:cNvPr id="25" name="TextBox 24"/>
          <p:cNvSpPr txBox="1"/>
          <p:nvPr/>
        </p:nvSpPr>
        <p:spPr>
          <a:xfrm>
            <a:off x="1682496" y="2560320"/>
            <a:ext cx="14630400" cy="914400"/>
          </a:xfrm>
          <a:prstGeom prst="rect">
            <a:avLst/>
          </a:prstGeom>
          <a:noFill/>
        </p:spPr>
        <p:txBody>
          <a:bodyPr wrap="square" lIns="0" rIns="0" tIns="0" bIns="0" anchor="t">
            <a:spAutoFit/>
          </a:bodyPr>
          <a:lstStyle/>
          <a:p>
            <a:pPr algn="l">
              <a:spcAft>
                <a:spcPts val="0"/>
              </a:spcAft>
            </a:pPr>
            <a:r>
              <a:rPr sz="7200" b="0">
                <a:solidFill>
                  <a:srgbClr val="F2FFF9"/>
                </a:solidFill>
                <a:latin typeface="Open Sauce"/>
                <a:ea typeface="Open Sauce"/>
                <a:cs typeface="Open Sauce"/>
              </a:rPr>
              <a:t>FINANCING BY TRUE COST</a:t>
            </a:r>
          </a:p>
        </p:txBody>
      </p:sp>
      <p:sp>
        <p:nvSpPr>
          <p:cNvPr id="26" name="TextBox 25"/>
          <p:cNvSpPr txBox="1"/>
          <p:nvPr/>
        </p:nvSpPr>
        <p:spPr>
          <a:xfrm>
            <a:off x="1682496" y="3977639"/>
            <a:ext cx="6400800" cy="1371600"/>
          </a:xfrm>
          <a:prstGeom prst="rect">
            <a:avLst/>
          </a:prstGeom>
          <a:noFill/>
        </p:spPr>
        <p:txBody>
          <a:bodyPr wrap="square" lIns="0" rIns="0" tIns="0" bIns="0" anchor="t">
            <a:spAutoFit/>
          </a:bodyPr>
          <a:lstStyle/>
          <a:p>
            <a:pPr algn="l">
              <a:spcAft>
                <a:spcPts val="0"/>
              </a:spcAft>
            </a:pPr>
            <a:r>
              <a:rPr sz="8800" b="0">
                <a:solidFill>
                  <a:srgbClr val="56D5A2"/>
                </a:solidFill>
                <a:latin typeface="Open Sauce"/>
                <a:ea typeface="Open Sauce"/>
                <a:cs typeface="Open Sauce"/>
              </a:rPr>
              <a:t>€18,000</a:t>
            </a:r>
          </a:p>
        </p:txBody>
      </p:sp>
      <p:sp>
        <p:nvSpPr>
          <p:cNvPr id="27" name="TextBox 26"/>
          <p:cNvSpPr txBox="1"/>
          <p:nvPr/>
        </p:nvSpPr>
        <p:spPr>
          <a:xfrm>
            <a:off x="1682496" y="5349240"/>
            <a:ext cx="6217920" cy="457200"/>
          </a:xfrm>
          <a:prstGeom prst="rect">
            <a:avLst/>
          </a:prstGeom>
          <a:noFill/>
        </p:spPr>
        <p:txBody>
          <a:bodyPr wrap="square" lIns="0" rIns="0" tIns="0" bIns="0" anchor="t">
            <a:spAutoFit/>
          </a:bodyPr>
          <a:lstStyle/>
          <a:p>
            <a:pPr algn="l">
              <a:spcAft>
                <a:spcPts val="0"/>
              </a:spcAft>
            </a:pPr>
            <a:r>
              <a:rPr sz="1900" b="0">
                <a:solidFill>
                  <a:srgbClr val="F2FFF9"/>
                </a:solidFill>
                <a:latin typeface="Open Sauce Light"/>
                <a:ea typeface="Open Sauce Light"/>
                <a:cs typeface="Open Sauce Light"/>
              </a:rPr>
              <a:t>needed from 25 Nov for 36 days, computed in code</a:t>
            </a:r>
          </a:p>
        </p:txBody>
      </p:sp>
      <p:sp>
        <p:nvSpPr>
          <p:cNvPr id="28" name="TextBox 27"/>
          <p:cNvSpPr txBox="1"/>
          <p:nvPr/>
        </p:nvSpPr>
        <p:spPr>
          <a:xfrm>
            <a:off x="1682496" y="5943600"/>
            <a:ext cx="6126480" cy="365760"/>
          </a:xfrm>
          <a:prstGeom prst="rect">
            <a:avLst/>
          </a:prstGeom>
          <a:noFill/>
        </p:spPr>
        <p:txBody>
          <a:bodyPr wrap="square" lIns="0" rIns="0" tIns="0" bIns="0" anchor="t">
            <a:spAutoFit/>
          </a:bodyPr>
          <a:lstStyle/>
          <a:p>
            <a:pPr algn="l">
              <a:spcAft>
                <a:spcPts val="0"/>
              </a:spcAft>
            </a:pPr>
            <a:r>
              <a:rPr sz="1800" b="0">
                <a:solidFill>
                  <a:srgbClr val="F2F99E"/>
                </a:solidFill>
                <a:latin typeface="Open Sauce Light"/>
                <a:ea typeface="Open Sauce Light"/>
                <a:cs typeface="Open Sauce Light"/>
              </a:rPr>
              <a:t>MATCHED, NOT GUESSED</a:t>
            </a:r>
          </a:p>
        </p:txBody>
      </p:sp>
      <p:sp>
        <p:nvSpPr>
          <p:cNvPr id="29" name="TextBox 28"/>
          <p:cNvSpPr txBox="1"/>
          <p:nvPr/>
        </p:nvSpPr>
        <p:spPr>
          <a:xfrm>
            <a:off x="1682496" y="6309360"/>
            <a:ext cx="6126480" cy="594360"/>
          </a:xfrm>
          <a:prstGeom prst="rect">
            <a:avLst/>
          </a:prstGeom>
          <a:noFill/>
        </p:spPr>
        <p:txBody>
          <a:bodyPr wrap="square" lIns="0" rIns="0" tIns="0" bIns="0" anchor="t">
            <a:spAutoFit/>
          </a:bodyPr>
          <a:lstStyle/>
          <a:p>
            <a:pPr algn="l">
              <a:lnSpc>
                <a:spcPct val="115000"/>
              </a:lnSpc>
              <a:spcAft>
                <a:spcPts val="0"/>
              </a:spcAft>
            </a:pPr>
            <a:r>
              <a:rPr sz="1600" b="0">
                <a:solidFill>
                  <a:srgbClr val="F2FFF9"/>
                </a:solidFill>
                <a:latin typeface="Open Sauce Light"/>
                <a:ea typeface="Open Sauce Light"/>
                <a:cs typeface="Open Sauce Light"/>
              </a:rPr>
              <a:t>Eligibility checked per product: supply-chain finance only against Brightfield invoices.</a:t>
            </a:r>
          </a:p>
        </p:txBody>
      </p:sp>
      <p:sp>
        <p:nvSpPr>
          <p:cNvPr id="30" name="TextBox 29"/>
          <p:cNvSpPr txBox="1"/>
          <p:nvPr/>
        </p:nvSpPr>
        <p:spPr>
          <a:xfrm>
            <a:off x="1682496" y="7086600"/>
            <a:ext cx="6126480" cy="365760"/>
          </a:xfrm>
          <a:prstGeom prst="rect">
            <a:avLst/>
          </a:prstGeom>
          <a:noFill/>
        </p:spPr>
        <p:txBody>
          <a:bodyPr wrap="square" lIns="0" rIns="0" tIns="0" bIns="0" anchor="t">
            <a:spAutoFit/>
          </a:bodyPr>
          <a:lstStyle/>
          <a:p>
            <a:pPr algn="l">
              <a:spcAft>
                <a:spcPts val="0"/>
              </a:spcAft>
            </a:pPr>
            <a:r>
              <a:rPr sz="1800" b="0">
                <a:solidFill>
                  <a:srgbClr val="F2F99E"/>
                </a:solidFill>
                <a:latin typeface="Open Sauce Light"/>
                <a:ea typeface="Open Sauce Light"/>
                <a:cs typeface="Open Sauce Light"/>
              </a:rPr>
              <a:t>APPLICATION PREPARED</a:t>
            </a:r>
          </a:p>
        </p:txBody>
      </p:sp>
      <p:sp>
        <p:nvSpPr>
          <p:cNvPr id="31" name="TextBox 30"/>
          <p:cNvSpPr txBox="1"/>
          <p:nvPr/>
        </p:nvSpPr>
        <p:spPr>
          <a:xfrm>
            <a:off x="1682496" y="7452360"/>
            <a:ext cx="6126480" cy="594360"/>
          </a:xfrm>
          <a:prstGeom prst="rect">
            <a:avLst/>
          </a:prstGeom>
          <a:noFill/>
        </p:spPr>
        <p:txBody>
          <a:bodyPr wrap="square" lIns="0" rIns="0" tIns="0" bIns="0" anchor="t">
            <a:spAutoFit/>
          </a:bodyPr>
          <a:lstStyle/>
          <a:p>
            <a:pPr algn="l">
              <a:lnSpc>
                <a:spcPct val="115000"/>
              </a:lnSpc>
              <a:spcAft>
                <a:spcPts val="0"/>
              </a:spcAft>
            </a:pPr>
            <a:r>
              <a:rPr sz="1600" b="0">
                <a:solidFill>
                  <a:srgbClr val="F2FFF9"/>
                </a:solidFill>
                <a:latin typeface="Open Sauce Light"/>
                <a:ea typeface="Open Sauce Light"/>
                <a:cs typeface="Open Sauce Light"/>
              </a:rPr>
              <a:t>A PDF with both signatures, for the owner and the accountant. Never sent by the agent.</a:t>
            </a:r>
          </a:p>
        </p:txBody>
      </p:sp>
      <p:sp>
        <p:nvSpPr>
          <p:cNvPr id="32" name="TextBox 31"/>
          <p:cNvSpPr txBox="1"/>
          <p:nvPr/>
        </p:nvSpPr>
        <p:spPr>
          <a:xfrm>
            <a:off x="1682496" y="8229600"/>
            <a:ext cx="6126480" cy="365760"/>
          </a:xfrm>
          <a:prstGeom prst="rect">
            <a:avLst/>
          </a:prstGeom>
          <a:noFill/>
        </p:spPr>
        <p:txBody>
          <a:bodyPr wrap="square" lIns="0" rIns="0" tIns="0" bIns="0" anchor="t">
            <a:spAutoFit/>
          </a:bodyPr>
          <a:lstStyle/>
          <a:p>
            <a:pPr algn="l">
              <a:spcAft>
                <a:spcPts val="0"/>
              </a:spcAft>
            </a:pPr>
            <a:r>
              <a:rPr sz="1800" b="0">
                <a:solidFill>
                  <a:srgbClr val="F2F99E"/>
                </a:solidFill>
                <a:latin typeface="Open Sauce Light"/>
                <a:ea typeface="Open Sauce Light"/>
                <a:cs typeface="Open Sauce Light"/>
              </a:rPr>
              <a:t>CLAIMS BACKED BY DATA</a:t>
            </a:r>
          </a:p>
        </p:txBody>
      </p:sp>
      <p:sp>
        <p:nvSpPr>
          <p:cNvPr id="33" name="TextBox 32"/>
          <p:cNvSpPr txBox="1"/>
          <p:nvPr/>
        </p:nvSpPr>
        <p:spPr>
          <a:xfrm>
            <a:off x="1682496" y="8595360"/>
            <a:ext cx="6126480" cy="594360"/>
          </a:xfrm>
          <a:prstGeom prst="rect">
            <a:avLst/>
          </a:prstGeom>
          <a:noFill/>
        </p:spPr>
        <p:txBody>
          <a:bodyPr wrap="square" lIns="0" rIns="0" tIns="0" bIns="0" anchor="t">
            <a:spAutoFit/>
          </a:bodyPr>
          <a:lstStyle/>
          <a:p>
            <a:pPr algn="l">
              <a:lnSpc>
                <a:spcPct val="115000"/>
              </a:lnSpc>
              <a:spcAft>
                <a:spcPts val="0"/>
              </a:spcAft>
            </a:pPr>
            <a:r>
              <a:rPr sz="1600" b="0">
                <a:solidFill>
                  <a:srgbClr val="F2FFF9"/>
                </a:solidFill>
                <a:latin typeface="Open Sauce Light"/>
                <a:ea typeface="Open Sauce Light"/>
                <a:cs typeface="Open Sauce Light"/>
              </a:rPr>
              <a:t>An amount or an action in a reply with no tool result behind it gets a visible check note.</a:t>
            </a:r>
          </a:p>
        </p:txBody>
      </p:sp>
      <p:graphicFrame>
        <p:nvGraphicFramePr>
          <p:cNvPr id="34" name="Chart 33"/>
          <p:cNvGraphicFramePr>
            <a:graphicFrameLocks noGrp="1"/>
          </p:cNvGraphicFramePr>
          <p:nvPr/>
        </p:nvGraphicFramePr>
        <p:xfrm>
          <a:off x="8138160" y="3931920"/>
          <a:ext cx="8467344" cy="4572000"/>
        </p:xfrm>
        <a:graphic>
          <a:graphicData uri="http://schemas.openxmlformats.org/drawingml/2006/chart">
            <c:chart xmlns:c="http://schemas.openxmlformats.org/drawingml/2006/chart" r:id="rId12"/>
          </a:graphicData>
        </a:graphic>
      </p:graphicFrame>
      <p:sp>
        <p:nvSpPr>
          <p:cNvPr id="35" name="TextBox 34"/>
          <p:cNvSpPr txBox="1"/>
          <p:nvPr/>
        </p:nvSpPr>
        <p:spPr>
          <a:xfrm>
            <a:off x="8138160" y="8641080"/>
            <a:ext cx="8467344" cy="457200"/>
          </a:xfrm>
          <a:prstGeom prst="rect">
            <a:avLst/>
          </a:prstGeom>
          <a:noFill/>
        </p:spPr>
        <p:txBody>
          <a:bodyPr wrap="square" lIns="0" rIns="0" tIns="0" bIns="0" anchor="t">
            <a:spAutoFit/>
          </a:bodyPr>
          <a:lstStyle/>
          <a:p>
            <a:pPr algn="l">
              <a:spcAft>
                <a:spcPts val="0"/>
              </a:spcAft>
            </a:pPr>
            <a:r>
              <a:rPr sz="1600" b="0">
                <a:solidFill>
                  <a:srgbClr val="9FB5AB"/>
                </a:solidFill>
                <a:latin typeface="Open Sauce Light"/>
                <a:ea typeface="Open Sauce Light"/>
                <a:cs typeface="Open Sauce Light"/>
              </a:rPr>
              <a:t>Every option arrives before 25 November, so none is excluded; each is ranked by cost.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80808"/>
        </a:solidFill>
      </p:bgPr>
    </p:bg>
    <p:spTree>
      <p:nvGrpSpPr>
        <p:cNvPr id="1" name=""/>
        <p:cNvGrpSpPr/>
        <p:nvPr/>
      </p:nvGrpSpPr>
      <p:grpSpPr>
        <a:xfrm>
          <a:off x="0" y="0"/>
          <a:ext cx="0" cy="0"/>
          <a:chOff x="0" y="0"/>
          <a:chExt cx="0" cy="0"/>
        </a:xfrm>
      </p:grpSpPr>
      <p:sp>
        <p:nvSpPr>
          <p:cNvPr name="Freeform 2" id="2"/>
          <p:cNvSpPr/>
          <p:nvPr/>
        </p:nvSpPr>
        <p:spPr>
          <a:xfrm flipH="false" flipV="false" rot="0">
            <a:off x="-1955157" y="-219165"/>
            <a:ext cx="10705830" cy="10725331"/>
          </a:xfrm>
          <a:custGeom>
            <a:avLst/>
            <a:gdLst/>
            <a:ahLst/>
            <a:cxnLst/>
            <a:rect r="r" b="b" t="t" l="l"/>
            <a:pathLst>
              <a:path h="10725331" w="10705830">
                <a:moveTo>
                  <a:pt x="0" y="0"/>
                </a:moveTo>
                <a:lnTo>
                  <a:pt x="10705830" y="0"/>
                </a:lnTo>
                <a:lnTo>
                  <a:pt x="10705830" y="10725330"/>
                </a:lnTo>
                <a:lnTo>
                  <a:pt x="0" y="10725330"/>
                </a:lnTo>
                <a:lnTo>
                  <a:pt x="0" y="0"/>
                </a:lnTo>
                <a:close/>
              </a:path>
            </a:pathLst>
          </a:custGeom>
          <a:blipFill>
            <a:blip r:embed="rId2"/>
            <a:stretch>
              <a:fillRect l="0" t="0" r="0" b="0"/>
            </a:stretch>
          </a:blipFill>
        </p:spPr>
      </p:sp>
      <p:sp>
        <p:nvSpPr>
          <p:cNvPr id="15" name="Runway wordmark"/>
          <p:cNvSpPr txBox="1"/>
          <p:nvPr/>
        </p:nvSpPr>
        <p:spPr>
          <a:xfrm>
            <a:off x="1680493" y="955547"/>
            <a:ext cx="2133600" cy="635000"/>
          </a:xfrm>
          <a:prstGeom prst="rect">
            <a:avLst/>
          </a:prstGeom>
          <a:noFill/>
        </p:spPr>
        <p:txBody>
          <a:bodyPr wrap="square" lIns="0" rIns="0" tIns="0" bIns="0">
            <a:spAutoFit/>
          </a:bodyPr>
          <a:lstStyle/>
          <a:p>
            <a:r>
              <a:rPr sz="4000" b="1" spc="-240">
                <a:solidFill>
                  <a:srgbClr val="F2FFF9"/>
                </a:solidFill>
                <a:latin typeface="Segoe UI"/>
                <a:ea typeface="Segoe UI"/>
                <a:cs typeface="Segoe UI"/>
              </a:rPr>
              <a:t>runway</a:t>
            </a:r>
            <a:r>
              <a:rPr sz="4000" b="1" spc="-240">
                <a:solidFill>
                  <a:srgbClr val="A4D0B5"/>
                </a:solidFill>
                <a:latin typeface="Segoe UI"/>
                <a:ea typeface="Segoe UI"/>
                <a:cs typeface="Segoe UI"/>
              </a:rPr>
              <a:t>.</a:t>
            </a:r>
          </a:p>
        </p:txBody>
      </p:sp>
      <p:sp>
        <p:nvSpPr>
          <p:cNvPr id="16" name="TextBox 15"/>
          <p:cNvSpPr txBox="1"/>
          <p:nvPr/>
        </p:nvSpPr>
        <p:spPr>
          <a:xfrm>
            <a:off x="1682496" y="1965960"/>
            <a:ext cx="6766560" cy="365760"/>
          </a:xfrm>
          <a:prstGeom prst="rect">
            <a:avLst/>
          </a:prstGeom>
          <a:noFill/>
        </p:spPr>
        <p:txBody>
          <a:bodyPr wrap="square" lIns="0" rIns="0" tIns="0" bIns="0" anchor="t">
            <a:spAutoFit/>
          </a:bodyPr>
          <a:lstStyle/>
          <a:p>
            <a:pPr algn="l">
              <a:spcAft>
                <a:spcPts val="0"/>
              </a:spcAft>
            </a:pPr>
            <a:r>
              <a:rPr sz="1900" b="0">
                <a:solidFill>
                  <a:srgbClr val="F2F99E"/>
                </a:solidFill>
                <a:latin typeface="Open Sauce Light"/>
                <a:ea typeface="Open Sauce Light"/>
                <a:cs typeface="Open Sauce Light"/>
              </a:rPr>
              <a:t>PIN FOR RISKY ACTIONS</a:t>
            </a:r>
          </a:p>
        </p:txBody>
      </p:sp>
      <p:sp>
        <p:nvSpPr>
          <p:cNvPr id="17" name="TextBox 16"/>
          <p:cNvSpPr txBox="1"/>
          <p:nvPr/>
        </p:nvSpPr>
        <p:spPr>
          <a:xfrm>
            <a:off x="1682496" y="2350008"/>
            <a:ext cx="6766560" cy="777240"/>
          </a:xfrm>
          <a:prstGeom prst="rect">
            <a:avLst/>
          </a:prstGeom>
          <a:noFill/>
        </p:spPr>
        <p:txBody>
          <a:bodyPr wrap="square" lIns="0" rIns="0" tIns="0" bIns="0" anchor="t">
            <a:spAutoFit/>
          </a:bodyPr>
          <a:lstStyle/>
          <a:p>
            <a:pPr algn="l">
              <a:lnSpc>
                <a:spcPct val="115000"/>
              </a:lnSpc>
              <a:spcAft>
                <a:spcPts val="0"/>
              </a:spcAft>
            </a:pPr>
            <a:r>
              <a:rPr sz="1600" b="0">
                <a:solidFill>
                  <a:srgbClr val="F2FFF9"/>
                </a:solidFill>
                <a:latin typeface="Open Sauce Light"/>
                <a:ea typeface="Open Sauce Light"/>
                <a:cs typeface="Open Sauce Light"/>
              </a:rPr>
              <a:t>Each role signs in with its own PIN; wrong guesses lock it.</a:t>
            </a:r>
          </a:p>
        </p:txBody>
      </p:sp>
      <p:sp>
        <p:nvSpPr>
          <p:cNvPr id="18" name="TextBox 17"/>
          <p:cNvSpPr txBox="1"/>
          <p:nvPr/>
        </p:nvSpPr>
        <p:spPr>
          <a:xfrm>
            <a:off x="1682496" y="3291839"/>
            <a:ext cx="6766560" cy="365760"/>
          </a:xfrm>
          <a:prstGeom prst="rect">
            <a:avLst/>
          </a:prstGeom>
          <a:noFill/>
        </p:spPr>
        <p:txBody>
          <a:bodyPr wrap="square" lIns="0" rIns="0" tIns="0" bIns="0" anchor="t">
            <a:spAutoFit/>
          </a:bodyPr>
          <a:lstStyle/>
          <a:p>
            <a:pPr algn="l">
              <a:spcAft>
                <a:spcPts val="0"/>
              </a:spcAft>
            </a:pPr>
            <a:r>
              <a:rPr sz="1900" b="0">
                <a:solidFill>
                  <a:srgbClr val="F2F99E"/>
                </a:solidFill>
                <a:latin typeface="Open Sauce Light"/>
                <a:ea typeface="Open Sauce Light"/>
                <a:cs typeface="Open Sauce Light"/>
              </a:rPr>
              <a:t>HUMAN REVIEW</a:t>
            </a:r>
          </a:p>
        </p:txBody>
      </p:sp>
      <p:sp>
        <p:nvSpPr>
          <p:cNvPr id="19" name="TextBox 18"/>
          <p:cNvSpPr txBox="1"/>
          <p:nvPr/>
        </p:nvSpPr>
        <p:spPr>
          <a:xfrm>
            <a:off x="1682496" y="3675887"/>
            <a:ext cx="6766560" cy="777240"/>
          </a:xfrm>
          <a:prstGeom prst="rect">
            <a:avLst/>
          </a:prstGeom>
          <a:noFill/>
        </p:spPr>
        <p:txBody>
          <a:bodyPr wrap="square" lIns="0" rIns="0" tIns="0" bIns="0" anchor="t">
            <a:spAutoFit/>
          </a:bodyPr>
          <a:lstStyle/>
          <a:p>
            <a:pPr algn="l">
              <a:lnSpc>
                <a:spcPct val="115000"/>
              </a:lnSpc>
              <a:spcAft>
                <a:spcPts val="0"/>
              </a:spcAft>
            </a:pPr>
            <a:r>
              <a:rPr sz="1600" b="0">
                <a:solidFill>
                  <a:srgbClr val="F2FFF9"/>
                </a:solidFill>
                <a:latin typeface="Open Sauce Light"/>
                <a:ea typeface="Open Sauce Light"/>
                <a:cs typeface="Open Sauce Light"/>
              </a:rPr>
              <a:t>Owner, or both roles from two sessions; AI reviewers only advise.</a:t>
            </a:r>
          </a:p>
        </p:txBody>
      </p:sp>
      <p:sp>
        <p:nvSpPr>
          <p:cNvPr id="20" name="TextBox 19"/>
          <p:cNvSpPr txBox="1"/>
          <p:nvPr/>
        </p:nvSpPr>
        <p:spPr>
          <a:xfrm>
            <a:off x="1682496" y="4617720"/>
            <a:ext cx="6766560" cy="365760"/>
          </a:xfrm>
          <a:prstGeom prst="rect">
            <a:avLst/>
          </a:prstGeom>
          <a:noFill/>
        </p:spPr>
        <p:txBody>
          <a:bodyPr wrap="square" lIns="0" rIns="0" tIns="0" bIns="0" anchor="t">
            <a:spAutoFit/>
          </a:bodyPr>
          <a:lstStyle/>
          <a:p>
            <a:pPr algn="l">
              <a:spcAft>
                <a:spcPts val="0"/>
              </a:spcAft>
            </a:pPr>
            <a:r>
              <a:rPr sz="1900" b="0">
                <a:solidFill>
                  <a:srgbClr val="F2F99E"/>
                </a:solidFill>
                <a:latin typeface="Open Sauce Light"/>
                <a:ea typeface="Open Sauce Light"/>
                <a:cs typeface="Open Sauce Light"/>
              </a:rPr>
              <a:t>PSEUDONYMISED BEFORE THE LLM</a:t>
            </a:r>
          </a:p>
        </p:txBody>
      </p:sp>
      <p:sp>
        <p:nvSpPr>
          <p:cNvPr id="21" name="TextBox 20"/>
          <p:cNvSpPr txBox="1"/>
          <p:nvPr/>
        </p:nvSpPr>
        <p:spPr>
          <a:xfrm>
            <a:off x="1682496" y="5001768"/>
            <a:ext cx="6766560" cy="777240"/>
          </a:xfrm>
          <a:prstGeom prst="rect">
            <a:avLst/>
          </a:prstGeom>
          <a:noFill/>
        </p:spPr>
        <p:txBody>
          <a:bodyPr wrap="square" lIns="0" rIns="0" tIns="0" bIns="0" anchor="t">
            <a:spAutoFit/>
          </a:bodyPr>
          <a:lstStyle/>
          <a:p>
            <a:pPr algn="l">
              <a:lnSpc>
                <a:spcPct val="115000"/>
              </a:lnSpc>
              <a:spcAft>
                <a:spcPts val="0"/>
              </a:spcAft>
            </a:pPr>
            <a:r>
              <a:rPr sz="1600" b="0">
                <a:solidFill>
                  <a:srgbClr val="F2FFF9"/>
                </a:solidFill>
                <a:latin typeface="Open Sauce Light"/>
                <a:ea typeface="Open Sauce Light"/>
                <a:cs typeface="Open Sauce Light"/>
              </a:rPr>
              <a:t>Names, e-mails and IBANs become placeholders.</a:t>
            </a:r>
          </a:p>
        </p:txBody>
      </p:sp>
      <p:sp>
        <p:nvSpPr>
          <p:cNvPr id="22" name="TextBox 21"/>
          <p:cNvSpPr txBox="1"/>
          <p:nvPr/>
        </p:nvSpPr>
        <p:spPr>
          <a:xfrm>
            <a:off x="1682496" y="5760720"/>
            <a:ext cx="7315200" cy="45720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SECURITY: PERMISSIONS</a:t>
            </a:r>
          </a:p>
        </p:txBody>
      </p:sp>
      <p:sp>
        <p:nvSpPr>
          <p:cNvPr id="23" name="TextBox 22"/>
          <p:cNvSpPr txBox="1"/>
          <p:nvPr/>
        </p:nvSpPr>
        <p:spPr>
          <a:xfrm>
            <a:off x="1682496" y="6309360"/>
            <a:ext cx="7863840" cy="2194560"/>
          </a:xfrm>
          <a:prstGeom prst="rect">
            <a:avLst/>
          </a:prstGeom>
          <a:noFill/>
        </p:spPr>
        <p:txBody>
          <a:bodyPr wrap="square" lIns="0" rIns="0" tIns="0" bIns="0" anchor="t">
            <a:spAutoFit/>
          </a:bodyPr>
          <a:lstStyle/>
          <a:p>
            <a:pPr algn="l">
              <a:lnSpc>
                <a:spcPct val="95000"/>
              </a:lnSpc>
              <a:spcAft>
                <a:spcPts val="0"/>
              </a:spcAft>
            </a:pPr>
            <a:r>
              <a:rPr sz="8000" b="0">
                <a:solidFill>
                  <a:srgbClr val="F2FFF9"/>
                </a:solidFill>
                <a:latin typeface="Open Sauce"/>
                <a:ea typeface="Open Sauce"/>
                <a:cs typeface="Open Sauce"/>
              </a:rPr>
              <a:t>PERMISSION</a:t>
            </a:r>
          </a:p>
          <a:p>
            <a:pPr algn="l">
              <a:lnSpc>
                <a:spcPct val="95000"/>
              </a:lnSpc>
              <a:spcAft>
                <a:spcPts val="0"/>
              </a:spcAft>
            </a:pPr>
            <a:r>
              <a:rPr sz="8000" b="0">
                <a:solidFill>
                  <a:srgbClr val="F2FFF9"/>
                </a:solidFill>
                <a:latin typeface="Open Sauce"/>
                <a:ea typeface="Open Sauce"/>
                <a:cs typeface="Open Sauce"/>
              </a:rPr>
              <a:t>TIERS</a:t>
            </a:r>
          </a:p>
        </p:txBody>
      </p:sp>
      <p:sp>
        <p:nvSpPr>
          <p:cNvPr id="24" name="Rounded Rectangle 23"/>
          <p:cNvSpPr/>
          <p:nvPr/>
        </p:nvSpPr>
        <p:spPr>
          <a:xfrm>
            <a:off x="9509760" y="2011680"/>
            <a:ext cx="7095744" cy="123444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9738360" y="2286000"/>
            <a:ext cx="914400" cy="685800"/>
          </a:xfrm>
          <a:prstGeom prst="roundRect">
            <a:avLst>
              <a:gd name="adj" fmla="val 20000"/>
            </a:avLst>
          </a:prstGeom>
          <a:solidFill>
            <a:srgbClr val="080808"/>
          </a:solidFill>
          <a:ln w="19050">
            <a:solidFill>
              <a:srgbClr val="56D5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738360" y="2286000"/>
            <a:ext cx="914400" cy="685800"/>
          </a:xfrm>
          <a:prstGeom prst="rect">
            <a:avLst/>
          </a:prstGeom>
          <a:noFill/>
        </p:spPr>
        <p:txBody>
          <a:bodyPr wrap="square" lIns="0" rIns="0" tIns="0" bIns="0" anchor="ctr">
            <a:spAutoFit/>
          </a:bodyPr>
          <a:lstStyle/>
          <a:p>
            <a:pPr algn="ctr">
              <a:spcAft>
                <a:spcPts val="0"/>
              </a:spcAft>
            </a:pPr>
            <a:r>
              <a:rPr sz="2200" b="0">
                <a:solidFill>
                  <a:srgbClr val="56D5A2"/>
                </a:solidFill>
                <a:latin typeface="Open Sauce"/>
                <a:ea typeface="Open Sauce"/>
                <a:cs typeface="Open Sauce"/>
              </a:rPr>
              <a:t>T0</a:t>
            </a:r>
          </a:p>
        </p:txBody>
      </p:sp>
      <p:sp>
        <p:nvSpPr>
          <p:cNvPr id="27" name="TextBox 26"/>
          <p:cNvSpPr txBox="1"/>
          <p:nvPr/>
        </p:nvSpPr>
        <p:spPr>
          <a:xfrm>
            <a:off x="10927080" y="2212848"/>
            <a:ext cx="2743200" cy="411480"/>
          </a:xfrm>
          <a:prstGeom prst="rect">
            <a:avLst/>
          </a:prstGeom>
          <a:noFill/>
        </p:spPr>
        <p:txBody>
          <a:bodyPr wrap="square" lIns="0" rIns="0" tIns="0" bIns="0" anchor="t">
            <a:spAutoFit/>
          </a:bodyPr>
          <a:lstStyle/>
          <a:p>
            <a:pPr algn="l">
              <a:spcAft>
                <a:spcPts val="0"/>
              </a:spcAft>
            </a:pPr>
            <a:r>
              <a:rPr sz="2000" b="0">
                <a:solidFill>
                  <a:srgbClr val="F2FFF9"/>
                </a:solidFill>
                <a:latin typeface="Open Sauce"/>
                <a:ea typeface="Open Sauce"/>
                <a:cs typeface="Open Sauce"/>
              </a:rPr>
              <a:t>READ</a:t>
            </a:r>
          </a:p>
        </p:txBody>
      </p:sp>
      <p:sp>
        <p:nvSpPr>
          <p:cNvPr id="28" name="TextBox 27"/>
          <p:cNvSpPr txBox="1"/>
          <p:nvPr/>
        </p:nvSpPr>
        <p:spPr>
          <a:xfrm>
            <a:off x="13350240" y="2212848"/>
            <a:ext cx="3108960" cy="411480"/>
          </a:xfrm>
          <a:prstGeom prst="rect">
            <a:avLst/>
          </a:prstGeom>
          <a:noFill/>
        </p:spPr>
        <p:txBody>
          <a:bodyPr wrap="square" lIns="0" rIns="0" tIns="0" bIns="0" anchor="t">
            <a:spAutoFit/>
          </a:bodyPr>
          <a:lstStyle/>
          <a:p>
            <a:pPr algn="r">
              <a:spcAft>
                <a:spcPts val="0"/>
              </a:spcAft>
            </a:pPr>
            <a:r>
              <a:rPr sz="1600" b="0">
                <a:solidFill>
                  <a:srgbClr val="56D5A2"/>
                </a:solidFill>
                <a:latin typeface="Open Sauce Light"/>
                <a:ea typeface="Open Sauce Light"/>
                <a:cs typeface="Open Sauce Light"/>
              </a:rPr>
              <a:t>Automatic</a:t>
            </a:r>
          </a:p>
        </p:txBody>
      </p:sp>
      <p:sp>
        <p:nvSpPr>
          <p:cNvPr id="29" name="TextBox 28"/>
          <p:cNvSpPr txBox="1"/>
          <p:nvPr/>
        </p:nvSpPr>
        <p:spPr>
          <a:xfrm>
            <a:off x="10927080" y="2670048"/>
            <a:ext cx="5486400" cy="457200"/>
          </a:xfrm>
          <a:prstGeom prst="rect">
            <a:avLst/>
          </a:prstGeom>
          <a:noFill/>
        </p:spPr>
        <p:txBody>
          <a:bodyPr wrap="square" lIns="0" rIns="0" tIns="0" bIns="0" anchor="t">
            <a:spAutoFit/>
          </a:bodyPr>
          <a:lstStyle/>
          <a:p>
            <a:pPr algn="l">
              <a:spcAft>
                <a:spcPts val="0"/>
              </a:spcAft>
            </a:pPr>
            <a:r>
              <a:rPr sz="1600" b="0">
                <a:solidFill>
                  <a:srgbClr val="9FB5AB"/>
                </a:solidFill>
                <a:latin typeface="Open Sauce Light"/>
                <a:ea typeface="Open Sauce Light"/>
                <a:cs typeface="Open Sauce Light"/>
              </a:rPr>
              <a:t>Balances, invoices, flag a document</a:t>
            </a:r>
          </a:p>
        </p:txBody>
      </p:sp>
      <p:sp>
        <p:nvSpPr>
          <p:cNvPr id="30" name="Rounded Rectangle 29"/>
          <p:cNvSpPr/>
          <p:nvPr/>
        </p:nvSpPr>
        <p:spPr>
          <a:xfrm>
            <a:off x="9509760" y="3429000"/>
            <a:ext cx="7095744" cy="123444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9738360" y="3703320"/>
            <a:ext cx="914400" cy="685800"/>
          </a:xfrm>
          <a:prstGeom prst="roundRect">
            <a:avLst>
              <a:gd name="adj" fmla="val 20000"/>
            </a:avLst>
          </a:prstGeom>
          <a:solidFill>
            <a:srgbClr val="080808"/>
          </a:solidFill>
          <a:ln w="19050">
            <a:solidFill>
              <a:srgbClr val="56D5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738360" y="3703320"/>
            <a:ext cx="914400" cy="685800"/>
          </a:xfrm>
          <a:prstGeom prst="rect">
            <a:avLst/>
          </a:prstGeom>
          <a:noFill/>
        </p:spPr>
        <p:txBody>
          <a:bodyPr wrap="square" lIns="0" rIns="0" tIns="0" bIns="0" anchor="ctr">
            <a:spAutoFit/>
          </a:bodyPr>
          <a:lstStyle/>
          <a:p>
            <a:pPr algn="ctr">
              <a:spcAft>
                <a:spcPts val="0"/>
              </a:spcAft>
            </a:pPr>
            <a:r>
              <a:rPr sz="2200" b="0">
                <a:solidFill>
                  <a:srgbClr val="56D5A2"/>
                </a:solidFill>
                <a:latin typeface="Open Sauce"/>
                <a:ea typeface="Open Sauce"/>
                <a:cs typeface="Open Sauce"/>
              </a:rPr>
              <a:t>T1</a:t>
            </a:r>
          </a:p>
        </p:txBody>
      </p:sp>
      <p:sp>
        <p:nvSpPr>
          <p:cNvPr id="33" name="TextBox 32"/>
          <p:cNvSpPr txBox="1"/>
          <p:nvPr/>
        </p:nvSpPr>
        <p:spPr>
          <a:xfrm>
            <a:off x="10927080" y="3630168"/>
            <a:ext cx="2743200" cy="411480"/>
          </a:xfrm>
          <a:prstGeom prst="rect">
            <a:avLst/>
          </a:prstGeom>
          <a:noFill/>
        </p:spPr>
        <p:txBody>
          <a:bodyPr wrap="square" lIns="0" rIns="0" tIns="0" bIns="0" anchor="t">
            <a:spAutoFit/>
          </a:bodyPr>
          <a:lstStyle/>
          <a:p>
            <a:pPr algn="l">
              <a:spcAft>
                <a:spcPts val="0"/>
              </a:spcAft>
            </a:pPr>
            <a:r>
              <a:rPr sz="2000" b="0">
                <a:solidFill>
                  <a:srgbClr val="F2FFF9"/>
                </a:solidFill>
                <a:latin typeface="Open Sauce"/>
                <a:ea typeface="Open Sauce"/>
                <a:cs typeface="Open Sauce"/>
              </a:rPr>
              <a:t>ANALYSE</a:t>
            </a:r>
          </a:p>
        </p:txBody>
      </p:sp>
      <p:sp>
        <p:nvSpPr>
          <p:cNvPr id="34" name="TextBox 33"/>
          <p:cNvSpPr txBox="1"/>
          <p:nvPr/>
        </p:nvSpPr>
        <p:spPr>
          <a:xfrm>
            <a:off x="13350240" y="3630168"/>
            <a:ext cx="3108960" cy="411480"/>
          </a:xfrm>
          <a:prstGeom prst="rect">
            <a:avLst/>
          </a:prstGeom>
          <a:noFill/>
        </p:spPr>
        <p:txBody>
          <a:bodyPr wrap="square" lIns="0" rIns="0" tIns="0" bIns="0" anchor="t">
            <a:spAutoFit/>
          </a:bodyPr>
          <a:lstStyle/>
          <a:p>
            <a:pPr algn="r">
              <a:spcAft>
                <a:spcPts val="0"/>
              </a:spcAft>
            </a:pPr>
            <a:r>
              <a:rPr sz="1600" b="0">
                <a:solidFill>
                  <a:srgbClr val="56D5A2"/>
                </a:solidFill>
                <a:latin typeface="Open Sauce Light"/>
                <a:ea typeface="Open Sauce Light"/>
                <a:cs typeface="Open Sauce Light"/>
              </a:rPr>
              <a:t>Automatic, logged</a:t>
            </a:r>
          </a:p>
        </p:txBody>
      </p:sp>
      <p:sp>
        <p:nvSpPr>
          <p:cNvPr id="35" name="TextBox 34"/>
          <p:cNvSpPr txBox="1"/>
          <p:nvPr/>
        </p:nvSpPr>
        <p:spPr>
          <a:xfrm>
            <a:off x="10927080" y="4087368"/>
            <a:ext cx="5486400" cy="457200"/>
          </a:xfrm>
          <a:prstGeom prst="rect">
            <a:avLst/>
          </a:prstGeom>
          <a:noFill/>
        </p:spPr>
        <p:txBody>
          <a:bodyPr wrap="square" lIns="0" rIns="0" tIns="0" bIns="0" anchor="t">
            <a:spAutoFit/>
          </a:bodyPr>
          <a:lstStyle/>
          <a:p>
            <a:pPr algn="l">
              <a:spcAft>
                <a:spcPts val="0"/>
              </a:spcAft>
            </a:pPr>
            <a:r>
              <a:rPr sz="1600" b="0">
                <a:solidFill>
                  <a:srgbClr val="9FB5AB"/>
                </a:solidFill>
                <a:latin typeface="Open Sauce Light"/>
                <a:ea typeface="Open Sauce Light"/>
                <a:cs typeface="Open Sauce Light"/>
              </a:rPr>
              <a:t>Forecast, scenarios, compare financing</a:t>
            </a:r>
          </a:p>
        </p:txBody>
      </p:sp>
      <p:sp>
        <p:nvSpPr>
          <p:cNvPr id="36" name="Rounded Rectangle 35"/>
          <p:cNvSpPr/>
          <p:nvPr/>
        </p:nvSpPr>
        <p:spPr>
          <a:xfrm>
            <a:off x="9509760" y="4846320"/>
            <a:ext cx="7095744" cy="123444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9738360" y="5120640"/>
            <a:ext cx="914400" cy="685800"/>
          </a:xfrm>
          <a:prstGeom prst="roundRect">
            <a:avLst>
              <a:gd name="adj" fmla="val 20000"/>
            </a:avLst>
          </a:prstGeom>
          <a:solidFill>
            <a:srgbClr val="080808"/>
          </a:solidFill>
          <a:ln w="19050">
            <a:solidFill>
              <a:srgbClr val="56D5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738360" y="5120640"/>
            <a:ext cx="914400" cy="685800"/>
          </a:xfrm>
          <a:prstGeom prst="rect">
            <a:avLst/>
          </a:prstGeom>
          <a:noFill/>
        </p:spPr>
        <p:txBody>
          <a:bodyPr wrap="square" lIns="0" rIns="0" tIns="0" bIns="0" anchor="ctr">
            <a:spAutoFit/>
          </a:bodyPr>
          <a:lstStyle/>
          <a:p>
            <a:pPr algn="ctr">
              <a:spcAft>
                <a:spcPts val="0"/>
              </a:spcAft>
            </a:pPr>
            <a:r>
              <a:rPr sz="2200" b="0">
                <a:solidFill>
                  <a:srgbClr val="56D5A2"/>
                </a:solidFill>
                <a:latin typeface="Open Sauce"/>
                <a:ea typeface="Open Sauce"/>
                <a:cs typeface="Open Sauce"/>
              </a:rPr>
              <a:t>T2</a:t>
            </a:r>
          </a:p>
        </p:txBody>
      </p:sp>
      <p:sp>
        <p:nvSpPr>
          <p:cNvPr id="39" name="TextBox 38"/>
          <p:cNvSpPr txBox="1"/>
          <p:nvPr/>
        </p:nvSpPr>
        <p:spPr>
          <a:xfrm>
            <a:off x="10927080" y="5047488"/>
            <a:ext cx="2743200" cy="411480"/>
          </a:xfrm>
          <a:prstGeom prst="rect">
            <a:avLst/>
          </a:prstGeom>
          <a:noFill/>
        </p:spPr>
        <p:txBody>
          <a:bodyPr wrap="square" lIns="0" rIns="0" tIns="0" bIns="0" anchor="t">
            <a:spAutoFit/>
          </a:bodyPr>
          <a:lstStyle/>
          <a:p>
            <a:pPr algn="l">
              <a:spcAft>
                <a:spcPts val="0"/>
              </a:spcAft>
            </a:pPr>
            <a:r>
              <a:rPr sz="2000" b="0">
                <a:solidFill>
                  <a:srgbClr val="F2FFF9"/>
                </a:solidFill>
                <a:latin typeface="Open Sauce"/>
                <a:ea typeface="Open Sauce"/>
                <a:cs typeface="Open Sauce"/>
              </a:rPr>
              <a:t>LOW RISK</a:t>
            </a:r>
          </a:p>
        </p:txBody>
      </p:sp>
      <p:sp>
        <p:nvSpPr>
          <p:cNvPr id="40" name="TextBox 39"/>
          <p:cNvSpPr txBox="1"/>
          <p:nvPr/>
        </p:nvSpPr>
        <p:spPr>
          <a:xfrm>
            <a:off x="13350240" y="5047488"/>
            <a:ext cx="3108960" cy="411480"/>
          </a:xfrm>
          <a:prstGeom prst="rect">
            <a:avLst/>
          </a:prstGeom>
          <a:noFill/>
        </p:spPr>
        <p:txBody>
          <a:bodyPr wrap="square" lIns="0" rIns="0" tIns="0" bIns="0" anchor="t">
            <a:spAutoFit/>
          </a:bodyPr>
          <a:lstStyle/>
          <a:p>
            <a:pPr algn="r">
              <a:spcAft>
                <a:spcPts val="0"/>
              </a:spcAft>
            </a:pPr>
            <a:r>
              <a:rPr sz="1600" b="0">
                <a:solidFill>
                  <a:srgbClr val="56D5A2"/>
                </a:solidFill>
                <a:latin typeface="Open Sauce Light"/>
                <a:ea typeface="Open Sauce Light"/>
                <a:cs typeface="Open Sauce Light"/>
              </a:rPr>
              <a:t>Automatic</a:t>
            </a:r>
          </a:p>
        </p:txBody>
      </p:sp>
      <p:sp>
        <p:nvSpPr>
          <p:cNvPr id="41" name="TextBox 40"/>
          <p:cNvSpPr txBox="1"/>
          <p:nvPr/>
        </p:nvSpPr>
        <p:spPr>
          <a:xfrm>
            <a:off x="10927080" y="5504688"/>
            <a:ext cx="5486400" cy="457200"/>
          </a:xfrm>
          <a:prstGeom prst="rect">
            <a:avLst/>
          </a:prstGeom>
          <a:noFill/>
        </p:spPr>
        <p:txBody>
          <a:bodyPr wrap="square" lIns="0" rIns="0" tIns="0" bIns="0" anchor="t">
            <a:spAutoFit/>
          </a:bodyPr>
          <a:lstStyle/>
          <a:p>
            <a:pPr algn="l">
              <a:spcAft>
                <a:spcPts val="0"/>
              </a:spcAft>
            </a:pPr>
            <a:r>
              <a:rPr sz="1600" b="0">
                <a:solidFill>
                  <a:srgbClr val="9FB5AB"/>
                </a:solidFill>
                <a:latin typeface="Open Sauce Light"/>
                <a:ea typeface="Open Sauce Light"/>
                <a:cs typeface="Open Sauce Light"/>
              </a:rPr>
              <a:t>Reminders, capped payments up to €1,000</a:t>
            </a:r>
          </a:p>
        </p:txBody>
      </p:sp>
      <p:sp>
        <p:nvSpPr>
          <p:cNvPr id="42" name="Rounded Rectangle 41"/>
          <p:cNvSpPr/>
          <p:nvPr/>
        </p:nvSpPr>
        <p:spPr>
          <a:xfrm>
            <a:off x="9509760" y="6263640"/>
            <a:ext cx="7095744" cy="123444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ounded Rectangle 42"/>
          <p:cNvSpPr/>
          <p:nvPr/>
        </p:nvSpPr>
        <p:spPr>
          <a:xfrm>
            <a:off x="9738360" y="6537960"/>
            <a:ext cx="914400" cy="685800"/>
          </a:xfrm>
          <a:prstGeom prst="roundRect">
            <a:avLst>
              <a:gd name="adj" fmla="val 20000"/>
            </a:avLst>
          </a:prstGeom>
          <a:solidFill>
            <a:srgbClr val="080808"/>
          </a:solidFill>
          <a:ln w="19050">
            <a:solidFill>
              <a:srgbClr val="F2F99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738360" y="6537960"/>
            <a:ext cx="914400" cy="685800"/>
          </a:xfrm>
          <a:prstGeom prst="rect">
            <a:avLst/>
          </a:prstGeom>
          <a:noFill/>
        </p:spPr>
        <p:txBody>
          <a:bodyPr wrap="square" lIns="0" rIns="0" tIns="0" bIns="0" anchor="ctr">
            <a:spAutoFit/>
          </a:bodyPr>
          <a:lstStyle/>
          <a:p>
            <a:pPr algn="ctr">
              <a:spcAft>
                <a:spcPts val="0"/>
              </a:spcAft>
            </a:pPr>
            <a:r>
              <a:rPr sz="2200" b="0">
                <a:solidFill>
                  <a:srgbClr val="F2F99E"/>
                </a:solidFill>
                <a:latin typeface="Open Sauce"/>
                <a:ea typeface="Open Sauce"/>
                <a:cs typeface="Open Sauce"/>
              </a:rPr>
              <a:t>T3</a:t>
            </a:r>
          </a:p>
        </p:txBody>
      </p:sp>
      <p:sp>
        <p:nvSpPr>
          <p:cNvPr id="45" name="TextBox 44"/>
          <p:cNvSpPr txBox="1"/>
          <p:nvPr/>
        </p:nvSpPr>
        <p:spPr>
          <a:xfrm>
            <a:off x="10927080" y="6464808"/>
            <a:ext cx="2743200" cy="411480"/>
          </a:xfrm>
          <a:prstGeom prst="rect">
            <a:avLst/>
          </a:prstGeom>
          <a:noFill/>
        </p:spPr>
        <p:txBody>
          <a:bodyPr wrap="square" lIns="0" rIns="0" tIns="0" bIns="0" anchor="t">
            <a:spAutoFit/>
          </a:bodyPr>
          <a:lstStyle/>
          <a:p>
            <a:pPr algn="l">
              <a:spcAft>
                <a:spcPts val="0"/>
              </a:spcAft>
            </a:pPr>
            <a:r>
              <a:rPr sz="2000" b="0">
                <a:solidFill>
                  <a:srgbClr val="F2FFF9"/>
                </a:solidFill>
                <a:latin typeface="Open Sauce"/>
                <a:ea typeface="Open Sauce"/>
                <a:cs typeface="Open Sauce"/>
              </a:rPr>
              <a:t>APPROVAL</a:t>
            </a:r>
          </a:p>
        </p:txBody>
      </p:sp>
      <p:sp>
        <p:nvSpPr>
          <p:cNvPr id="46" name="TextBox 45"/>
          <p:cNvSpPr txBox="1"/>
          <p:nvPr/>
        </p:nvSpPr>
        <p:spPr>
          <a:xfrm>
            <a:off x="13350240" y="6464808"/>
            <a:ext cx="3108960" cy="411480"/>
          </a:xfrm>
          <a:prstGeom prst="rect">
            <a:avLst/>
          </a:prstGeom>
          <a:noFill/>
        </p:spPr>
        <p:txBody>
          <a:bodyPr wrap="square" lIns="0" rIns="0" tIns="0" bIns="0" anchor="t">
            <a:spAutoFit/>
          </a:bodyPr>
          <a:lstStyle/>
          <a:p>
            <a:pPr algn="r">
              <a:spcAft>
                <a:spcPts val="0"/>
              </a:spcAft>
            </a:pPr>
            <a:r>
              <a:rPr sz="1600" b="0">
                <a:solidFill>
                  <a:srgbClr val="F2F99E"/>
                </a:solidFill>
                <a:latin typeface="Open Sauce Light"/>
                <a:ea typeface="Open Sauce Light"/>
                <a:cs typeface="Open Sauce Light"/>
              </a:rPr>
              <a:t>Owner, or owner + accountant</a:t>
            </a:r>
          </a:p>
        </p:txBody>
      </p:sp>
      <p:sp>
        <p:nvSpPr>
          <p:cNvPr id="47" name="TextBox 46"/>
          <p:cNvSpPr txBox="1"/>
          <p:nvPr/>
        </p:nvSpPr>
        <p:spPr>
          <a:xfrm>
            <a:off x="10927080" y="6922008"/>
            <a:ext cx="5486400" cy="457200"/>
          </a:xfrm>
          <a:prstGeom prst="rect">
            <a:avLst/>
          </a:prstGeom>
          <a:noFill/>
        </p:spPr>
        <p:txBody>
          <a:bodyPr wrap="square" lIns="0" rIns="0" tIns="0" bIns="0" anchor="t">
            <a:spAutoFit/>
          </a:bodyPr>
          <a:lstStyle/>
          <a:p>
            <a:pPr algn="l">
              <a:spcAft>
                <a:spcPts val="0"/>
              </a:spcAft>
            </a:pPr>
            <a:r>
              <a:rPr sz="1600" b="0">
                <a:solidFill>
                  <a:srgbClr val="9FB5AB"/>
                </a:solidFill>
                <a:latin typeface="Open Sauce Light"/>
                <a:ea typeface="Open Sauce Light"/>
                <a:cs typeface="Open Sauce Light"/>
              </a:rPr>
              <a:t>Reschedule, financing, larger payments</a:t>
            </a:r>
          </a:p>
        </p:txBody>
      </p:sp>
      <p:sp>
        <p:nvSpPr>
          <p:cNvPr id="48" name="Rounded Rectangle 47"/>
          <p:cNvSpPr/>
          <p:nvPr/>
        </p:nvSpPr>
        <p:spPr>
          <a:xfrm>
            <a:off x="9509760" y="7680960"/>
            <a:ext cx="7095744" cy="123444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ounded Rectangle 48"/>
          <p:cNvSpPr/>
          <p:nvPr/>
        </p:nvSpPr>
        <p:spPr>
          <a:xfrm>
            <a:off x="9738360" y="7955280"/>
            <a:ext cx="914400" cy="685800"/>
          </a:xfrm>
          <a:prstGeom prst="roundRect">
            <a:avLst>
              <a:gd name="adj" fmla="val 20000"/>
            </a:avLst>
          </a:prstGeom>
          <a:solidFill>
            <a:srgbClr val="080808"/>
          </a:solidFill>
          <a:ln w="19050">
            <a:solidFill>
              <a:srgbClr val="F08A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9738360" y="7955280"/>
            <a:ext cx="914400" cy="685800"/>
          </a:xfrm>
          <a:prstGeom prst="rect">
            <a:avLst/>
          </a:prstGeom>
          <a:noFill/>
        </p:spPr>
        <p:txBody>
          <a:bodyPr wrap="square" lIns="0" rIns="0" tIns="0" bIns="0" anchor="ctr">
            <a:spAutoFit/>
          </a:bodyPr>
          <a:lstStyle/>
          <a:p>
            <a:pPr algn="ctr">
              <a:spcAft>
                <a:spcPts val="0"/>
              </a:spcAft>
            </a:pPr>
            <a:r>
              <a:rPr sz="2200" b="0">
                <a:solidFill>
                  <a:srgbClr val="F08A7A"/>
                </a:solidFill>
                <a:latin typeface="Open Sauce"/>
                <a:ea typeface="Open Sauce"/>
                <a:cs typeface="Open Sauce"/>
              </a:rPr>
              <a:t>T4</a:t>
            </a:r>
          </a:p>
        </p:txBody>
      </p:sp>
      <p:sp>
        <p:nvSpPr>
          <p:cNvPr id="51" name="TextBox 50"/>
          <p:cNvSpPr txBox="1"/>
          <p:nvPr/>
        </p:nvSpPr>
        <p:spPr>
          <a:xfrm>
            <a:off x="10927080" y="7882128"/>
            <a:ext cx="2743200" cy="411480"/>
          </a:xfrm>
          <a:prstGeom prst="rect">
            <a:avLst/>
          </a:prstGeom>
          <a:noFill/>
        </p:spPr>
        <p:txBody>
          <a:bodyPr wrap="square" lIns="0" rIns="0" tIns="0" bIns="0" anchor="t">
            <a:spAutoFit/>
          </a:bodyPr>
          <a:lstStyle/>
          <a:p>
            <a:pPr algn="l">
              <a:spcAft>
                <a:spcPts val="0"/>
              </a:spcAft>
            </a:pPr>
            <a:r>
              <a:rPr sz="2000" b="0">
                <a:solidFill>
                  <a:srgbClr val="F2FFF9"/>
                </a:solidFill>
                <a:latin typeface="Open Sauce"/>
                <a:ea typeface="Open Sauce"/>
                <a:cs typeface="Open Sauce"/>
              </a:rPr>
              <a:t>FORBIDDEN</a:t>
            </a:r>
          </a:p>
        </p:txBody>
      </p:sp>
      <p:sp>
        <p:nvSpPr>
          <p:cNvPr id="52" name="TextBox 51"/>
          <p:cNvSpPr txBox="1"/>
          <p:nvPr/>
        </p:nvSpPr>
        <p:spPr>
          <a:xfrm>
            <a:off x="13350240" y="7882128"/>
            <a:ext cx="3108960" cy="411480"/>
          </a:xfrm>
          <a:prstGeom prst="rect">
            <a:avLst/>
          </a:prstGeom>
          <a:noFill/>
        </p:spPr>
        <p:txBody>
          <a:bodyPr wrap="square" lIns="0" rIns="0" tIns="0" bIns="0" anchor="t">
            <a:spAutoFit/>
          </a:bodyPr>
          <a:lstStyle/>
          <a:p>
            <a:pPr algn="r">
              <a:spcAft>
                <a:spcPts val="0"/>
              </a:spcAft>
            </a:pPr>
            <a:r>
              <a:rPr sz="1600" b="0">
                <a:solidFill>
                  <a:srgbClr val="F08A7A"/>
                </a:solidFill>
                <a:latin typeface="Open Sauce Light"/>
                <a:ea typeface="Open Sauce Light"/>
                <a:cs typeface="Open Sauce Light"/>
              </a:rPr>
              <a:t>No such tool exists</a:t>
            </a:r>
          </a:p>
        </p:txBody>
      </p:sp>
      <p:sp>
        <p:nvSpPr>
          <p:cNvPr id="53" name="TextBox 52"/>
          <p:cNvSpPr txBox="1"/>
          <p:nvPr/>
        </p:nvSpPr>
        <p:spPr>
          <a:xfrm>
            <a:off x="10927080" y="8339328"/>
            <a:ext cx="5486400" cy="457200"/>
          </a:xfrm>
          <a:prstGeom prst="rect">
            <a:avLst/>
          </a:prstGeom>
          <a:noFill/>
        </p:spPr>
        <p:txBody>
          <a:bodyPr wrap="square" lIns="0" rIns="0" tIns="0" bIns="0" anchor="t">
            <a:spAutoFit/>
          </a:bodyPr>
          <a:lstStyle/>
          <a:p>
            <a:pPr algn="l">
              <a:spcAft>
                <a:spcPts val="0"/>
              </a:spcAft>
            </a:pPr>
            <a:r>
              <a:rPr sz="1600" b="0">
                <a:solidFill>
                  <a:srgbClr val="9FB5AB"/>
                </a:solidFill>
                <a:latin typeface="Open Sauce Light"/>
                <a:ea typeface="Open Sauce Light"/>
                <a:cs typeface="Open Sauce Light"/>
              </a:rPr>
              <a:t>Add a payee, change limits, export data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80808"/>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272754" y="-3002400"/>
            <a:ext cx="10705830" cy="10725331"/>
          </a:xfrm>
          <a:custGeom>
            <a:avLst/>
            <a:gdLst/>
            <a:ahLst/>
            <a:cxnLst/>
            <a:rect r="r" b="b" t="t" l="l"/>
            <a:pathLst>
              <a:path h="10725331" w="10705830">
                <a:moveTo>
                  <a:pt x="0" y="0"/>
                </a:moveTo>
                <a:lnTo>
                  <a:pt x="10705830" y="0"/>
                </a:lnTo>
                <a:lnTo>
                  <a:pt x="10705830" y="10725331"/>
                </a:lnTo>
                <a:lnTo>
                  <a:pt x="0" y="10725331"/>
                </a:lnTo>
                <a:lnTo>
                  <a:pt x="0" y="0"/>
                </a:lnTo>
                <a:close/>
              </a:path>
            </a:pathLst>
          </a:custGeom>
          <a:blipFill>
            <a:blip r:embed="rId2"/>
            <a:stretch>
              <a:fillRect l="0" t="0" r="0" b="0"/>
            </a:stretch>
          </a:blipFill>
        </p:spPr>
      </p:sp>
      <p:sp>
        <p:nvSpPr>
          <p:cNvPr id="17" name="Runway wordmark"/>
          <p:cNvSpPr txBox="1"/>
          <p:nvPr/>
        </p:nvSpPr>
        <p:spPr>
          <a:xfrm>
            <a:off x="1680493" y="955547"/>
            <a:ext cx="2133600" cy="635000"/>
          </a:xfrm>
          <a:prstGeom prst="rect">
            <a:avLst/>
          </a:prstGeom>
          <a:noFill/>
        </p:spPr>
        <p:txBody>
          <a:bodyPr wrap="square" lIns="0" rIns="0" tIns="0" bIns="0">
            <a:spAutoFit/>
          </a:bodyPr>
          <a:lstStyle/>
          <a:p>
            <a:r>
              <a:rPr sz="4000" b="1" spc="-240">
                <a:solidFill>
                  <a:srgbClr val="F2FFF9"/>
                </a:solidFill>
                <a:latin typeface="Segoe UI"/>
                <a:ea typeface="Segoe UI"/>
                <a:cs typeface="Segoe UI"/>
              </a:rPr>
              <a:t>runway</a:t>
            </a:r>
            <a:r>
              <a:rPr sz="4000" b="1" spc="-240">
                <a:solidFill>
                  <a:srgbClr val="A4D0B5"/>
                </a:solidFill>
                <a:latin typeface="Segoe UI"/>
                <a:ea typeface="Segoe UI"/>
                <a:cs typeface="Segoe UI"/>
              </a:rPr>
              <a:t>.</a:t>
            </a:r>
          </a:p>
        </p:txBody>
      </p:sp>
      <p:sp>
        <p:nvSpPr>
          <p:cNvPr id="18" name="TextBox 17"/>
          <p:cNvSpPr txBox="1"/>
          <p:nvPr/>
        </p:nvSpPr>
        <p:spPr>
          <a:xfrm>
            <a:off x="1682496" y="2011680"/>
            <a:ext cx="5486400" cy="1371600"/>
          </a:xfrm>
          <a:prstGeom prst="rect">
            <a:avLst/>
          </a:prstGeom>
          <a:noFill/>
        </p:spPr>
        <p:txBody>
          <a:bodyPr wrap="square" lIns="0" rIns="0" tIns="0" bIns="0" anchor="t">
            <a:spAutoFit/>
          </a:bodyPr>
          <a:lstStyle/>
          <a:p>
            <a:pPr algn="l">
              <a:spcAft>
                <a:spcPts val="0"/>
              </a:spcAft>
            </a:pPr>
            <a:r>
              <a:rPr sz="9600" b="0">
                <a:solidFill>
                  <a:srgbClr val="56D5A2"/>
                </a:solidFill>
                <a:latin typeface="Open Sauce"/>
                <a:ea typeface="Open Sauce"/>
                <a:cs typeface="Open Sauce"/>
              </a:rPr>
              <a:t>10 / 10</a:t>
            </a:r>
          </a:p>
        </p:txBody>
      </p:sp>
      <p:sp>
        <p:nvSpPr>
          <p:cNvPr id="19" name="TextBox 18"/>
          <p:cNvSpPr txBox="1"/>
          <p:nvPr/>
        </p:nvSpPr>
        <p:spPr>
          <a:xfrm>
            <a:off x="1682496" y="3520440"/>
            <a:ext cx="5486400" cy="822960"/>
          </a:xfrm>
          <a:prstGeom prst="rect">
            <a:avLst/>
          </a:prstGeom>
          <a:noFill/>
        </p:spPr>
        <p:txBody>
          <a:bodyPr wrap="square" lIns="0" rIns="0" tIns="0" bIns="0" anchor="t">
            <a:spAutoFit/>
          </a:bodyPr>
          <a:lstStyle/>
          <a:p>
            <a:pPr algn="l">
              <a:lnSpc>
                <a:spcPct val="120000"/>
              </a:lnSpc>
              <a:spcAft>
                <a:spcPts val="0"/>
              </a:spcAft>
            </a:pPr>
            <a:r>
              <a:rPr sz="1900" b="0">
                <a:solidFill>
                  <a:srgbClr val="F2FFF9"/>
                </a:solidFill>
                <a:latin typeface="Open Sauce Light"/>
                <a:ea typeface="Open Sauce Light"/>
                <a:cs typeface="Open Sauce Light"/>
              </a:rPr>
              <a:t>attack scenarios stopped (A1 to A10), each an automated test</a:t>
            </a:r>
          </a:p>
        </p:txBody>
      </p:sp>
      <p:sp>
        <p:nvSpPr>
          <p:cNvPr id="20" name="TextBox 19"/>
          <p:cNvSpPr txBox="1"/>
          <p:nvPr/>
        </p:nvSpPr>
        <p:spPr>
          <a:xfrm>
            <a:off x="1682496" y="4526280"/>
            <a:ext cx="6035040" cy="822960"/>
          </a:xfrm>
          <a:prstGeom prst="rect">
            <a:avLst/>
          </a:prstGeom>
          <a:noFill/>
        </p:spPr>
        <p:txBody>
          <a:bodyPr wrap="square" lIns="0" rIns="0" tIns="0" bIns="0" anchor="t">
            <a:spAutoFit/>
          </a:bodyPr>
          <a:lstStyle/>
          <a:p>
            <a:pPr algn="l">
              <a:lnSpc>
                <a:spcPct val="120000"/>
              </a:lnSpc>
              <a:spcAft>
                <a:spcPts val="0"/>
              </a:spcAft>
            </a:pPr>
            <a:r>
              <a:rPr sz="1600" b="0">
                <a:solidFill>
                  <a:srgbClr val="9FB5AB"/>
                </a:solidFill>
                <a:latin typeface="Open Sauce Light"/>
                <a:ea typeface="Open Sauce Light"/>
                <a:cs typeface="Open Sauce Light"/>
              </a:rPr>
              <a:t>702 tests in all · judge tasks 19/19 offline, 20/21 on live DeepSeek</a:t>
            </a:r>
          </a:p>
        </p:txBody>
      </p:sp>
      <p:sp>
        <p:nvSpPr>
          <p:cNvPr id="21" name="TextBox 20"/>
          <p:cNvSpPr txBox="1"/>
          <p:nvPr/>
        </p:nvSpPr>
        <p:spPr>
          <a:xfrm>
            <a:off x="1682496" y="5760720"/>
            <a:ext cx="7315200" cy="45720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SECURITY: AUDIT + RED TEAM</a:t>
            </a:r>
          </a:p>
        </p:txBody>
      </p:sp>
      <p:sp>
        <p:nvSpPr>
          <p:cNvPr id="22" name="TextBox 21"/>
          <p:cNvSpPr txBox="1"/>
          <p:nvPr/>
        </p:nvSpPr>
        <p:spPr>
          <a:xfrm>
            <a:off x="1682496" y="6309360"/>
            <a:ext cx="6583680" cy="2194560"/>
          </a:xfrm>
          <a:prstGeom prst="rect">
            <a:avLst/>
          </a:prstGeom>
          <a:noFill/>
        </p:spPr>
        <p:txBody>
          <a:bodyPr wrap="square" lIns="0" rIns="0" tIns="0" bIns="0" anchor="t">
            <a:spAutoFit/>
          </a:bodyPr>
          <a:lstStyle/>
          <a:p>
            <a:pPr algn="l">
              <a:lnSpc>
                <a:spcPct val="95000"/>
              </a:lnSpc>
              <a:spcAft>
                <a:spcPts val="0"/>
              </a:spcAft>
            </a:pPr>
            <a:r>
              <a:rPr sz="8000" b="0">
                <a:solidFill>
                  <a:srgbClr val="F2FFF9"/>
                </a:solidFill>
                <a:latin typeface="Open Sauce"/>
                <a:ea typeface="Open Sauce"/>
                <a:cs typeface="Open Sauce"/>
              </a:rPr>
              <a:t>BUILT TO BE</a:t>
            </a:r>
          </a:p>
          <a:p>
            <a:pPr algn="l">
              <a:lnSpc>
                <a:spcPct val="95000"/>
              </a:lnSpc>
              <a:spcAft>
                <a:spcPts val="0"/>
              </a:spcAft>
            </a:pPr>
            <a:r>
              <a:rPr sz="8000" b="0">
                <a:solidFill>
                  <a:srgbClr val="F2FFF9"/>
                </a:solidFill>
                <a:latin typeface="Open Sauce"/>
                <a:ea typeface="Open Sauce"/>
                <a:cs typeface="Open Sauce"/>
              </a:rPr>
              <a:t>ATTACKED</a:t>
            </a:r>
          </a:p>
        </p:txBody>
      </p:sp>
      <p:sp>
        <p:nvSpPr>
          <p:cNvPr id="23" name="TextBox 22"/>
          <p:cNvSpPr txBox="1"/>
          <p:nvPr/>
        </p:nvSpPr>
        <p:spPr>
          <a:xfrm>
            <a:off x="8778240" y="2011680"/>
            <a:ext cx="7772400" cy="365760"/>
          </a:xfrm>
          <a:prstGeom prst="rect">
            <a:avLst/>
          </a:prstGeom>
          <a:noFill/>
        </p:spPr>
        <p:txBody>
          <a:bodyPr wrap="square" lIns="0" rIns="0" tIns="0" bIns="0" anchor="t">
            <a:spAutoFit/>
          </a:bodyPr>
          <a:lstStyle/>
          <a:p>
            <a:pPr algn="l">
              <a:spcAft>
                <a:spcPts val="0"/>
              </a:spcAft>
            </a:pPr>
            <a:r>
              <a:rPr sz="1900" b="0">
                <a:solidFill>
                  <a:srgbClr val="56D5A2"/>
                </a:solidFill>
                <a:latin typeface="Open Sauce Light"/>
                <a:ea typeface="Open Sauce Light"/>
                <a:cs typeface="Open Sauce Light"/>
              </a:rPr>
              <a:t>HASH-CHAINED AUDIT LOG</a:t>
            </a:r>
          </a:p>
        </p:txBody>
      </p:sp>
      <p:sp>
        <p:nvSpPr>
          <p:cNvPr id="24" name="Rounded Rectangle 23"/>
          <p:cNvSpPr/>
          <p:nvPr/>
        </p:nvSpPr>
        <p:spPr>
          <a:xfrm>
            <a:off x="8778240" y="2514600"/>
            <a:ext cx="1600200" cy="777240"/>
          </a:xfrm>
          <a:prstGeom prst="roundRect">
            <a:avLst>
              <a:gd name="adj" fmla="val 8000"/>
            </a:avLst>
          </a:prstGeom>
          <a:solidFill>
            <a:srgbClr val="111C17"/>
          </a:solidFill>
          <a:ln w="1905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778240" y="2514600"/>
            <a:ext cx="1600200" cy="777240"/>
          </a:xfrm>
          <a:prstGeom prst="rect">
            <a:avLst/>
          </a:prstGeom>
          <a:noFill/>
        </p:spPr>
        <p:txBody>
          <a:bodyPr wrap="square" lIns="0" rIns="0" tIns="0" bIns="0" anchor="ctr">
            <a:spAutoFit/>
          </a:bodyPr>
          <a:lstStyle/>
          <a:p>
            <a:pPr algn="ctr">
              <a:spcAft>
                <a:spcPts val="0"/>
              </a:spcAft>
            </a:pPr>
            <a:r>
              <a:rPr sz="1900" b="0">
                <a:solidFill>
                  <a:srgbClr val="F2FFF9"/>
                </a:solidFill>
                <a:latin typeface="Open Sauce"/>
                <a:ea typeface="Open Sauce"/>
                <a:cs typeface="Open Sauce"/>
              </a:rPr>
              <a:t>#43</a:t>
            </a:r>
          </a:p>
        </p:txBody>
      </p:sp>
      <p:cxnSp>
        <p:nvCxnSpPr>
          <p:cNvPr id="26" name="Connector 25"/>
          <p:cNvCxnSpPr/>
          <p:nvPr/>
        </p:nvCxnSpPr>
        <p:spPr>
          <a:xfrm>
            <a:off x="10396728" y="2898648"/>
            <a:ext cx="329184" cy="0"/>
          </a:xfrm>
          <a:prstGeom prst="line">
            <a:avLst/>
          </a:prstGeom>
          <a:ln w="22225">
            <a:solidFill>
              <a:srgbClr val="2847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0744200" y="2514600"/>
            <a:ext cx="1600200" cy="777240"/>
          </a:xfrm>
          <a:prstGeom prst="roundRect">
            <a:avLst>
              <a:gd name="adj" fmla="val 8000"/>
            </a:avLst>
          </a:prstGeom>
          <a:solidFill>
            <a:srgbClr val="111C17"/>
          </a:solidFill>
          <a:ln w="1905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744200" y="2514600"/>
            <a:ext cx="1600200" cy="777240"/>
          </a:xfrm>
          <a:prstGeom prst="rect">
            <a:avLst/>
          </a:prstGeom>
          <a:noFill/>
        </p:spPr>
        <p:txBody>
          <a:bodyPr wrap="square" lIns="0" rIns="0" tIns="0" bIns="0" anchor="ctr">
            <a:spAutoFit/>
          </a:bodyPr>
          <a:lstStyle/>
          <a:p>
            <a:pPr algn="ctr">
              <a:spcAft>
                <a:spcPts val="0"/>
              </a:spcAft>
            </a:pPr>
            <a:r>
              <a:rPr sz="1900" b="0">
                <a:solidFill>
                  <a:srgbClr val="F2FFF9"/>
                </a:solidFill>
                <a:latin typeface="Open Sauce"/>
                <a:ea typeface="Open Sauce"/>
                <a:cs typeface="Open Sauce"/>
              </a:rPr>
              <a:t>#44</a:t>
            </a:r>
          </a:p>
        </p:txBody>
      </p:sp>
      <p:cxnSp>
        <p:nvCxnSpPr>
          <p:cNvPr id="29" name="Connector 28"/>
          <p:cNvCxnSpPr/>
          <p:nvPr/>
        </p:nvCxnSpPr>
        <p:spPr>
          <a:xfrm>
            <a:off x="12362688" y="2898648"/>
            <a:ext cx="329184" cy="0"/>
          </a:xfrm>
          <a:prstGeom prst="line">
            <a:avLst/>
          </a:prstGeom>
          <a:ln w="22225">
            <a:solidFill>
              <a:srgbClr val="2847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2710159" y="2514600"/>
            <a:ext cx="1600200" cy="777240"/>
          </a:xfrm>
          <a:prstGeom prst="roundRect">
            <a:avLst>
              <a:gd name="adj" fmla="val 8000"/>
            </a:avLst>
          </a:prstGeom>
          <a:solidFill>
            <a:srgbClr val="111C17"/>
          </a:solidFill>
          <a:ln w="1905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2710159" y="2514600"/>
            <a:ext cx="1600200" cy="777240"/>
          </a:xfrm>
          <a:prstGeom prst="rect">
            <a:avLst/>
          </a:prstGeom>
          <a:noFill/>
        </p:spPr>
        <p:txBody>
          <a:bodyPr wrap="square" lIns="0" rIns="0" tIns="0" bIns="0" anchor="ctr">
            <a:spAutoFit/>
          </a:bodyPr>
          <a:lstStyle/>
          <a:p>
            <a:pPr algn="ctr">
              <a:spcAft>
                <a:spcPts val="0"/>
              </a:spcAft>
            </a:pPr>
            <a:r>
              <a:rPr sz="1900" b="0">
                <a:solidFill>
                  <a:srgbClr val="F2FFF9"/>
                </a:solidFill>
                <a:latin typeface="Open Sauce"/>
                <a:ea typeface="Open Sauce"/>
                <a:cs typeface="Open Sauce"/>
              </a:rPr>
              <a:t>#45</a:t>
            </a:r>
          </a:p>
        </p:txBody>
      </p:sp>
      <p:cxnSp>
        <p:nvCxnSpPr>
          <p:cNvPr id="32" name="Connector 31"/>
          <p:cNvCxnSpPr/>
          <p:nvPr/>
        </p:nvCxnSpPr>
        <p:spPr>
          <a:xfrm>
            <a:off x="14328647" y="2898648"/>
            <a:ext cx="329184" cy="0"/>
          </a:xfrm>
          <a:prstGeom prst="line">
            <a:avLst/>
          </a:prstGeom>
          <a:ln w="22225">
            <a:solidFill>
              <a:srgbClr val="56D5A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4676119" y="2514600"/>
            <a:ext cx="1600200" cy="777240"/>
          </a:xfrm>
          <a:prstGeom prst="roundRect">
            <a:avLst>
              <a:gd name="adj" fmla="val 8000"/>
            </a:avLst>
          </a:prstGeom>
          <a:solidFill>
            <a:srgbClr val="080808"/>
          </a:solidFill>
          <a:ln w="19050">
            <a:solidFill>
              <a:srgbClr val="56D5A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4676119" y="2514600"/>
            <a:ext cx="1600200" cy="777240"/>
          </a:xfrm>
          <a:prstGeom prst="rect">
            <a:avLst/>
          </a:prstGeom>
          <a:noFill/>
        </p:spPr>
        <p:txBody>
          <a:bodyPr wrap="square" lIns="0" rIns="0" tIns="0" bIns="0" anchor="ctr">
            <a:spAutoFit/>
          </a:bodyPr>
          <a:lstStyle/>
          <a:p>
            <a:pPr algn="ctr">
              <a:spcAft>
                <a:spcPts val="0"/>
              </a:spcAft>
            </a:pPr>
            <a:r>
              <a:rPr sz="1900" b="0">
                <a:solidFill>
                  <a:srgbClr val="56D5A2"/>
                </a:solidFill>
                <a:latin typeface="Open Sauce"/>
                <a:ea typeface="Open Sauce"/>
                <a:cs typeface="Open Sauce"/>
              </a:rPr>
              <a:t>HEAD</a:t>
            </a:r>
          </a:p>
        </p:txBody>
      </p:sp>
      <p:sp>
        <p:nvSpPr>
          <p:cNvPr id="35" name="TextBox 34"/>
          <p:cNvSpPr txBox="1"/>
          <p:nvPr/>
        </p:nvSpPr>
        <p:spPr>
          <a:xfrm>
            <a:off x="8778240" y="3429000"/>
            <a:ext cx="7772400" cy="365760"/>
          </a:xfrm>
          <a:prstGeom prst="rect">
            <a:avLst/>
          </a:prstGeom>
          <a:noFill/>
        </p:spPr>
        <p:txBody>
          <a:bodyPr wrap="square" lIns="0" rIns="0" tIns="0" bIns="0" anchor="t">
            <a:spAutoFit/>
          </a:bodyPr>
          <a:lstStyle/>
          <a:p>
            <a:pPr algn="l">
              <a:spcAft>
                <a:spcPts val="0"/>
              </a:spcAft>
            </a:pPr>
            <a:r>
              <a:rPr sz="1500" b="0">
                <a:solidFill>
                  <a:srgbClr val="9FB5AB"/>
                </a:solidFill>
                <a:latin typeface="Open Sauce Light"/>
                <a:ea typeface="Open Sauce Light"/>
                <a:cs typeface="Open Sauce Light"/>
              </a:rPr>
              <a:t>Head published outside the database: notary file or EVM transaction.</a:t>
            </a:r>
          </a:p>
        </p:txBody>
      </p:sp>
      <p:sp>
        <p:nvSpPr>
          <p:cNvPr id="36" name="TextBox 35"/>
          <p:cNvSpPr txBox="1"/>
          <p:nvPr/>
        </p:nvSpPr>
        <p:spPr>
          <a:xfrm>
            <a:off x="8778240" y="4023360"/>
            <a:ext cx="7772400" cy="365760"/>
          </a:xfrm>
          <a:prstGeom prst="rect">
            <a:avLst/>
          </a:prstGeom>
          <a:noFill/>
        </p:spPr>
        <p:txBody>
          <a:bodyPr wrap="square" lIns="0" rIns="0" tIns="0" bIns="0" anchor="t">
            <a:spAutoFit/>
          </a:bodyPr>
          <a:lstStyle/>
          <a:p>
            <a:pPr algn="l">
              <a:spcAft>
                <a:spcPts val="0"/>
              </a:spcAft>
            </a:pPr>
            <a:r>
              <a:rPr sz="1600" b="0">
                <a:solidFill>
                  <a:srgbClr val="F2FFF9"/>
                </a:solidFill>
                <a:latin typeface="Open Sauce Light"/>
                <a:ea typeface="Open Sauce Light"/>
                <a:cs typeface="Open Sauce Light"/>
              </a:rPr>
              <a:t>INSIDER REWRITES AN ENTRY AND RECOMPUTES EVERY HASH</a:t>
            </a:r>
          </a:p>
        </p:txBody>
      </p:sp>
      <p:sp>
        <p:nvSpPr>
          <p:cNvPr id="37" name="Rounded Rectangle 36"/>
          <p:cNvSpPr/>
          <p:nvPr/>
        </p:nvSpPr>
        <p:spPr>
          <a:xfrm>
            <a:off x="8778240" y="4480560"/>
            <a:ext cx="3703320" cy="141732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052560" y="4617720"/>
            <a:ext cx="3200400" cy="365760"/>
          </a:xfrm>
          <a:prstGeom prst="rect">
            <a:avLst/>
          </a:prstGeom>
          <a:noFill/>
        </p:spPr>
        <p:txBody>
          <a:bodyPr wrap="square" lIns="0" rIns="0" tIns="0" bIns="0" anchor="t">
            <a:spAutoFit/>
          </a:bodyPr>
          <a:lstStyle/>
          <a:p>
            <a:pPr algn="l">
              <a:spcAft>
                <a:spcPts val="0"/>
              </a:spcAft>
            </a:pPr>
            <a:r>
              <a:rPr sz="1500" b="0">
                <a:solidFill>
                  <a:srgbClr val="9FB5AB"/>
                </a:solidFill>
                <a:latin typeface="Open Sauce Light"/>
                <a:ea typeface="Open Sauce Light"/>
                <a:cs typeface="Open Sauce Light"/>
              </a:rPr>
              <a:t>LOCAL HASH CHAIN</a:t>
            </a:r>
          </a:p>
        </p:txBody>
      </p:sp>
      <p:sp>
        <p:nvSpPr>
          <p:cNvPr id="39" name="TextBox 38"/>
          <p:cNvSpPr txBox="1"/>
          <p:nvPr/>
        </p:nvSpPr>
        <p:spPr>
          <a:xfrm>
            <a:off x="9052560" y="4983480"/>
            <a:ext cx="3291840" cy="731520"/>
          </a:xfrm>
          <a:prstGeom prst="rect">
            <a:avLst/>
          </a:prstGeom>
          <a:noFill/>
        </p:spPr>
        <p:txBody>
          <a:bodyPr wrap="square" lIns="0" rIns="0" tIns="0" bIns="0" anchor="t">
            <a:spAutoFit/>
          </a:bodyPr>
          <a:lstStyle/>
          <a:p>
            <a:pPr algn="l">
              <a:spcAft>
                <a:spcPts val="0"/>
              </a:spcAft>
            </a:pPr>
            <a:r>
              <a:rPr sz="3600" b="0">
                <a:solidFill>
                  <a:srgbClr val="F2F99E"/>
                </a:solidFill>
                <a:latin typeface="Open Sauce"/>
                <a:ea typeface="Open Sauce"/>
                <a:cs typeface="Open Sauce"/>
              </a:rPr>
              <a:t>FOOLED</a:t>
            </a:r>
          </a:p>
        </p:txBody>
      </p:sp>
      <p:sp>
        <p:nvSpPr>
          <p:cNvPr id="40" name="Rounded Rectangle 39"/>
          <p:cNvSpPr/>
          <p:nvPr/>
        </p:nvSpPr>
        <p:spPr>
          <a:xfrm>
            <a:off x="12710159" y="4480560"/>
            <a:ext cx="3703320" cy="141732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2984480" y="4617720"/>
            <a:ext cx="3200400" cy="365760"/>
          </a:xfrm>
          <a:prstGeom prst="rect">
            <a:avLst/>
          </a:prstGeom>
          <a:noFill/>
        </p:spPr>
        <p:txBody>
          <a:bodyPr wrap="square" lIns="0" rIns="0" tIns="0" bIns="0" anchor="t">
            <a:spAutoFit/>
          </a:bodyPr>
          <a:lstStyle/>
          <a:p>
            <a:pPr algn="l">
              <a:spcAft>
                <a:spcPts val="0"/>
              </a:spcAft>
            </a:pPr>
            <a:r>
              <a:rPr sz="1500" b="0">
                <a:solidFill>
                  <a:srgbClr val="9FB5AB"/>
                </a:solidFill>
                <a:latin typeface="Open Sauce Light"/>
                <a:ea typeface="Open Sauce Light"/>
                <a:cs typeface="Open Sauce Light"/>
              </a:rPr>
              <a:t>PUBLISHED HEAD</a:t>
            </a:r>
          </a:p>
        </p:txBody>
      </p:sp>
      <p:sp>
        <p:nvSpPr>
          <p:cNvPr id="42" name="TextBox 41"/>
          <p:cNvSpPr txBox="1"/>
          <p:nvPr/>
        </p:nvSpPr>
        <p:spPr>
          <a:xfrm>
            <a:off x="12984480" y="4983480"/>
            <a:ext cx="3291840" cy="731520"/>
          </a:xfrm>
          <a:prstGeom prst="rect">
            <a:avLst/>
          </a:prstGeom>
          <a:noFill/>
        </p:spPr>
        <p:txBody>
          <a:bodyPr wrap="square" lIns="0" rIns="0" tIns="0" bIns="0" anchor="t">
            <a:spAutoFit/>
          </a:bodyPr>
          <a:lstStyle/>
          <a:p>
            <a:pPr algn="l">
              <a:spcAft>
                <a:spcPts val="0"/>
              </a:spcAft>
            </a:pPr>
            <a:r>
              <a:rPr sz="3600" b="0">
                <a:solidFill>
                  <a:srgbClr val="56D5A2"/>
                </a:solidFill>
                <a:latin typeface="Open Sauce"/>
                <a:ea typeface="Open Sauce"/>
                <a:cs typeface="Open Sauce"/>
              </a:rPr>
              <a:t>DETECTED</a:t>
            </a:r>
          </a:p>
        </p:txBody>
      </p:sp>
      <p:sp>
        <p:nvSpPr>
          <p:cNvPr id="43" name="TextBox 42"/>
          <p:cNvSpPr txBox="1"/>
          <p:nvPr/>
        </p:nvSpPr>
        <p:spPr>
          <a:xfrm>
            <a:off x="8778240" y="6355080"/>
            <a:ext cx="7772400" cy="365760"/>
          </a:xfrm>
          <a:prstGeom prst="rect">
            <a:avLst/>
          </a:prstGeom>
          <a:noFill/>
        </p:spPr>
        <p:txBody>
          <a:bodyPr wrap="square" lIns="0" rIns="0" tIns="0" bIns="0" anchor="t">
            <a:spAutoFit/>
          </a:bodyPr>
          <a:lstStyle/>
          <a:p>
            <a:pPr algn="l">
              <a:spcAft>
                <a:spcPts val="0"/>
              </a:spcAft>
            </a:pPr>
            <a:r>
              <a:rPr sz="1900" b="0">
                <a:solidFill>
                  <a:srgbClr val="56D5A2"/>
                </a:solidFill>
                <a:latin typeface="Open Sauce Light"/>
                <a:ea typeface="Open Sauce Light"/>
                <a:cs typeface="Open Sauce Light"/>
              </a:rPr>
              <a:t>RED-TEAM CONSOLE: JUDGES CAN TRY IT</a:t>
            </a:r>
          </a:p>
        </p:txBody>
      </p:sp>
      <p:sp>
        <p:nvSpPr>
          <p:cNvPr id="44" name="Rounded Rectangle 43"/>
          <p:cNvSpPr/>
          <p:nvPr/>
        </p:nvSpPr>
        <p:spPr>
          <a:xfrm>
            <a:off x="8778240" y="6858000"/>
            <a:ext cx="3703320" cy="86868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052560" y="6949440"/>
            <a:ext cx="3291840" cy="365760"/>
          </a:xfrm>
          <a:prstGeom prst="rect">
            <a:avLst/>
          </a:prstGeom>
          <a:noFill/>
        </p:spPr>
        <p:txBody>
          <a:bodyPr wrap="square" lIns="0" rIns="0" tIns="0" bIns="0" anchor="t">
            <a:spAutoFit/>
          </a:bodyPr>
          <a:lstStyle/>
          <a:p>
            <a:pPr algn="l">
              <a:spcAft>
                <a:spcPts val="0"/>
              </a:spcAft>
            </a:pPr>
            <a:r>
              <a:rPr sz="1600" b="0">
                <a:solidFill>
                  <a:srgbClr val="F2FFF9"/>
                </a:solidFill>
                <a:latin typeface="Open Sauce"/>
                <a:ea typeface="Open Sauce"/>
                <a:cs typeface="Open Sauce"/>
              </a:rPr>
              <a:t>Hidden-text invoice</a:t>
            </a:r>
          </a:p>
        </p:txBody>
      </p:sp>
      <p:sp>
        <p:nvSpPr>
          <p:cNvPr id="46" name="TextBox 45"/>
          <p:cNvSpPr txBox="1"/>
          <p:nvPr/>
        </p:nvSpPr>
        <p:spPr>
          <a:xfrm>
            <a:off x="9052560" y="7315200"/>
            <a:ext cx="3291840" cy="320040"/>
          </a:xfrm>
          <a:prstGeom prst="rect">
            <a:avLst/>
          </a:prstGeom>
          <a:noFill/>
        </p:spPr>
        <p:txBody>
          <a:bodyPr wrap="square" lIns="0" rIns="0" tIns="0" bIns="0" anchor="t">
            <a:spAutoFit/>
          </a:bodyPr>
          <a:lstStyle/>
          <a:p>
            <a:pPr algn="l">
              <a:spcAft>
                <a:spcPts val="0"/>
              </a:spcAft>
            </a:pPr>
            <a:r>
              <a:rPr sz="1400" b="0">
                <a:solidFill>
                  <a:srgbClr val="56D5A2"/>
                </a:solidFill>
                <a:latin typeface="Open Sauce Light"/>
                <a:ea typeface="Open Sauce Light"/>
                <a:cs typeface="Open Sauce Light"/>
              </a:rPr>
              <a:t>flagged, payment blocked</a:t>
            </a:r>
          </a:p>
        </p:txBody>
      </p:sp>
      <p:sp>
        <p:nvSpPr>
          <p:cNvPr id="47" name="Rounded Rectangle 46"/>
          <p:cNvSpPr/>
          <p:nvPr/>
        </p:nvSpPr>
        <p:spPr>
          <a:xfrm>
            <a:off x="12710159" y="6858000"/>
            <a:ext cx="3703320" cy="86868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2984480" y="6949440"/>
            <a:ext cx="3291840" cy="365760"/>
          </a:xfrm>
          <a:prstGeom prst="rect">
            <a:avLst/>
          </a:prstGeom>
          <a:noFill/>
        </p:spPr>
        <p:txBody>
          <a:bodyPr wrap="square" lIns="0" rIns="0" tIns="0" bIns="0" anchor="t">
            <a:spAutoFit/>
          </a:bodyPr>
          <a:lstStyle/>
          <a:p>
            <a:pPr algn="l">
              <a:spcAft>
                <a:spcPts val="0"/>
              </a:spcAft>
            </a:pPr>
            <a:r>
              <a:rPr sz="1600" b="0">
                <a:solidFill>
                  <a:srgbClr val="F2FFF9"/>
                </a:solidFill>
                <a:latin typeface="Open Sauce"/>
                <a:ea typeface="Open Sauce"/>
                <a:cs typeface="Open Sauce"/>
              </a:rPr>
              <a:t>Chat jailbreak</a:t>
            </a:r>
          </a:p>
        </p:txBody>
      </p:sp>
      <p:sp>
        <p:nvSpPr>
          <p:cNvPr id="49" name="TextBox 48"/>
          <p:cNvSpPr txBox="1"/>
          <p:nvPr/>
        </p:nvSpPr>
        <p:spPr>
          <a:xfrm>
            <a:off x="12984480" y="7315200"/>
            <a:ext cx="3291840" cy="320040"/>
          </a:xfrm>
          <a:prstGeom prst="rect">
            <a:avLst/>
          </a:prstGeom>
          <a:noFill/>
        </p:spPr>
        <p:txBody>
          <a:bodyPr wrap="square" lIns="0" rIns="0" tIns="0" bIns="0" anchor="t">
            <a:spAutoFit/>
          </a:bodyPr>
          <a:lstStyle/>
          <a:p>
            <a:pPr algn="l">
              <a:spcAft>
                <a:spcPts val="0"/>
              </a:spcAft>
            </a:pPr>
            <a:r>
              <a:rPr sz="1400" b="0">
                <a:solidFill>
                  <a:srgbClr val="56D5A2"/>
                </a:solidFill>
                <a:latin typeface="Open Sauce Light"/>
                <a:ea typeface="Open Sauce Light"/>
                <a:cs typeface="Open Sauce Light"/>
              </a:rPr>
              <a:t>refused, logged</a:t>
            </a:r>
          </a:p>
        </p:txBody>
      </p:sp>
      <p:sp>
        <p:nvSpPr>
          <p:cNvPr id="50" name="Rounded Rectangle 49"/>
          <p:cNvSpPr/>
          <p:nvPr/>
        </p:nvSpPr>
        <p:spPr>
          <a:xfrm>
            <a:off x="8778240" y="7909560"/>
            <a:ext cx="3703320" cy="86868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052560" y="8001000"/>
            <a:ext cx="3291840" cy="365760"/>
          </a:xfrm>
          <a:prstGeom prst="rect">
            <a:avLst/>
          </a:prstGeom>
          <a:noFill/>
        </p:spPr>
        <p:txBody>
          <a:bodyPr wrap="square" lIns="0" rIns="0" tIns="0" bIns="0" anchor="t">
            <a:spAutoFit/>
          </a:bodyPr>
          <a:lstStyle/>
          <a:p>
            <a:pPr algn="l">
              <a:spcAft>
                <a:spcPts val="0"/>
              </a:spcAft>
            </a:pPr>
            <a:r>
              <a:rPr sz="1600" b="0">
                <a:solidFill>
                  <a:srgbClr val="F2FFF9"/>
                </a:solidFill>
                <a:latin typeface="Open Sauce"/>
                <a:ea typeface="Open Sauce"/>
                <a:cs typeface="Open Sauce"/>
              </a:rPr>
              <a:t>Paraphrased fraud e-mail</a:t>
            </a:r>
          </a:p>
        </p:txBody>
      </p:sp>
      <p:sp>
        <p:nvSpPr>
          <p:cNvPr id="52" name="TextBox 51"/>
          <p:cNvSpPr txBox="1"/>
          <p:nvPr/>
        </p:nvSpPr>
        <p:spPr>
          <a:xfrm>
            <a:off x="9052560" y="8366760"/>
            <a:ext cx="3291840" cy="320040"/>
          </a:xfrm>
          <a:prstGeom prst="rect">
            <a:avLst/>
          </a:prstGeom>
          <a:noFill/>
        </p:spPr>
        <p:txBody>
          <a:bodyPr wrap="square" lIns="0" rIns="0" tIns="0" bIns="0" anchor="t">
            <a:spAutoFit/>
          </a:bodyPr>
          <a:lstStyle/>
          <a:p>
            <a:pPr algn="l">
              <a:spcAft>
                <a:spcPts val="0"/>
              </a:spcAft>
            </a:pPr>
            <a:r>
              <a:rPr sz="1400" b="0">
                <a:solidFill>
                  <a:srgbClr val="56D5A2"/>
                </a:solidFill>
                <a:latin typeface="Open Sauce Light"/>
                <a:ea typeface="Open Sauce Light"/>
                <a:cs typeface="Open Sauce Light"/>
              </a:rPr>
              <a:t>scanner missed, rules blocked</a:t>
            </a:r>
          </a:p>
        </p:txBody>
      </p:sp>
      <p:sp>
        <p:nvSpPr>
          <p:cNvPr id="53" name="Rounded Rectangle 52"/>
          <p:cNvSpPr/>
          <p:nvPr/>
        </p:nvSpPr>
        <p:spPr>
          <a:xfrm>
            <a:off x="12710159" y="7909560"/>
            <a:ext cx="3703320" cy="86868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2984480" y="8001000"/>
            <a:ext cx="3291840" cy="365760"/>
          </a:xfrm>
          <a:prstGeom prst="rect">
            <a:avLst/>
          </a:prstGeom>
          <a:noFill/>
        </p:spPr>
        <p:txBody>
          <a:bodyPr wrap="square" lIns="0" rIns="0" tIns="0" bIns="0" anchor="t">
            <a:spAutoFit/>
          </a:bodyPr>
          <a:lstStyle/>
          <a:p>
            <a:pPr algn="l">
              <a:spcAft>
                <a:spcPts val="0"/>
              </a:spcAft>
            </a:pPr>
            <a:r>
              <a:rPr sz="1600" b="0">
                <a:solidFill>
                  <a:srgbClr val="F2FFF9"/>
                </a:solidFill>
                <a:latin typeface="Open Sauce"/>
                <a:ea typeface="Open Sauce"/>
                <a:cs typeface="Open Sauce"/>
              </a:rPr>
              <a:t>Forged approval</a:t>
            </a:r>
          </a:p>
        </p:txBody>
      </p:sp>
      <p:sp>
        <p:nvSpPr>
          <p:cNvPr id="55" name="TextBox 54"/>
          <p:cNvSpPr txBox="1"/>
          <p:nvPr/>
        </p:nvSpPr>
        <p:spPr>
          <a:xfrm>
            <a:off x="12984480" y="8366760"/>
            <a:ext cx="3291840" cy="320040"/>
          </a:xfrm>
          <a:prstGeom prst="rect">
            <a:avLst/>
          </a:prstGeom>
          <a:noFill/>
        </p:spPr>
        <p:txBody>
          <a:bodyPr wrap="square" lIns="0" rIns="0" tIns="0" bIns="0" anchor="t">
            <a:spAutoFit/>
          </a:bodyPr>
          <a:lstStyle/>
          <a:p>
            <a:pPr algn="l">
              <a:spcAft>
                <a:spcPts val="0"/>
              </a:spcAft>
            </a:pPr>
            <a:r>
              <a:rPr sz="1400" b="0">
                <a:solidFill>
                  <a:srgbClr val="56D5A2"/>
                </a:solidFill>
                <a:latin typeface="Open Sauce Light"/>
                <a:ea typeface="Open Sauce Light"/>
                <a:cs typeface="Open Sauce Light"/>
              </a:rPr>
              <a:t>signature check fails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80808"/>
        </a:solidFill>
      </p:bgPr>
    </p:bg>
    <p:spTree>
      <p:nvGrpSpPr>
        <p:cNvPr id="1" name=""/>
        <p:cNvGrpSpPr/>
        <p:nvPr/>
      </p:nvGrpSpPr>
      <p:grpSpPr>
        <a:xfrm>
          <a:off x="0" y="0"/>
          <a:ext cx="0" cy="0"/>
          <a:chOff x="0" y="0"/>
          <a:chExt cx="0" cy="0"/>
        </a:xfrm>
      </p:grpSpPr>
      <p:sp>
        <p:nvSpPr>
          <p:cNvPr name="Freeform 5" id="5"/>
          <p:cNvSpPr/>
          <p:nvPr/>
        </p:nvSpPr>
        <p:spPr>
          <a:xfrm flipH="true" flipV="false" rot="4506284">
            <a:off x="-272430" y="3963060"/>
            <a:ext cx="10705830" cy="10725331"/>
          </a:xfrm>
          <a:custGeom>
            <a:avLst/>
            <a:gdLst/>
            <a:ahLst/>
            <a:cxnLst/>
            <a:rect r="r" b="b" t="t" l="l"/>
            <a:pathLst>
              <a:path h="10725331" w="10705830">
                <a:moveTo>
                  <a:pt x="10705830" y="0"/>
                </a:moveTo>
                <a:lnTo>
                  <a:pt x="0" y="0"/>
                </a:lnTo>
                <a:lnTo>
                  <a:pt x="0" y="10725331"/>
                </a:lnTo>
                <a:lnTo>
                  <a:pt x="10705830" y="10725331"/>
                </a:lnTo>
                <a:lnTo>
                  <a:pt x="10705830" y="0"/>
                </a:lnTo>
                <a:close/>
              </a:path>
            </a:pathLst>
          </a:custGeom>
          <a:blipFill>
            <a:blip r:embed="rId4"/>
            <a:stretch>
              <a:fillRect l="0" t="0" r="0" b="0"/>
            </a:stretch>
          </a:blipFill>
        </p:spPr>
      </p:sp>
      <p:sp>
        <p:nvSpPr>
          <p:cNvPr name="Freeform 6" id="6"/>
          <p:cNvSpPr/>
          <p:nvPr/>
        </p:nvSpPr>
        <p:spPr>
          <a:xfrm flipH="false" flipV="false" rot="0">
            <a:off x="6035040" y="2350008"/>
            <a:ext cx="595203" cy="595203"/>
          </a:xfrm>
          <a:custGeom>
            <a:avLst/>
            <a:gdLst/>
            <a:ahLst/>
            <a:cxnLst/>
            <a:rect r="r" b="b" t="t" l="l"/>
            <a:pathLst>
              <a:path h="595203" w="595203">
                <a:moveTo>
                  <a:pt x="0" y="0"/>
                </a:moveTo>
                <a:lnTo>
                  <a:pt x="595203" y="0"/>
                </a:lnTo>
                <a:lnTo>
                  <a:pt x="595203" y="595203"/>
                </a:lnTo>
                <a:lnTo>
                  <a:pt x="0" y="5952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1521440" y="2350008"/>
            <a:ext cx="595203" cy="595203"/>
          </a:xfrm>
          <a:custGeom>
            <a:avLst/>
            <a:gdLst/>
            <a:ahLst/>
            <a:cxnLst/>
            <a:rect r="r" b="b" t="t" l="l"/>
            <a:pathLst>
              <a:path h="595203" w="595203">
                <a:moveTo>
                  <a:pt x="0" y="0"/>
                </a:moveTo>
                <a:lnTo>
                  <a:pt x="595203" y="0"/>
                </a:lnTo>
                <a:lnTo>
                  <a:pt x="595203" y="595203"/>
                </a:lnTo>
                <a:lnTo>
                  <a:pt x="0" y="5952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1521440" y="4864607"/>
            <a:ext cx="595203" cy="595203"/>
          </a:xfrm>
          <a:custGeom>
            <a:avLst/>
            <a:gdLst/>
            <a:ahLst/>
            <a:cxnLst/>
            <a:rect r="r" b="b" t="t" l="l"/>
            <a:pathLst>
              <a:path h="595203" w="595203">
                <a:moveTo>
                  <a:pt x="0" y="0"/>
                </a:moveTo>
                <a:lnTo>
                  <a:pt x="595203" y="0"/>
                </a:lnTo>
                <a:lnTo>
                  <a:pt x="595203" y="595203"/>
                </a:lnTo>
                <a:lnTo>
                  <a:pt x="0" y="5952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5400000">
            <a:off x="16093440" y="1097280"/>
            <a:ext cx="956414" cy="956414"/>
          </a:xfrm>
          <a:custGeom>
            <a:avLst/>
            <a:gdLst/>
            <a:ahLst/>
            <a:cxnLst/>
            <a:rect r="r" b="b" t="t" l="l"/>
            <a:pathLst>
              <a:path h="956414" w="956414">
                <a:moveTo>
                  <a:pt x="0" y="0"/>
                </a:moveTo>
                <a:lnTo>
                  <a:pt x="956414" y="0"/>
                </a:lnTo>
                <a:lnTo>
                  <a:pt x="956414" y="956414"/>
                </a:lnTo>
                <a:lnTo>
                  <a:pt x="0" y="9564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id="23" name="Runway wordmark"/>
          <p:cNvSpPr txBox="1"/>
          <p:nvPr/>
        </p:nvSpPr>
        <p:spPr>
          <a:xfrm>
            <a:off x="1680493" y="955547"/>
            <a:ext cx="2133600" cy="635000"/>
          </a:xfrm>
          <a:prstGeom prst="rect">
            <a:avLst/>
          </a:prstGeom>
          <a:noFill/>
        </p:spPr>
        <p:txBody>
          <a:bodyPr wrap="square" lIns="0" rIns="0" tIns="0" bIns="0">
            <a:spAutoFit/>
          </a:bodyPr>
          <a:lstStyle/>
          <a:p>
            <a:r>
              <a:rPr sz="4000" b="1" spc="-240">
                <a:solidFill>
                  <a:srgbClr val="F2FFF9"/>
                </a:solidFill>
                <a:latin typeface="Segoe UI"/>
                <a:ea typeface="Segoe UI"/>
                <a:cs typeface="Segoe UI"/>
              </a:rPr>
              <a:t>runway</a:t>
            </a:r>
            <a:r>
              <a:rPr sz="4000" b="1" spc="-240">
                <a:solidFill>
                  <a:srgbClr val="A4D0B5"/>
                </a:solidFill>
                <a:latin typeface="Segoe UI"/>
                <a:ea typeface="Segoe UI"/>
                <a:cs typeface="Segoe UI"/>
              </a:rPr>
              <a:t>.</a:t>
            </a:r>
          </a:p>
        </p:txBody>
      </p:sp>
      <p:sp>
        <p:nvSpPr>
          <p:cNvPr name="Freeform 8b" id="8"/>
          <p:cNvSpPr/>
          <p:nvPr/>
        </p:nvSpPr>
        <p:spPr>
          <a:xfrm flipH="false" flipV="false" rot="0">
            <a:off x="6035040" y="4864607"/>
            <a:ext cx="595203" cy="595203"/>
          </a:xfrm>
          <a:custGeom>
            <a:avLst/>
            <a:gdLst/>
            <a:ahLst/>
            <a:cxnLst/>
            <a:rect r="r" b="b" t="t" l="l"/>
            <a:pathLst>
              <a:path h="595203" w="595203">
                <a:moveTo>
                  <a:pt x="0" y="0"/>
                </a:moveTo>
                <a:lnTo>
                  <a:pt x="595203" y="0"/>
                </a:lnTo>
                <a:lnTo>
                  <a:pt x="595203" y="595203"/>
                </a:lnTo>
                <a:lnTo>
                  <a:pt x="0" y="5952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id="24" name="TextBox 23"/>
          <p:cNvSpPr txBox="1"/>
          <p:nvPr/>
        </p:nvSpPr>
        <p:spPr>
          <a:xfrm>
            <a:off x="1682496" y="2240280"/>
            <a:ext cx="4206240" cy="1188720"/>
          </a:xfrm>
          <a:prstGeom prst="rect">
            <a:avLst/>
          </a:prstGeom>
          <a:noFill/>
        </p:spPr>
        <p:txBody>
          <a:bodyPr wrap="square" lIns="0" rIns="0" tIns="0" bIns="0" anchor="t">
            <a:spAutoFit/>
          </a:bodyPr>
          <a:lstStyle/>
          <a:p>
            <a:pPr algn="l">
              <a:spcAft>
                <a:spcPts val="0"/>
              </a:spcAft>
            </a:pPr>
            <a:r>
              <a:rPr sz="6400" b="0">
                <a:solidFill>
                  <a:srgbClr val="56D5A2"/>
                </a:solidFill>
                <a:latin typeface="Open Sauce"/>
                <a:ea typeface="Open Sauce"/>
                <a:cs typeface="Open Sauce"/>
              </a:rPr>
              <a:t>5 weeks</a:t>
            </a:r>
          </a:p>
        </p:txBody>
      </p:sp>
      <p:sp>
        <p:nvSpPr>
          <p:cNvPr id="25" name="TextBox 24"/>
          <p:cNvSpPr txBox="1"/>
          <p:nvPr/>
        </p:nvSpPr>
        <p:spPr>
          <a:xfrm>
            <a:off x="1682496" y="3429000"/>
            <a:ext cx="3931920" cy="914400"/>
          </a:xfrm>
          <a:prstGeom prst="rect">
            <a:avLst/>
          </a:prstGeom>
          <a:noFill/>
        </p:spPr>
        <p:txBody>
          <a:bodyPr wrap="square" lIns="0" rIns="0" tIns="0" bIns="0" anchor="t">
            <a:spAutoFit/>
          </a:bodyPr>
          <a:lstStyle/>
          <a:p>
            <a:pPr algn="l">
              <a:lnSpc>
                <a:spcPct val="120000"/>
              </a:lnSpc>
              <a:spcAft>
                <a:spcPts val="0"/>
              </a:spcAft>
            </a:pPr>
            <a:r>
              <a:rPr sz="1800" b="0">
                <a:solidFill>
                  <a:srgbClr val="F2FFF9"/>
                </a:solidFill>
                <a:latin typeface="Open Sauce Light"/>
                <a:ea typeface="Open Sauce Light"/>
                <a:cs typeface="Open Sauce Light"/>
              </a:rPr>
              <a:t>of warning before the first cash gap</a:t>
            </a:r>
          </a:p>
        </p:txBody>
      </p:sp>
      <p:sp>
        <p:nvSpPr>
          <p:cNvPr id="26" name="TextBox 25"/>
          <p:cNvSpPr txBox="1"/>
          <p:nvPr/>
        </p:nvSpPr>
        <p:spPr>
          <a:xfrm>
            <a:off x="6903720" y="2331720"/>
            <a:ext cx="4206240" cy="41148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PLAIN LANGUAGE</a:t>
            </a:r>
          </a:p>
        </p:txBody>
      </p:sp>
      <p:sp>
        <p:nvSpPr>
          <p:cNvPr id="27" name="TextBox 26"/>
          <p:cNvSpPr txBox="1"/>
          <p:nvPr/>
        </p:nvSpPr>
        <p:spPr>
          <a:xfrm>
            <a:off x="6903720" y="2807208"/>
            <a:ext cx="4206240" cy="146304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Approvals, the audit log and the agent's steps read as sentences, not JSON.</a:t>
            </a:r>
          </a:p>
        </p:txBody>
      </p:sp>
      <p:sp>
        <p:nvSpPr>
          <p:cNvPr id="28" name="TextBox 27"/>
          <p:cNvSpPr txBox="1"/>
          <p:nvPr/>
        </p:nvSpPr>
        <p:spPr>
          <a:xfrm>
            <a:off x="12390119" y="2331720"/>
            <a:ext cx="4206240" cy="41148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ALERTS BEFORE PROBLEMS</a:t>
            </a:r>
          </a:p>
        </p:txBody>
      </p:sp>
      <p:sp>
        <p:nvSpPr>
          <p:cNvPr id="29" name="TextBox 28"/>
          <p:cNvSpPr txBox="1"/>
          <p:nvPr/>
        </p:nvSpPr>
        <p:spPr>
          <a:xfrm>
            <a:off x="12390119" y="2807208"/>
            <a:ext cx="4206240" cy="146304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The Monday brief names the gap weeks ahead; fraud alerts reach the owner at once.</a:t>
            </a:r>
          </a:p>
        </p:txBody>
      </p:sp>
      <p:sp>
        <p:nvSpPr>
          <p:cNvPr id="30" name="TextBox 29"/>
          <p:cNvSpPr txBox="1"/>
          <p:nvPr/>
        </p:nvSpPr>
        <p:spPr>
          <a:xfrm>
            <a:off x="6903720" y="4846320"/>
            <a:ext cx="4206240" cy="41148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WORKS OFFLINE</a:t>
            </a:r>
          </a:p>
        </p:txBody>
      </p:sp>
      <p:sp>
        <p:nvSpPr>
          <p:cNvPr id="31" name="TextBox 30"/>
          <p:cNvSpPr txBox="1"/>
          <p:nvPr/>
        </p:nvSpPr>
        <p:spPr>
          <a:xfrm>
            <a:off x="6903720" y="5321808"/>
            <a:ext cx="4206240" cy="146304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The offline planner runs the same tools with no network; an outage falls back and says so.</a:t>
            </a:r>
          </a:p>
        </p:txBody>
      </p:sp>
      <p:sp>
        <p:nvSpPr>
          <p:cNvPr id="32" name="TextBox 31"/>
          <p:cNvSpPr txBox="1"/>
          <p:nvPr/>
        </p:nvSpPr>
        <p:spPr>
          <a:xfrm>
            <a:off x="12390119" y="4846320"/>
            <a:ext cx="4206240" cy="41148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ASKS, THEN ACTS</a:t>
            </a:r>
          </a:p>
        </p:txBody>
      </p:sp>
      <p:sp>
        <p:nvSpPr>
          <p:cNvPr id="33" name="TextBox 32"/>
          <p:cNvSpPr txBox="1"/>
          <p:nvPr/>
        </p:nvSpPr>
        <p:spPr>
          <a:xfrm>
            <a:off x="12390119" y="5321808"/>
            <a:ext cx="4206240" cy="146304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Asks which invoice when two fit; withdraws its own request when told “no”.</a:t>
            </a:r>
          </a:p>
        </p:txBody>
      </p:sp>
      <p:sp>
        <p:nvSpPr>
          <p:cNvPr id="34" name="TextBox 33"/>
          <p:cNvSpPr txBox="1"/>
          <p:nvPr/>
        </p:nvSpPr>
        <p:spPr>
          <a:xfrm>
            <a:off x="1682496" y="6903720"/>
            <a:ext cx="7315200" cy="45720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INNOVATION</a:t>
            </a:r>
          </a:p>
        </p:txBody>
      </p:sp>
      <p:sp>
        <p:nvSpPr>
          <p:cNvPr id="35" name="TextBox 34"/>
          <p:cNvSpPr txBox="1"/>
          <p:nvPr/>
        </p:nvSpPr>
        <p:spPr>
          <a:xfrm>
            <a:off x="1682496" y="7452360"/>
            <a:ext cx="9144000" cy="1005840"/>
          </a:xfrm>
          <a:prstGeom prst="rect">
            <a:avLst/>
          </a:prstGeom>
          <a:noFill/>
        </p:spPr>
        <p:txBody>
          <a:bodyPr wrap="square" lIns="0" rIns="0" tIns="0" bIns="0" anchor="t">
            <a:spAutoFit/>
          </a:bodyPr>
          <a:lstStyle/>
          <a:p>
            <a:pPr algn="l">
              <a:spcAft>
                <a:spcPts val="0"/>
              </a:spcAft>
            </a:pPr>
            <a:r>
              <a:rPr sz="8000" b="0">
                <a:solidFill>
                  <a:srgbClr val="F2FFF9"/>
                </a:solidFill>
                <a:latin typeface="Open Sauce"/>
                <a:ea typeface="Open Sauce"/>
                <a:cs typeface="Open Sauce"/>
              </a:rPr>
              <a:t>INNOVATION &amp; UX</a:t>
            </a:r>
          </a:p>
        </p:txBody>
      </p:sp>
      <p:sp>
        <p:nvSpPr>
          <p:cNvPr id="36" name="TextBox 35"/>
          <p:cNvSpPr txBox="1"/>
          <p:nvPr/>
        </p:nvSpPr>
        <p:spPr>
          <a:xfrm>
            <a:off x="11521440" y="7543800"/>
            <a:ext cx="5029200" cy="1097280"/>
          </a:xfrm>
          <a:prstGeom prst="rect">
            <a:avLst/>
          </a:prstGeom>
          <a:noFill/>
        </p:spPr>
        <p:txBody>
          <a:bodyPr wrap="square" lIns="0" rIns="0" tIns="0" bIns="0" anchor="t">
            <a:spAutoFit/>
          </a:bodyPr>
          <a:lstStyle/>
          <a:p>
            <a:pPr algn="l">
              <a:lnSpc>
                <a:spcPct val="120000"/>
              </a:lnSpc>
              <a:spcAft>
                <a:spcPts val="0"/>
              </a:spcAft>
            </a:pPr>
            <a:r>
              <a:rPr sz="1700" b="0">
                <a:solidFill>
                  <a:srgbClr val="9FB5AB"/>
                </a:solidFill>
                <a:latin typeface="Open Sauce Light"/>
                <a:ea typeface="Open Sauce Light"/>
                <a:cs typeface="Open Sauce Light"/>
              </a:rPr>
              <a:t>Same tools and rules on DeepSeek, Gemini, a local Ollama model or offline.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80808"/>
        </a:solidFill>
      </p:bgPr>
    </p:bg>
    <p:spTree>
      <p:nvGrpSpPr>
        <p:cNvPr id="1" name=""/>
        <p:cNvGrpSpPr/>
        <p:nvPr/>
      </p:nvGrpSpPr>
      <p:grpSpPr>
        <a:xfrm>
          <a:off x="0" y="0"/>
          <a:ext cx="0" cy="0"/>
          <a:chOff x="0" y="0"/>
          <a:chExt cx="0" cy="0"/>
        </a:xfrm>
      </p:grpSpPr>
      <p:sp>
        <p:nvSpPr>
          <p:cNvPr name="Freeform 2" id="2"/>
          <p:cNvSpPr/>
          <p:nvPr/>
        </p:nvSpPr>
        <p:spPr>
          <a:xfrm flipH="false" flipV="false" rot="0">
            <a:off x="-1955157" y="-219165"/>
            <a:ext cx="10705830" cy="10725331"/>
          </a:xfrm>
          <a:custGeom>
            <a:avLst/>
            <a:gdLst/>
            <a:ahLst/>
            <a:cxnLst/>
            <a:rect r="r" b="b" t="t" l="l"/>
            <a:pathLst>
              <a:path h="10725331" w="10705830">
                <a:moveTo>
                  <a:pt x="0" y="0"/>
                </a:moveTo>
                <a:lnTo>
                  <a:pt x="10705830" y="0"/>
                </a:lnTo>
                <a:lnTo>
                  <a:pt x="10705830" y="10725330"/>
                </a:lnTo>
                <a:lnTo>
                  <a:pt x="0" y="10725330"/>
                </a:lnTo>
                <a:lnTo>
                  <a:pt x="0" y="0"/>
                </a:lnTo>
                <a:close/>
              </a:path>
            </a:pathLst>
          </a:custGeom>
          <a:blipFill>
            <a:blip r:embed="rId2"/>
            <a:stretch>
              <a:fillRect l="0" t="0" r="0" b="0"/>
            </a:stretch>
          </a:blipFill>
        </p:spPr>
      </p:sp>
      <p:sp>
        <p:nvSpPr>
          <p:cNvPr id="15" name="Runway wordmark"/>
          <p:cNvSpPr txBox="1"/>
          <p:nvPr/>
        </p:nvSpPr>
        <p:spPr>
          <a:xfrm>
            <a:off x="1680493" y="955547"/>
            <a:ext cx="2133600" cy="635000"/>
          </a:xfrm>
          <a:prstGeom prst="rect">
            <a:avLst/>
          </a:prstGeom>
          <a:noFill/>
        </p:spPr>
        <p:txBody>
          <a:bodyPr wrap="square" lIns="0" rIns="0" tIns="0" bIns="0">
            <a:spAutoFit/>
          </a:bodyPr>
          <a:lstStyle/>
          <a:p>
            <a:r>
              <a:rPr sz="4000" b="1" spc="-240">
                <a:solidFill>
                  <a:srgbClr val="F2FFF9"/>
                </a:solidFill>
                <a:latin typeface="Segoe UI"/>
                <a:ea typeface="Segoe UI"/>
                <a:cs typeface="Segoe UI"/>
              </a:rPr>
              <a:t>runway</a:t>
            </a:r>
            <a:r>
              <a:rPr sz="4000" b="1" spc="-240">
                <a:solidFill>
                  <a:srgbClr val="A4D0B5"/>
                </a:solidFill>
                <a:latin typeface="Segoe UI"/>
                <a:ea typeface="Segoe UI"/>
                <a:cs typeface="Segoe UI"/>
              </a:rPr>
              <a:t>.</a:t>
            </a:r>
          </a:p>
        </p:txBody>
      </p:sp>
      <p:sp>
        <p:nvSpPr>
          <p:cNvPr id="16" name="TextBox 15"/>
          <p:cNvSpPr txBox="1"/>
          <p:nvPr/>
        </p:nvSpPr>
        <p:spPr>
          <a:xfrm>
            <a:off x="1682496" y="2011680"/>
            <a:ext cx="6766560" cy="411480"/>
          </a:xfrm>
          <a:prstGeom prst="rect">
            <a:avLst/>
          </a:prstGeom>
          <a:noFill/>
        </p:spPr>
        <p:txBody>
          <a:bodyPr wrap="square" lIns="0" rIns="0" tIns="0" bIns="0" anchor="t">
            <a:spAutoFit/>
          </a:bodyPr>
          <a:lstStyle/>
          <a:p>
            <a:pPr algn="l">
              <a:spcAft>
                <a:spcPts val="0"/>
              </a:spcAft>
            </a:pPr>
            <a:r>
              <a:rPr sz="1900" b="0">
                <a:solidFill>
                  <a:srgbClr val="F2F99E"/>
                </a:solidFill>
                <a:latin typeface="Open Sauce Light"/>
                <a:ea typeface="Open Sauce Light"/>
                <a:cs typeface="Open Sauce Light"/>
              </a:rPr>
              <a:t>KNOWN RISKS, FROM OUR SELF-ASSESSMENT</a:t>
            </a:r>
          </a:p>
        </p:txBody>
      </p:sp>
      <p:sp>
        <p:nvSpPr>
          <p:cNvPr id="17" name="TextBox 16"/>
          <p:cNvSpPr txBox="1"/>
          <p:nvPr/>
        </p:nvSpPr>
        <p:spPr>
          <a:xfrm>
            <a:off x="1682496" y="2606040"/>
            <a:ext cx="822960" cy="411480"/>
          </a:xfrm>
          <a:prstGeom prst="rect">
            <a:avLst/>
          </a:prstGeom>
          <a:noFill/>
        </p:spPr>
        <p:txBody>
          <a:bodyPr wrap="square" lIns="0" rIns="0" tIns="0" bIns="0" anchor="t">
            <a:spAutoFit/>
          </a:bodyPr>
          <a:lstStyle/>
          <a:p>
            <a:pPr algn="l">
              <a:spcAft>
                <a:spcPts val="0"/>
              </a:spcAft>
            </a:pPr>
            <a:r>
              <a:rPr sz="1600" b="0">
                <a:solidFill>
                  <a:srgbClr val="F2F99E"/>
                </a:solidFill>
                <a:latin typeface="Open Sauce"/>
                <a:ea typeface="Open Sauce"/>
                <a:cs typeface="Open Sauce"/>
              </a:rPr>
              <a:t>R1</a:t>
            </a:r>
          </a:p>
        </p:txBody>
      </p:sp>
      <p:sp>
        <p:nvSpPr>
          <p:cNvPr id="18" name="TextBox 17"/>
          <p:cNvSpPr txBox="1"/>
          <p:nvPr/>
        </p:nvSpPr>
        <p:spPr>
          <a:xfrm>
            <a:off x="2514600" y="2606040"/>
            <a:ext cx="5943600" cy="411480"/>
          </a:xfrm>
          <a:prstGeom prst="rect">
            <a:avLst/>
          </a:prstGeom>
          <a:noFill/>
        </p:spPr>
        <p:txBody>
          <a:bodyPr wrap="square" lIns="0" rIns="0" tIns="0" bIns="0" anchor="t">
            <a:spAutoFit/>
          </a:bodyPr>
          <a:lstStyle/>
          <a:p>
            <a:pPr algn="l">
              <a:spcAft>
                <a:spcPts val="0"/>
              </a:spcAft>
            </a:pPr>
            <a:r>
              <a:rPr sz="1700" b="0">
                <a:solidFill>
                  <a:srgbClr val="F2FFF9"/>
                </a:solidFill>
                <a:latin typeface="Open Sauce Light"/>
                <a:ea typeface="Open Sauce Light"/>
                <a:cs typeface="Open Sauce Light"/>
              </a:rPr>
              <a:t>PIN sign-in is demo-grade</a:t>
            </a:r>
          </a:p>
        </p:txBody>
      </p:sp>
      <p:sp>
        <p:nvSpPr>
          <p:cNvPr id="19" name="TextBox 18"/>
          <p:cNvSpPr txBox="1"/>
          <p:nvPr/>
        </p:nvSpPr>
        <p:spPr>
          <a:xfrm>
            <a:off x="1682496" y="3136392"/>
            <a:ext cx="822960" cy="411480"/>
          </a:xfrm>
          <a:prstGeom prst="rect">
            <a:avLst/>
          </a:prstGeom>
          <a:noFill/>
        </p:spPr>
        <p:txBody>
          <a:bodyPr wrap="square" lIns="0" rIns="0" tIns="0" bIns="0" anchor="t">
            <a:spAutoFit/>
          </a:bodyPr>
          <a:lstStyle/>
          <a:p>
            <a:pPr algn="l">
              <a:spcAft>
                <a:spcPts val="0"/>
              </a:spcAft>
            </a:pPr>
            <a:r>
              <a:rPr sz="1600" b="0">
                <a:solidFill>
                  <a:srgbClr val="F2F99E"/>
                </a:solidFill>
                <a:latin typeface="Open Sauce"/>
                <a:ea typeface="Open Sauce"/>
                <a:cs typeface="Open Sauce"/>
              </a:rPr>
              <a:t>R4</a:t>
            </a:r>
          </a:p>
        </p:txBody>
      </p:sp>
      <p:sp>
        <p:nvSpPr>
          <p:cNvPr id="20" name="TextBox 19"/>
          <p:cNvSpPr txBox="1"/>
          <p:nvPr/>
        </p:nvSpPr>
        <p:spPr>
          <a:xfrm>
            <a:off x="2514600" y="3136392"/>
            <a:ext cx="5943600" cy="411480"/>
          </a:xfrm>
          <a:prstGeom prst="rect">
            <a:avLst/>
          </a:prstGeom>
          <a:noFill/>
        </p:spPr>
        <p:txBody>
          <a:bodyPr wrap="square" lIns="0" rIns="0" tIns="0" bIns="0" anchor="t">
            <a:spAutoFit/>
          </a:bodyPr>
          <a:lstStyle/>
          <a:p>
            <a:pPr algn="l">
              <a:spcAft>
                <a:spcPts val="0"/>
              </a:spcAft>
            </a:pPr>
            <a:r>
              <a:rPr sz="1700" b="0">
                <a:solidFill>
                  <a:srgbClr val="F2FFF9"/>
                </a:solidFill>
                <a:latin typeface="Open Sauce Light"/>
                <a:ea typeface="Open Sauce Light"/>
                <a:cs typeface="Open Sauce Light"/>
              </a:rPr>
              <a:t>Keyword detection can be evaded</a:t>
            </a:r>
          </a:p>
        </p:txBody>
      </p:sp>
      <p:sp>
        <p:nvSpPr>
          <p:cNvPr id="21" name="TextBox 20"/>
          <p:cNvSpPr txBox="1"/>
          <p:nvPr/>
        </p:nvSpPr>
        <p:spPr>
          <a:xfrm>
            <a:off x="1682496" y="3666744"/>
            <a:ext cx="822960" cy="411480"/>
          </a:xfrm>
          <a:prstGeom prst="rect">
            <a:avLst/>
          </a:prstGeom>
          <a:noFill/>
        </p:spPr>
        <p:txBody>
          <a:bodyPr wrap="square" lIns="0" rIns="0" tIns="0" bIns="0" anchor="t">
            <a:spAutoFit/>
          </a:bodyPr>
          <a:lstStyle/>
          <a:p>
            <a:pPr algn="l">
              <a:spcAft>
                <a:spcPts val="0"/>
              </a:spcAft>
            </a:pPr>
            <a:r>
              <a:rPr sz="1600" b="0">
                <a:solidFill>
                  <a:srgbClr val="F2F99E"/>
                </a:solidFill>
                <a:latin typeface="Open Sauce"/>
                <a:ea typeface="Open Sauce"/>
                <a:cs typeface="Open Sauce"/>
              </a:rPr>
              <a:t>R7</a:t>
            </a:r>
          </a:p>
        </p:txBody>
      </p:sp>
      <p:sp>
        <p:nvSpPr>
          <p:cNvPr id="22" name="TextBox 21"/>
          <p:cNvSpPr txBox="1"/>
          <p:nvPr/>
        </p:nvSpPr>
        <p:spPr>
          <a:xfrm>
            <a:off x="2514600" y="3666744"/>
            <a:ext cx="5943600" cy="411480"/>
          </a:xfrm>
          <a:prstGeom prst="rect">
            <a:avLst/>
          </a:prstGeom>
          <a:noFill/>
        </p:spPr>
        <p:txBody>
          <a:bodyPr wrap="square" lIns="0" rIns="0" tIns="0" bIns="0" anchor="t">
            <a:spAutoFit/>
          </a:bodyPr>
          <a:lstStyle/>
          <a:p>
            <a:pPr algn="l">
              <a:spcAft>
                <a:spcPts val="0"/>
              </a:spcAft>
            </a:pPr>
            <a:r>
              <a:rPr sz="1700" b="0">
                <a:solidFill>
                  <a:srgbClr val="F2FFF9"/>
                </a:solidFill>
                <a:latin typeface="Open Sauce Light"/>
                <a:ea typeface="Open Sauce Light"/>
                <a:cs typeface="Open Sauce Light"/>
              </a:rPr>
              <a:t>One SQLite file is the root of trust</a:t>
            </a:r>
          </a:p>
        </p:txBody>
      </p:sp>
      <p:sp>
        <p:nvSpPr>
          <p:cNvPr id="23" name="TextBox 22"/>
          <p:cNvSpPr txBox="1"/>
          <p:nvPr/>
        </p:nvSpPr>
        <p:spPr>
          <a:xfrm>
            <a:off x="1682496" y="4197096"/>
            <a:ext cx="822960" cy="411480"/>
          </a:xfrm>
          <a:prstGeom prst="rect">
            <a:avLst/>
          </a:prstGeom>
          <a:noFill/>
        </p:spPr>
        <p:txBody>
          <a:bodyPr wrap="square" lIns="0" rIns="0" tIns="0" bIns="0" anchor="t">
            <a:spAutoFit/>
          </a:bodyPr>
          <a:lstStyle/>
          <a:p>
            <a:pPr algn="l">
              <a:spcAft>
                <a:spcPts val="0"/>
              </a:spcAft>
            </a:pPr>
            <a:r>
              <a:rPr sz="1600" b="0">
                <a:solidFill>
                  <a:srgbClr val="F2F99E"/>
                </a:solidFill>
                <a:latin typeface="Open Sauce"/>
                <a:ea typeface="Open Sauce"/>
                <a:cs typeface="Open Sauce"/>
              </a:rPr>
              <a:t>R8</a:t>
            </a:r>
          </a:p>
        </p:txBody>
      </p:sp>
      <p:sp>
        <p:nvSpPr>
          <p:cNvPr id="24" name="TextBox 23"/>
          <p:cNvSpPr txBox="1"/>
          <p:nvPr/>
        </p:nvSpPr>
        <p:spPr>
          <a:xfrm>
            <a:off x="2514600" y="4197096"/>
            <a:ext cx="5943600" cy="411480"/>
          </a:xfrm>
          <a:prstGeom prst="rect">
            <a:avLst/>
          </a:prstGeom>
          <a:noFill/>
        </p:spPr>
        <p:txBody>
          <a:bodyPr wrap="square" lIns="0" rIns="0" tIns="0" bIns="0" anchor="t">
            <a:spAutoFit/>
          </a:bodyPr>
          <a:lstStyle/>
          <a:p>
            <a:pPr algn="l">
              <a:spcAft>
                <a:spcPts val="0"/>
              </a:spcAft>
            </a:pPr>
            <a:r>
              <a:rPr sz="1700" b="0">
                <a:solidFill>
                  <a:srgbClr val="F2FFF9"/>
                </a:solidFill>
                <a:latin typeface="Open Sauce Light"/>
                <a:ea typeface="Open Sauce Light"/>
                <a:cs typeface="Open Sauce Light"/>
              </a:rPr>
              <a:t>Attack tests run on the offline planner</a:t>
            </a:r>
          </a:p>
        </p:txBody>
      </p:sp>
      <p:sp>
        <p:nvSpPr>
          <p:cNvPr id="25" name="TextBox 24"/>
          <p:cNvSpPr txBox="1"/>
          <p:nvPr/>
        </p:nvSpPr>
        <p:spPr>
          <a:xfrm>
            <a:off x="1682496" y="4727448"/>
            <a:ext cx="822960" cy="411480"/>
          </a:xfrm>
          <a:prstGeom prst="rect">
            <a:avLst/>
          </a:prstGeom>
          <a:noFill/>
        </p:spPr>
        <p:txBody>
          <a:bodyPr wrap="square" lIns="0" rIns="0" tIns="0" bIns="0" anchor="t">
            <a:spAutoFit/>
          </a:bodyPr>
          <a:lstStyle/>
          <a:p>
            <a:pPr algn="l">
              <a:spcAft>
                <a:spcPts val="0"/>
              </a:spcAft>
            </a:pPr>
            <a:r>
              <a:rPr sz="1600" b="0">
                <a:solidFill>
                  <a:srgbClr val="F2F99E"/>
                </a:solidFill>
                <a:latin typeface="Open Sauce"/>
                <a:ea typeface="Open Sauce"/>
                <a:cs typeface="Open Sauce"/>
              </a:rPr>
              <a:t>R10</a:t>
            </a:r>
          </a:p>
        </p:txBody>
      </p:sp>
      <p:sp>
        <p:nvSpPr>
          <p:cNvPr id="26" name="TextBox 25"/>
          <p:cNvSpPr txBox="1"/>
          <p:nvPr/>
        </p:nvSpPr>
        <p:spPr>
          <a:xfrm>
            <a:off x="2514600" y="4727448"/>
            <a:ext cx="5943600" cy="411480"/>
          </a:xfrm>
          <a:prstGeom prst="rect">
            <a:avLst/>
          </a:prstGeom>
          <a:noFill/>
        </p:spPr>
        <p:txBody>
          <a:bodyPr wrap="square" lIns="0" rIns="0" tIns="0" bIns="0" anchor="t">
            <a:spAutoFit/>
          </a:bodyPr>
          <a:lstStyle/>
          <a:p>
            <a:pPr algn="l">
              <a:spcAft>
                <a:spcPts val="0"/>
              </a:spcAft>
            </a:pPr>
            <a:r>
              <a:rPr sz="1700" b="0">
                <a:solidFill>
                  <a:srgbClr val="F2FFF9"/>
                </a:solidFill>
                <a:latin typeface="Open Sauce Light"/>
                <a:ea typeface="Open Sauce Light"/>
                <a:cs typeface="Open Sauce Light"/>
              </a:rPr>
              <a:t>Pseudonymisation is partial</a:t>
            </a:r>
          </a:p>
        </p:txBody>
      </p:sp>
      <p:sp>
        <p:nvSpPr>
          <p:cNvPr id="27" name="TextBox 26"/>
          <p:cNvSpPr txBox="1"/>
          <p:nvPr/>
        </p:nvSpPr>
        <p:spPr>
          <a:xfrm>
            <a:off x="1682496" y="5257800"/>
            <a:ext cx="822960" cy="411480"/>
          </a:xfrm>
          <a:prstGeom prst="rect">
            <a:avLst/>
          </a:prstGeom>
          <a:noFill/>
        </p:spPr>
        <p:txBody>
          <a:bodyPr wrap="square" lIns="0" rIns="0" tIns="0" bIns="0" anchor="t">
            <a:spAutoFit/>
          </a:bodyPr>
          <a:lstStyle/>
          <a:p>
            <a:pPr algn="l">
              <a:spcAft>
                <a:spcPts val="0"/>
              </a:spcAft>
            </a:pPr>
            <a:r>
              <a:rPr sz="1600" b="0">
                <a:solidFill>
                  <a:srgbClr val="F2F99E"/>
                </a:solidFill>
                <a:latin typeface="Open Sauce"/>
                <a:ea typeface="Open Sauce"/>
                <a:cs typeface="Open Sauce"/>
              </a:rPr>
              <a:t>R23</a:t>
            </a:r>
          </a:p>
        </p:txBody>
      </p:sp>
      <p:sp>
        <p:nvSpPr>
          <p:cNvPr id="28" name="TextBox 27"/>
          <p:cNvSpPr txBox="1"/>
          <p:nvPr/>
        </p:nvSpPr>
        <p:spPr>
          <a:xfrm>
            <a:off x="2514600" y="5257800"/>
            <a:ext cx="5943600" cy="411480"/>
          </a:xfrm>
          <a:prstGeom prst="rect">
            <a:avLst/>
          </a:prstGeom>
          <a:noFill/>
        </p:spPr>
        <p:txBody>
          <a:bodyPr wrap="square" lIns="0" rIns="0" tIns="0" bIns="0" anchor="t">
            <a:spAutoFit/>
          </a:bodyPr>
          <a:lstStyle/>
          <a:p>
            <a:pPr algn="l">
              <a:spcAft>
                <a:spcPts val="0"/>
              </a:spcAft>
            </a:pPr>
            <a:r>
              <a:rPr sz="1700" b="0">
                <a:solidFill>
                  <a:srgbClr val="F2FFF9"/>
                </a:solidFill>
                <a:latin typeface="Open Sauce Light"/>
                <a:ea typeface="Open Sauce Light"/>
                <a:cs typeface="Open Sauce Light"/>
              </a:rPr>
              <a:t>Signing keys are per role, on the server</a:t>
            </a:r>
          </a:p>
        </p:txBody>
      </p:sp>
      <p:sp>
        <p:nvSpPr>
          <p:cNvPr id="29" name="TextBox 28"/>
          <p:cNvSpPr txBox="1"/>
          <p:nvPr/>
        </p:nvSpPr>
        <p:spPr>
          <a:xfrm>
            <a:off x="1682496" y="5897880"/>
            <a:ext cx="7315200" cy="457200"/>
          </a:xfrm>
          <a:prstGeom prst="rect">
            <a:avLst/>
          </a:prstGeom>
          <a:noFill/>
        </p:spPr>
        <p:txBody>
          <a:bodyPr wrap="square" lIns="0" rIns="0" tIns="0" bIns="0" anchor="t">
            <a:spAutoFit/>
          </a:bodyPr>
          <a:lstStyle/>
          <a:p>
            <a:pPr algn="l">
              <a:spcAft>
                <a:spcPts val="0"/>
              </a:spcAft>
            </a:pPr>
            <a:r>
              <a:rPr sz="2200" b="0">
                <a:solidFill>
                  <a:srgbClr val="F2F99E"/>
                </a:solidFill>
                <a:latin typeface="Open Sauce Light"/>
                <a:ea typeface="Open Sauce Light"/>
                <a:cs typeface="Open Sauce Light"/>
              </a:rPr>
              <a:t>HONEST LIMITS</a:t>
            </a:r>
          </a:p>
        </p:txBody>
      </p:sp>
      <p:sp>
        <p:nvSpPr>
          <p:cNvPr id="30" name="TextBox 29"/>
          <p:cNvSpPr txBox="1"/>
          <p:nvPr/>
        </p:nvSpPr>
        <p:spPr>
          <a:xfrm>
            <a:off x="1682496" y="6446520"/>
            <a:ext cx="7863840" cy="2194560"/>
          </a:xfrm>
          <a:prstGeom prst="rect">
            <a:avLst/>
          </a:prstGeom>
          <a:noFill/>
        </p:spPr>
        <p:txBody>
          <a:bodyPr wrap="square" lIns="0" rIns="0" tIns="0" bIns="0" anchor="t">
            <a:spAutoFit/>
          </a:bodyPr>
          <a:lstStyle/>
          <a:p>
            <a:pPr algn="l">
              <a:lnSpc>
                <a:spcPct val="95000"/>
              </a:lnSpc>
              <a:spcAft>
                <a:spcPts val="0"/>
              </a:spcAft>
            </a:pPr>
            <a:r>
              <a:rPr sz="8000" b="0">
                <a:solidFill>
                  <a:srgbClr val="F2FFF9"/>
                </a:solidFill>
                <a:latin typeface="Open Sauce"/>
                <a:ea typeface="Open Sauce"/>
                <a:cs typeface="Open Sauce"/>
              </a:rPr>
              <a:t>RISKS AND</a:t>
            </a:r>
          </a:p>
          <a:p>
            <a:pPr algn="l">
              <a:lnSpc>
                <a:spcPct val="95000"/>
              </a:lnSpc>
              <a:spcAft>
                <a:spcPts val="0"/>
              </a:spcAft>
            </a:pPr>
            <a:r>
              <a:rPr sz="8000" b="0">
                <a:solidFill>
                  <a:srgbClr val="F2FFF9"/>
                </a:solidFill>
                <a:latin typeface="Open Sauce"/>
                <a:ea typeface="Open Sauce"/>
                <a:cs typeface="Open Sauce"/>
              </a:rPr>
              <a:t>NEXT STEPS</a:t>
            </a:r>
          </a:p>
        </p:txBody>
      </p:sp>
      <p:sp>
        <p:nvSpPr>
          <p:cNvPr id="31" name="Rounded Rectangle 30"/>
          <p:cNvSpPr/>
          <p:nvPr/>
        </p:nvSpPr>
        <p:spPr>
          <a:xfrm>
            <a:off x="9509760" y="2011680"/>
            <a:ext cx="7095744" cy="146304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829800" y="2240280"/>
            <a:ext cx="6400800" cy="411480"/>
          </a:xfrm>
          <a:prstGeom prst="rect">
            <a:avLst/>
          </a:prstGeom>
          <a:noFill/>
        </p:spPr>
        <p:txBody>
          <a:bodyPr wrap="square" lIns="0" rIns="0" tIns="0" bIns="0" anchor="t">
            <a:spAutoFit/>
          </a:bodyPr>
          <a:lstStyle/>
          <a:p>
            <a:pPr algn="l">
              <a:spcAft>
                <a:spcPts val="0"/>
              </a:spcAft>
            </a:pPr>
            <a:r>
              <a:rPr sz="2100" b="0">
                <a:solidFill>
                  <a:srgbClr val="56D5A2"/>
                </a:solidFill>
                <a:latin typeface="Open Sauce Light"/>
                <a:ea typeface="Open Sauce Light"/>
                <a:cs typeface="Open Sauce Light"/>
              </a:rPr>
              <a:t>REAL BANK APIS</a:t>
            </a:r>
          </a:p>
        </p:txBody>
      </p:sp>
      <p:sp>
        <p:nvSpPr>
          <p:cNvPr id="33" name="TextBox 32"/>
          <p:cNvSpPr txBox="1"/>
          <p:nvPr/>
        </p:nvSpPr>
        <p:spPr>
          <a:xfrm>
            <a:off x="9829800" y="2724912"/>
            <a:ext cx="6492240" cy="64008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Replace the mock bank with open-banking APIs such as WeBank's.</a:t>
            </a:r>
          </a:p>
        </p:txBody>
      </p:sp>
      <p:sp>
        <p:nvSpPr>
          <p:cNvPr id="34" name="Rounded Rectangle 33"/>
          <p:cNvSpPr/>
          <p:nvPr/>
        </p:nvSpPr>
        <p:spPr>
          <a:xfrm>
            <a:off x="9509760" y="3703320"/>
            <a:ext cx="7095744" cy="146304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829800" y="3931920"/>
            <a:ext cx="6400800" cy="411480"/>
          </a:xfrm>
          <a:prstGeom prst="rect">
            <a:avLst/>
          </a:prstGeom>
          <a:noFill/>
        </p:spPr>
        <p:txBody>
          <a:bodyPr wrap="square" lIns="0" rIns="0" tIns="0" bIns="0" anchor="t">
            <a:spAutoFit/>
          </a:bodyPr>
          <a:lstStyle/>
          <a:p>
            <a:pPr algn="l">
              <a:spcAft>
                <a:spcPts val="0"/>
              </a:spcAft>
            </a:pPr>
            <a:r>
              <a:rPr sz="2100" b="0">
                <a:solidFill>
                  <a:srgbClr val="56D5A2"/>
                </a:solidFill>
                <a:latin typeface="Open Sauce Light"/>
                <a:ea typeface="Open Sauce Light"/>
                <a:cs typeface="Open Sauce Light"/>
              </a:rPr>
              <a:t>REAL IDENTITY</a:t>
            </a:r>
          </a:p>
        </p:txBody>
      </p:sp>
      <p:sp>
        <p:nvSpPr>
          <p:cNvPr id="36" name="TextBox 35"/>
          <p:cNvSpPr txBox="1"/>
          <p:nvPr/>
        </p:nvSpPr>
        <p:spPr>
          <a:xfrm>
            <a:off x="9829800" y="4416552"/>
            <a:ext cx="6492240" cy="64008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SSO and MFA; each person's signing key on their own device.</a:t>
            </a:r>
          </a:p>
        </p:txBody>
      </p:sp>
      <p:sp>
        <p:nvSpPr>
          <p:cNvPr id="37" name="Rounded Rectangle 36"/>
          <p:cNvSpPr/>
          <p:nvPr/>
        </p:nvSpPr>
        <p:spPr>
          <a:xfrm>
            <a:off x="9509760" y="5394960"/>
            <a:ext cx="7095744" cy="146304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829800" y="5623560"/>
            <a:ext cx="6400800" cy="411480"/>
          </a:xfrm>
          <a:prstGeom prst="rect">
            <a:avLst/>
          </a:prstGeom>
          <a:noFill/>
        </p:spPr>
        <p:txBody>
          <a:bodyPr wrap="square" lIns="0" rIns="0" tIns="0" bIns="0" anchor="t">
            <a:spAutoFit/>
          </a:bodyPr>
          <a:lstStyle/>
          <a:p>
            <a:pPr algn="l">
              <a:spcAft>
                <a:spcPts val="0"/>
              </a:spcAft>
            </a:pPr>
            <a:r>
              <a:rPr sz="2100" b="0">
                <a:solidFill>
                  <a:srgbClr val="56D5A2"/>
                </a:solidFill>
                <a:latin typeface="Open Sauce Light"/>
                <a:ea typeface="Open Sauce Light"/>
                <a:cs typeface="Open Sauce Light"/>
              </a:rPr>
              <a:t>MORE COUNTRY PACKS</a:t>
            </a:r>
          </a:p>
        </p:txBody>
      </p:sp>
      <p:sp>
        <p:nvSpPr>
          <p:cNvPr id="39" name="TextBox 38"/>
          <p:cNvSpPr txBox="1"/>
          <p:nvPr/>
        </p:nvSpPr>
        <p:spPr>
          <a:xfrm>
            <a:off x="9829800" y="6108192"/>
            <a:ext cx="6492240" cy="64008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EU and China today; VAT, currency and holidays per country.</a:t>
            </a:r>
          </a:p>
        </p:txBody>
      </p:sp>
      <p:sp>
        <p:nvSpPr>
          <p:cNvPr id="40" name="Rounded Rectangle 39"/>
          <p:cNvSpPr/>
          <p:nvPr/>
        </p:nvSpPr>
        <p:spPr>
          <a:xfrm>
            <a:off x="9509760" y="7086600"/>
            <a:ext cx="7095744" cy="1463040"/>
          </a:xfrm>
          <a:prstGeom prst="roundRect">
            <a:avLst>
              <a:gd name="adj" fmla="val 8000"/>
            </a:avLst>
          </a:prstGeom>
          <a:solidFill>
            <a:srgbClr val="111C17"/>
          </a:solidFill>
          <a:ln w="12700">
            <a:solidFill>
              <a:srgbClr val="2847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829800" y="7315200"/>
            <a:ext cx="6400800" cy="411480"/>
          </a:xfrm>
          <a:prstGeom prst="rect">
            <a:avLst/>
          </a:prstGeom>
          <a:noFill/>
        </p:spPr>
        <p:txBody>
          <a:bodyPr wrap="square" lIns="0" rIns="0" tIns="0" bIns="0" anchor="t">
            <a:spAutoFit/>
          </a:bodyPr>
          <a:lstStyle/>
          <a:p>
            <a:pPr algn="l">
              <a:spcAft>
                <a:spcPts val="0"/>
              </a:spcAft>
            </a:pPr>
            <a:r>
              <a:rPr sz="2100" b="0">
                <a:solidFill>
                  <a:srgbClr val="56D5A2"/>
                </a:solidFill>
                <a:latin typeface="Open Sauce Light"/>
                <a:ea typeface="Open Sauce Light"/>
                <a:cs typeface="Open Sauce Light"/>
              </a:rPr>
              <a:t>SCHEDULED ANCHORING</a:t>
            </a:r>
          </a:p>
        </p:txBody>
      </p:sp>
      <p:sp>
        <p:nvSpPr>
          <p:cNvPr id="42" name="TextBox 41"/>
          <p:cNvSpPr txBox="1"/>
          <p:nvPr/>
        </p:nvSpPr>
        <p:spPr>
          <a:xfrm>
            <a:off x="9829800" y="7799832"/>
            <a:ext cx="6492240" cy="640080"/>
          </a:xfrm>
          <a:prstGeom prst="rect">
            <a:avLst/>
          </a:prstGeom>
          <a:noFill/>
        </p:spPr>
        <p:txBody>
          <a:bodyPr wrap="square" lIns="0" rIns="0" tIns="0" bIns="0" anchor="t">
            <a:spAutoFit/>
          </a:bodyPr>
          <a:lstStyle/>
          <a:p>
            <a:pPr algn="l">
              <a:lnSpc>
                <a:spcPct val="120000"/>
              </a:lnSpc>
              <a:spcAft>
                <a:spcPts val="0"/>
              </a:spcAft>
            </a:pPr>
            <a:r>
              <a:rPr sz="1700" b="0">
                <a:solidFill>
                  <a:srgbClr val="F2FFF9"/>
                </a:solidFill>
                <a:latin typeface="Open Sauce Light"/>
                <a:ea typeface="Open Sauce Light"/>
                <a:cs typeface="Open Sauce Light"/>
              </a:rPr>
              <a:t>Publish the audit head to a public chain automatically.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80808"/>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4139594" y="-11283191"/>
            <a:ext cx="11166224" cy="19875157"/>
          </a:xfrm>
          <a:custGeom>
            <a:avLst/>
            <a:gdLst/>
            <a:ahLst/>
            <a:cxnLst/>
            <a:rect r="r" b="b" t="t" l="l"/>
            <a:pathLst>
              <a:path h="19875157" w="11166224">
                <a:moveTo>
                  <a:pt x="0" y="0"/>
                </a:moveTo>
                <a:lnTo>
                  <a:pt x="11166224" y="0"/>
                </a:lnTo>
                <a:lnTo>
                  <a:pt x="11166224" y="19875157"/>
                </a:lnTo>
                <a:lnTo>
                  <a:pt x="0" y="19875157"/>
                </a:lnTo>
                <a:lnTo>
                  <a:pt x="0" y="0"/>
                </a:lnTo>
                <a:close/>
              </a:path>
            </a:pathLst>
          </a:custGeom>
          <a:blipFill>
            <a:blip r:embed="rId2"/>
            <a:stretch>
              <a:fillRect l="0" t="0" r="0" b="0"/>
            </a:stretch>
          </a:blipFill>
        </p:spPr>
      </p:sp>
      <p:sp>
        <p:nvSpPr>
          <p:cNvPr name="Freeform 3" id="3"/>
          <p:cNvSpPr/>
          <p:nvPr/>
        </p:nvSpPr>
        <p:spPr>
          <a:xfrm flipH="false" flipV="false" rot="5400000">
            <a:off x="16552779" y="1733874"/>
            <a:ext cx="956414" cy="956414"/>
          </a:xfrm>
          <a:custGeom>
            <a:avLst/>
            <a:gdLst/>
            <a:ahLst/>
            <a:cxnLst/>
            <a:rect r="r" b="b" t="t" l="l"/>
            <a:pathLst>
              <a:path h="956414" w="956414">
                <a:moveTo>
                  <a:pt x="0" y="0"/>
                </a:moveTo>
                <a:lnTo>
                  <a:pt x="956414" y="0"/>
                </a:lnTo>
                <a:lnTo>
                  <a:pt x="956414" y="956414"/>
                </a:lnTo>
                <a:lnTo>
                  <a:pt x="0" y="9564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id="10" name="Runway wordmark"/>
          <p:cNvSpPr txBox="1"/>
          <p:nvPr/>
        </p:nvSpPr>
        <p:spPr>
          <a:xfrm>
            <a:off x="6935321" y="1660722"/>
            <a:ext cx="2133600" cy="635000"/>
          </a:xfrm>
          <a:prstGeom prst="rect">
            <a:avLst/>
          </a:prstGeom>
          <a:noFill/>
        </p:spPr>
        <p:txBody>
          <a:bodyPr wrap="square" lIns="0" rIns="0" tIns="0" bIns="0">
            <a:spAutoFit/>
          </a:bodyPr>
          <a:lstStyle/>
          <a:p>
            <a:r>
              <a:rPr sz="4000" b="1" spc="-240">
                <a:solidFill>
                  <a:srgbClr val="F2FFF9"/>
                </a:solidFill>
                <a:latin typeface="Segoe UI"/>
                <a:ea typeface="Segoe UI"/>
                <a:cs typeface="Segoe UI"/>
              </a:rPr>
              <a:t>runway</a:t>
            </a:r>
            <a:r>
              <a:rPr sz="4000" b="1" spc="-240">
                <a:solidFill>
                  <a:srgbClr val="A4D0B5"/>
                </a:solidFill>
                <a:latin typeface="Segoe UI"/>
                <a:ea typeface="Segoe UI"/>
                <a:cs typeface="Segoe UI"/>
              </a:rPr>
              <a:t>.</a:t>
            </a:r>
          </a:p>
        </p:txBody>
      </p:sp>
      <p:sp>
        <p:nvSpPr>
          <p:cNvPr id="11" name="TextBox 10"/>
          <p:cNvSpPr txBox="1"/>
          <p:nvPr/>
        </p:nvSpPr>
        <p:spPr>
          <a:xfrm>
            <a:off x="1746504" y="4434840"/>
            <a:ext cx="4754880" cy="411480"/>
          </a:xfrm>
          <a:prstGeom prst="rect">
            <a:avLst/>
          </a:prstGeom>
          <a:noFill/>
        </p:spPr>
        <p:txBody>
          <a:bodyPr wrap="square" lIns="0" rIns="0" tIns="0" bIns="0" anchor="t">
            <a:spAutoFit/>
          </a:bodyPr>
          <a:lstStyle/>
          <a:p>
            <a:pPr algn="l">
              <a:spcAft>
                <a:spcPts val="0"/>
              </a:spcAft>
            </a:pPr>
            <a:r>
              <a:rPr sz="2200" b="0">
                <a:solidFill>
                  <a:srgbClr val="56D5A2"/>
                </a:solidFill>
                <a:latin typeface="Open Sauce Light"/>
                <a:ea typeface="Open Sauce Light"/>
                <a:cs typeface="Open Sauce Light"/>
              </a:rPr>
              <a:t>TEAM HEXCELLENT</a:t>
            </a:r>
          </a:p>
        </p:txBody>
      </p:sp>
      <p:sp>
        <p:nvSpPr>
          <p:cNvPr id="12" name="TextBox 11"/>
          <p:cNvSpPr txBox="1"/>
          <p:nvPr/>
        </p:nvSpPr>
        <p:spPr>
          <a:xfrm>
            <a:off x="1746504" y="5029200"/>
            <a:ext cx="4754880" cy="411480"/>
          </a:xfrm>
          <a:prstGeom prst="rect">
            <a:avLst/>
          </a:prstGeom>
          <a:noFill/>
        </p:spPr>
        <p:txBody>
          <a:bodyPr wrap="square" lIns="0" rIns="0" tIns="0" bIns="0" anchor="t">
            <a:spAutoFit/>
          </a:bodyPr>
          <a:lstStyle/>
          <a:p>
            <a:pPr algn="l">
              <a:spcAft>
                <a:spcPts val="0"/>
              </a:spcAft>
            </a:pPr>
            <a:r>
              <a:rPr sz="2000" b="0">
                <a:solidFill>
                  <a:srgbClr val="F2FFF9"/>
                </a:solidFill>
                <a:latin typeface="Open Sauce Light"/>
                <a:ea typeface="Open Sauce Light"/>
                <a:cs typeface="Open Sauce Light"/>
              </a:rPr>
              <a:t>Voicu Delia-Andreea</a:t>
            </a:r>
          </a:p>
        </p:txBody>
      </p:sp>
      <p:sp>
        <p:nvSpPr>
          <p:cNvPr id="13" name="TextBox 12"/>
          <p:cNvSpPr txBox="1"/>
          <p:nvPr/>
        </p:nvSpPr>
        <p:spPr>
          <a:xfrm>
            <a:off x="1746504" y="5413248"/>
            <a:ext cx="4754880" cy="365760"/>
          </a:xfrm>
          <a:prstGeom prst="rect">
            <a:avLst/>
          </a:prstGeom>
          <a:noFill/>
        </p:spPr>
        <p:txBody>
          <a:bodyPr wrap="square" lIns="0" rIns="0" tIns="0" bIns="0" anchor="t">
            <a:spAutoFit/>
          </a:bodyPr>
          <a:lstStyle/>
          <a:p>
            <a:pPr algn="l">
              <a:spcAft>
                <a:spcPts val="0"/>
              </a:spcAft>
            </a:pPr>
            <a:r>
              <a:rPr sz="1500" b="0">
                <a:solidFill>
                  <a:srgbClr val="9FB5AB"/>
                </a:solidFill>
                <a:latin typeface="Open Sauce Light"/>
                <a:ea typeface="Open Sauce Light"/>
                <a:cs typeface="Open Sauce Light"/>
              </a:rPr>
              <a:t>Team leader</a:t>
            </a:r>
          </a:p>
        </p:txBody>
      </p:sp>
      <p:sp>
        <p:nvSpPr>
          <p:cNvPr id="14" name="TextBox 13"/>
          <p:cNvSpPr txBox="1"/>
          <p:nvPr/>
        </p:nvSpPr>
        <p:spPr>
          <a:xfrm>
            <a:off x="1746504" y="5897880"/>
            <a:ext cx="4754880" cy="411480"/>
          </a:xfrm>
          <a:prstGeom prst="rect">
            <a:avLst/>
          </a:prstGeom>
          <a:noFill/>
        </p:spPr>
        <p:txBody>
          <a:bodyPr wrap="square" lIns="0" rIns="0" tIns="0" bIns="0" anchor="t">
            <a:spAutoFit/>
          </a:bodyPr>
          <a:lstStyle/>
          <a:p>
            <a:pPr algn="l">
              <a:spcAft>
                <a:spcPts val="0"/>
              </a:spcAft>
            </a:pPr>
            <a:r>
              <a:rPr sz="2000" b="0">
                <a:solidFill>
                  <a:srgbClr val="F2FFF9"/>
                </a:solidFill>
                <a:latin typeface="Open Sauce Light"/>
                <a:ea typeface="Open Sauce Light"/>
                <a:cs typeface="Open Sauce Light"/>
              </a:rPr>
              <a:t>Georgescu Gabriel</a:t>
            </a:r>
          </a:p>
        </p:txBody>
      </p:sp>
      <p:sp>
        <p:nvSpPr>
          <p:cNvPr id="15" name="TextBox 14"/>
          <p:cNvSpPr txBox="1"/>
          <p:nvPr/>
        </p:nvSpPr>
        <p:spPr>
          <a:xfrm>
            <a:off x="1746504" y="6281928"/>
            <a:ext cx="4754880" cy="365760"/>
          </a:xfrm>
          <a:prstGeom prst="rect">
            <a:avLst/>
          </a:prstGeom>
          <a:noFill/>
        </p:spPr>
        <p:txBody>
          <a:bodyPr wrap="square" lIns="0" rIns="0" tIns="0" bIns="0" anchor="t">
            <a:spAutoFit/>
          </a:bodyPr>
          <a:lstStyle/>
          <a:p>
            <a:pPr algn="l">
              <a:spcAft>
                <a:spcPts val="0"/>
              </a:spcAft>
            </a:pPr>
            <a:r>
              <a:rPr sz="1500" b="0">
                <a:solidFill>
                  <a:srgbClr val="9FB5AB"/>
                </a:solidFill>
                <a:latin typeface="Open Sauce Light"/>
                <a:ea typeface="Open Sauce Light"/>
                <a:cs typeface="Open Sauce Light"/>
              </a:rPr>
              <a:t>Team member</a:t>
            </a:r>
          </a:p>
        </p:txBody>
      </p:sp>
      <p:sp>
        <p:nvSpPr>
          <p:cNvPr id="16" name="TextBox 15"/>
          <p:cNvSpPr txBox="1"/>
          <p:nvPr/>
        </p:nvSpPr>
        <p:spPr>
          <a:xfrm>
            <a:off x="1746504" y="6766560"/>
            <a:ext cx="4754880" cy="411480"/>
          </a:xfrm>
          <a:prstGeom prst="rect">
            <a:avLst/>
          </a:prstGeom>
          <a:noFill/>
        </p:spPr>
        <p:txBody>
          <a:bodyPr wrap="square" lIns="0" rIns="0" tIns="0" bIns="0" anchor="t">
            <a:spAutoFit/>
          </a:bodyPr>
          <a:lstStyle/>
          <a:p>
            <a:pPr algn="l">
              <a:spcAft>
                <a:spcPts val="0"/>
              </a:spcAft>
            </a:pPr>
            <a:r>
              <a:rPr sz="2000" b="0">
                <a:solidFill>
                  <a:srgbClr val="F2FFF9"/>
                </a:solidFill>
                <a:latin typeface="Open Sauce Light"/>
                <a:ea typeface="Open Sauce Light"/>
                <a:cs typeface="Open Sauce Light"/>
              </a:rPr>
              <a:t>Tomescu Vlad-Costin</a:t>
            </a:r>
          </a:p>
        </p:txBody>
      </p:sp>
      <p:sp>
        <p:nvSpPr>
          <p:cNvPr id="17" name="TextBox 16"/>
          <p:cNvSpPr txBox="1"/>
          <p:nvPr/>
        </p:nvSpPr>
        <p:spPr>
          <a:xfrm>
            <a:off x="1746504" y="7150608"/>
            <a:ext cx="4754880" cy="365760"/>
          </a:xfrm>
          <a:prstGeom prst="rect">
            <a:avLst/>
          </a:prstGeom>
          <a:noFill/>
        </p:spPr>
        <p:txBody>
          <a:bodyPr wrap="square" lIns="0" rIns="0" tIns="0" bIns="0" anchor="t">
            <a:spAutoFit/>
          </a:bodyPr>
          <a:lstStyle/>
          <a:p>
            <a:pPr algn="l">
              <a:spcAft>
                <a:spcPts val="0"/>
              </a:spcAft>
            </a:pPr>
            <a:r>
              <a:rPr sz="1500" b="0">
                <a:solidFill>
                  <a:srgbClr val="9FB5AB"/>
                </a:solidFill>
                <a:latin typeface="Open Sauce Light"/>
                <a:ea typeface="Open Sauce Light"/>
                <a:cs typeface="Open Sauce Light"/>
              </a:rPr>
              <a:t>Team member</a:t>
            </a:r>
          </a:p>
        </p:txBody>
      </p:sp>
      <p:sp>
        <p:nvSpPr>
          <p:cNvPr id="18" name="TextBox 17"/>
          <p:cNvSpPr txBox="1"/>
          <p:nvPr/>
        </p:nvSpPr>
        <p:spPr>
          <a:xfrm>
            <a:off x="1746504" y="7818120"/>
            <a:ext cx="4754880" cy="365760"/>
          </a:xfrm>
          <a:prstGeom prst="rect">
            <a:avLst/>
          </a:prstGeom>
          <a:noFill/>
        </p:spPr>
        <p:txBody>
          <a:bodyPr wrap="square" lIns="0" rIns="0" tIns="0" bIns="0" anchor="t">
            <a:spAutoFit/>
          </a:bodyPr>
          <a:lstStyle/>
          <a:p>
            <a:pPr algn="l">
              <a:spcAft>
                <a:spcPts val="0"/>
              </a:spcAft>
            </a:pPr>
            <a:r>
              <a:rPr sz="1500" b="0">
                <a:solidFill>
                  <a:srgbClr val="9FB5AB"/>
                </a:solidFill>
                <a:latin typeface="Open Sauce Light"/>
                <a:ea typeface="Open Sauce Light"/>
                <a:cs typeface="Open Sauce Light"/>
              </a:rPr>
              <a:t>Politehnica Bucharest</a:t>
            </a:r>
          </a:p>
        </p:txBody>
      </p:sp>
      <p:sp>
        <p:nvSpPr>
          <p:cNvPr id="19" name="TextBox 18"/>
          <p:cNvSpPr txBox="1"/>
          <p:nvPr/>
        </p:nvSpPr>
        <p:spPr>
          <a:xfrm>
            <a:off x="6931152" y="4343400"/>
            <a:ext cx="9875520" cy="1097280"/>
          </a:xfrm>
          <a:prstGeom prst="rect">
            <a:avLst/>
          </a:prstGeom>
          <a:noFill/>
        </p:spPr>
        <p:txBody>
          <a:bodyPr wrap="square" lIns="0" rIns="0" tIns="0" bIns="0" anchor="t">
            <a:spAutoFit/>
          </a:bodyPr>
          <a:lstStyle/>
          <a:p>
            <a:pPr algn="l">
              <a:spcAft>
                <a:spcPts val="0"/>
              </a:spcAft>
            </a:pPr>
            <a:r>
              <a:rPr sz="8000" b="0">
                <a:solidFill>
                  <a:srgbClr val="F2FFF9"/>
                </a:solidFill>
                <a:latin typeface="Open Sauce"/>
                <a:ea typeface="Open Sauce"/>
                <a:cs typeface="Open Sauce"/>
              </a:rPr>
              <a:t>THANK YOU</a:t>
            </a:r>
          </a:p>
        </p:txBody>
      </p:sp>
      <p:sp>
        <p:nvSpPr>
          <p:cNvPr id="20" name="TextBox 19"/>
          <p:cNvSpPr txBox="1"/>
          <p:nvPr/>
        </p:nvSpPr>
        <p:spPr>
          <a:xfrm>
            <a:off x="6931152" y="5577840"/>
            <a:ext cx="9692640" cy="548640"/>
          </a:xfrm>
          <a:prstGeom prst="rect">
            <a:avLst/>
          </a:prstGeom>
          <a:noFill/>
        </p:spPr>
        <p:txBody>
          <a:bodyPr wrap="square" lIns="0" rIns="0" tIns="0" bIns="0" anchor="t">
            <a:spAutoFit/>
          </a:bodyPr>
          <a:lstStyle/>
          <a:p>
            <a:pPr algn="l">
              <a:spcAft>
                <a:spcPts val="0"/>
              </a:spcAft>
            </a:pPr>
            <a:r>
              <a:rPr sz="2600" b="0">
                <a:solidFill>
                  <a:srgbClr val="56D5A2"/>
                </a:solidFill>
                <a:latin typeface="Open Sauce"/>
                <a:ea typeface="Open Sauce"/>
                <a:cs typeface="Open Sauce"/>
              </a:rPr>
              <a:t>The agent proposes. Code enforces. Humans decide.</a:t>
            </a:r>
          </a:p>
        </p:txBody>
      </p:sp>
      <p:sp>
        <p:nvSpPr>
          <p:cNvPr id="21" name="TextBox 20"/>
          <p:cNvSpPr txBox="1"/>
          <p:nvPr/>
        </p:nvSpPr>
        <p:spPr>
          <a:xfrm>
            <a:off x="6931152" y="6675120"/>
            <a:ext cx="2194560" cy="457200"/>
          </a:xfrm>
          <a:prstGeom prst="rect">
            <a:avLst/>
          </a:prstGeom>
          <a:noFill/>
        </p:spPr>
        <p:txBody>
          <a:bodyPr wrap="square" lIns="0" rIns="0" tIns="0" bIns="0" anchor="t">
            <a:spAutoFit/>
          </a:bodyPr>
          <a:lstStyle/>
          <a:p>
            <a:pPr algn="l">
              <a:spcAft>
                <a:spcPts val="0"/>
              </a:spcAft>
            </a:pPr>
            <a:r>
              <a:rPr sz="1800" b="0">
                <a:solidFill>
                  <a:srgbClr val="F2F99E"/>
                </a:solidFill>
                <a:latin typeface="Open Sauce Light"/>
                <a:ea typeface="Open Sauce Light"/>
                <a:cs typeface="Open Sauce Light"/>
              </a:rPr>
              <a:t>GITHUB</a:t>
            </a:r>
          </a:p>
        </p:txBody>
      </p:sp>
      <p:sp>
        <p:nvSpPr>
          <p:cNvPr id="22" name="TextBox 21"/>
          <p:cNvSpPr txBox="1"/>
          <p:nvPr/>
        </p:nvSpPr>
        <p:spPr>
          <a:xfrm>
            <a:off x="9144000" y="6675120"/>
            <a:ext cx="7315200" cy="457200"/>
          </a:xfrm>
          <a:prstGeom prst="rect">
            <a:avLst/>
          </a:prstGeom>
          <a:noFill/>
        </p:spPr>
        <p:txBody>
          <a:bodyPr wrap="square" lIns="0" rIns="0" tIns="0" bIns="0" anchor="t">
            <a:spAutoFit/>
          </a:bodyPr>
          <a:lstStyle/>
          <a:p>
            <a:pPr algn="l">
              <a:spcAft>
                <a:spcPts val="0"/>
              </a:spcAft>
            </a:pPr>
            <a:r>
              <a:rPr sz="2000" b="0">
                <a:solidFill>
                  <a:srgbClr val="F2FFF9"/>
                </a:solidFill>
                <a:latin typeface="Open Sauce"/>
                <a:ea typeface="Open Sauce"/>
                <a:cs typeface="Open Sauce"/>
              </a:rPr>
              <a:t>github.com/gabi200/runway</a:t>
            </a:r>
          </a:p>
        </p:txBody>
      </p:sp>
      <p:sp>
        <p:nvSpPr>
          <p:cNvPr id="23" name="TextBox 22"/>
          <p:cNvSpPr txBox="1"/>
          <p:nvPr/>
        </p:nvSpPr>
        <p:spPr>
          <a:xfrm>
            <a:off x="6931152" y="7406640"/>
            <a:ext cx="2194560" cy="457200"/>
          </a:xfrm>
          <a:prstGeom prst="rect">
            <a:avLst/>
          </a:prstGeom>
          <a:noFill/>
        </p:spPr>
        <p:txBody>
          <a:bodyPr wrap="square" lIns="0" rIns="0" tIns="0" bIns="0" anchor="t">
            <a:spAutoFit/>
          </a:bodyPr>
          <a:lstStyle/>
          <a:p>
            <a:pPr algn="l">
              <a:spcAft>
                <a:spcPts val="0"/>
              </a:spcAft>
            </a:pPr>
            <a:r>
              <a:rPr sz="1800" b="0">
                <a:solidFill>
                  <a:srgbClr val="F2F99E"/>
                </a:solidFill>
                <a:latin typeface="Open Sauce Light"/>
                <a:ea typeface="Open Sauce Light"/>
                <a:cs typeface="Open Sauce Light"/>
              </a:rPr>
              <a:t>DEMO VIDEO</a:t>
            </a:r>
          </a:p>
        </p:txBody>
      </p:sp>
      <p:sp>
        <p:nvSpPr>
          <p:cNvPr id="24" name="TextBox 23"/>
          <p:cNvSpPr txBox="1"/>
          <p:nvPr/>
        </p:nvSpPr>
        <p:spPr>
          <a:xfrm>
            <a:off x="9144000" y="7406640"/>
            <a:ext cx="7315200" cy="457200"/>
          </a:xfrm>
          <a:prstGeom prst="rect">
            <a:avLst/>
          </a:prstGeom>
          <a:noFill/>
        </p:spPr>
        <p:txBody>
          <a:bodyPr wrap="square" lIns="0" rIns="0" tIns="0" bIns="0" anchor="t">
            <a:spAutoFit/>
          </a:bodyPr>
          <a:lstStyle/>
          <a:p>
            <a:pPr algn="l">
              <a:spcAft>
                <a:spcPts val="0"/>
              </a:spcAft>
            </a:pPr>
            <a:r>
              <a:rPr sz="2000" b="0">
                <a:solidFill>
                  <a:srgbClr val="F2FFF9"/>
                </a:solidFill>
                <a:latin typeface="Open Sauce Light"/>
                <a:ea typeface="Open Sauce Light"/>
                <a:cs typeface="Open Sauce Light"/>
              </a:rPr>
              <a:t>included with our submission</a:t>
            </a:r>
          </a:p>
        </p:txBody>
      </p:sp>
      <p:sp>
        <p:nvSpPr>
          <p:cNvPr id="25" name="TextBox 24"/>
          <p:cNvSpPr txBox="1"/>
          <p:nvPr/>
        </p:nvSpPr>
        <p:spPr>
          <a:xfrm>
            <a:off x="6931152" y="8138160"/>
            <a:ext cx="2194560" cy="457200"/>
          </a:xfrm>
          <a:prstGeom prst="rect">
            <a:avLst/>
          </a:prstGeom>
          <a:noFill/>
        </p:spPr>
        <p:txBody>
          <a:bodyPr wrap="square" lIns="0" rIns="0" tIns="0" bIns="0" anchor="t">
            <a:spAutoFit/>
          </a:bodyPr>
          <a:lstStyle/>
          <a:p>
            <a:pPr algn="l">
              <a:spcAft>
                <a:spcPts val="0"/>
              </a:spcAft>
            </a:pPr>
            <a:r>
              <a:rPr sz="1800" b="0">
                <a:solidFill>
                  <a:srgbClr val="F2F99E"/>
                </a:solidFill>
                <a:latin typeface="Open Sauce Light"/>
                <a:ea typeface="Open Sauce Light"/>
                <a:cs typeface="Open Sauce Light"/>
              </a:rPr>
              <a:t>QUESTIONS</a:t>
            </a:r>
          </a:p>
        </p:txBody>
      </p:sp>
      <p:sp>
        <p:nvSpPr>
          <p:cNvPr id="26" name="TextBox 25"/>
          <p:cNvSpPr txBox="1"/>
          <p:nvPr/>
        </p:nvSpPr>
        <p:spPr>
          <a:xfrm>
            <a:off x="9144000" y="8138160"/>
            <a:ext cx="7315200" cy="457200"/>
          </a:xfrm>
          <a:prstGeom prst="rect">
            <a:avLst/>
          </a:prstGeom>
          <a:noFill/>
        </p:spPr>
        <p:txBody>
          <a:bodyPr wrap="square" lIns="0" rIns="0" tIns="0" bIns="0" anchor="t">
            <a:spAutoFit/>
          </a:bodyPr>
          <a:lstStyle/>
          <a:p>
            <a:pPr algn="l">
              <a:spcAft>
                <a:spcPts val="0"/>
              </a:spcAft>
            </a:pPr>
            <a:r>
              <a:rPr sz="2000" b="0">
                <a:solidFill>
                  <a:srgbClr val="F2FFF9"/>
                </a:solidFill>
                <a:latin typeface="Open Sauce Light"/>
                <a:ea typeface="Open Sauce Light"/>
                <a:cs typeface="Open Sauce Light"/>
              </a:rPr>
              <a:t>we are happy to take them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DAHYRAtTKCg</dc:identifier>
  <dcterms:modified xsi:type="dcterms:W3CDTF">2011-08-01T06:04:30Z</dcterms:modified>
  <cp:revision>1</cp:revision>
  <dc:title>Green Black and White Corporate Fintech Presentation</dc:title>
</cp:coreProperties>
</file>