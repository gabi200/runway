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3.svg" ContentType="image/svg+xml"/>
  <Override PartName="/ppt/media/image18.svg" ContentType="image/svg+xml"/>
  <Override PartName="/ppt/media/image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6" r:id="rId19"/>
    <p:sldId id="267" r:id="rId20"/>
    <p:sldId id="268" r:id="rId21"/>
    <p:sldId id="269" r:id="rId22"/>
    <p:sldId id="270" r:id="rId23"/>
    <p:sldId id="271" r:id="rId24"/>
    <p:sldId id="272" r:id="rId25"/>
    <p:sldId id="273" r:id="rId26"/>
    <p:sldId id="274" r:id="rId27"/>
    <p:sldId id="275" r:id="rId28"/>
    <p:sldId id="276" r:id="rId29"/>
  </p:sldIdLst>
  <p:sldSz cx="18288000" cy="10287000"/>
  <p:notesSz cx="6858000" cy="9144000"/>
  <p:embeddedFontLst>
    <p:embeddedFont>
      <p:font typeface="Open Sauce Light" charset="1" panose="00000400000000000000"/>
      <p:regular r:id="rId16"/>
    </p:embeddedFont>
    <p:embeddedFont>
      <p:font typeface="Open Sauce" charset="1" panose="00000500000000000000"/>
      <p:regular r:id="rId17"/>
    </p:embeddedFont>
    <p:embeddedFont>
      <p:font typeface="Open Sauce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5" Type="http://schemas.openxmlformats.org/officeDocument/2006/relationships/notesMaster" Target="notesMasters/notesMaster1.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0">
                <a:solidFill>
                  <a:srgbClr val="9FB5AB"/>
                </a:solidFill>
                <a:latin typeface="Open Sauce Light"/>
                <a:ea typeface="Open Sauce Light"/>
                <a:cs typeface="Open Sauce Light"/>
              </a:rPr>
              <a:t>Lowest running balance in each week, € thousands</a:t>
            </a:r>
          </a:p>
        </c:rich>
      </c:tx>
      <c:layout/>
      <c:overlay val="0"/>
    </c:title>
    <c:autoTitleDeleted val="0"/>
    <c:plotArea>
      <c:barChart>
        <c:barDir val="col"/>
        <c:grouping val="clustered"/>
        <c:ser>
          <c:idx val="0"/>
          <c:order val="0"/>
          <c:tx>
            <c:strRef>
              <c:f>Sheet1!$B$1</c:f>
              <c:strCache>
                <c:ptCount val="1"/>
                <c:pt idx="0">
                  <c:v>Lowest balance in week (EUR k)</c:v>
                </c:pt>
              </c:strCache>
            </c:strRef>
          </c:tx>
          <c:invertIfNegative val="0"/>
          <c:dPt>
            <c:idx val="0"/>
            <c:spPr>
              <a:solidFill>
                <a:srgbClr val="2E9D71"/>
              </a:solidFill>
            </c:spPr>
          </c:dPt>
          <c:dPt>
            <c:idx val="1"/>
            <c:spPr>
              <a:solidFill>
                <a:srgbClr val="2E9D71"/>
              </a:solidFill>
            </c:spPr>
          </c:dPt>
          <c:dPt>
            <c:idx val="2"/>
            <c:spPr>
              <a:solidFill>
                <a:srgbClr val="2E9D71"/>
              </a:solidFill>
            </c:spPr>
          </c:dPt>
          <c:dPt>
            <c:idx val="3"/>
            <c:spPr>
              <a:solidFill>
                <a:srgbClr val="2E9D71"/>
              </a:solidFill>
            </c:spPr>
          </c:dPt>
          <c:dPt>
            <c:idx val="4"/>
            <c:spPr>
              <a:solidFill>
                <a:srgbClr val="2E9D71"/>
              </a:solidFill>
            </c:spPr>
          </c:dPt>
          <c:dPt>
            <c:idx val="5"/>
            <c:spPr>
              <a:solidFill>
                <a:srgbClr val="F2F99E"/>
              </a:solidFill>
            </c:spPr>
          </c:dPt>
          <c:dPt>
            <c:idx val="6"/>
            <c:spPr>
              <a:solidFill>
                <a:srgbClr val="2E9D71"/>
              </a:solidFill>
            </c:spPr>
          </c:dPt>
          <c:dPt>
            <c:idx val="7"/>
            <c:spPr>
              <a:solidFill>
                <a:srgbClr val="2E9D71"/>
              </a:solidFill>
            </c:spPr>
          </c:dPt>
          <c:dPt>
            <c:idx val="8"/>
            <c:spPr>
              <a:solidFill>
                <a:srgbClr val="2E9D71"/>
              </a:solidFill>
            </c:spPr>
          </c:dPt>
          <c:dPt>
            <c:idx val="9"/>
            <c:spPr>
              <a:solidFill>
                <a:srgbClr val="F2F99E"/>
              </a:solidFill>
            </c:spPr>
          </c:dPt>
          <c:dPt>
            <c:idx val="10"/>
            <c:spPr>
              <a:solidFill>
                <a:srgbClr val="2E9D71"/>
              </a:solidFill>
            </c:spPr>
          </c:dPt>
          <c:dPt>
            <c:idx val="11"/>
            <c:spPr>
              <a:solidFill>
                <a:srgbClr val="2E9D71"/>
              </a:solidFill>
            </c:spPr>
          </c:dPt>
          <c:dPt>
            <c:idx val="12"/>
            <c:spPr>
              <a:solidFill>
                <a:srgbClr val="2E9D71"/>
              </a:solidFill>
            </c:spPr>
          </c:dPt>
          <c:dLbls>
            <c:dLbl>
              <c:idx val="5"/>
              <c:tx>
                <c:rich>
                  <a:bodyPr/>
                  <a:lstStyle/>
                  <a:p>
                    <a:r>
                      <a:rPr sz="1600" b="0">
                        <a:solidFill>
                          <a:srgbClr val="F2F99E"/>
                        </a:solidFill>
                        <a:latin typeface="Open Sauce"/>
                        <a:ea typeface="Open Sauce"/>
                        <a:cs typeface="Open Sauce"/>
                      </a:rPr>
                      <a:t>-6.3k</a:t>
                    </a:r>
                  </a:p>
                </c:rich>
              </c:tx>
              <c:dLblPos val="outEnd"/>
              <c:showLegendKey val="0"/>
              <c:showVal val="1"/>
              <c:showCatName val="0"/>
              <c:showSerName val="0"/>
              <c:showPercent val="0"/>
              <c:showBubbleSize val="0"/>
            </c:dLbl>
            <c:dLbl>
              <c:idx val="9"/>
              <c:tx>
                <c:rich>
                  <a:bodyPr/>
                  <a:lstStyle/>
                  <a:p>
                    <a:r>
                      <a:rPr sz="1600" b="0">
                        <a:solidFill>
                          <a:srgbClr val="F2F99E"/>
                        </a:solidFill>
                        <a:latin typeface="Open Sauce"/>
                        <a:ea typeface="Open Sauce"/>
                        <a:cs typeface="Open Sauce"/>
                      </a:rPr>
                      <a:t>-9.5k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Sheet1!$A$2:$A$14</c:f>
              <c:strCache>
                <c:ptCount val="13"/>
                <c:pt idx="0">
                  <c:v>W1</c:v>
                </c:pt>
                <c:pt idx="1">
                  <c:v>W2</c:v>
                </c:pt>
                <c:pt idx="2">
                  <c:v>W3</c:v>
                </c:pt>
                <c:pt idx="3">
                  <c:v>W4</c:v>
                </c:pt>
                <c:pt idx="4">
                  <c:v>W5</c:v>
                </c:pt>
                <c:pt idx="5">
                  <c:v>W6</c:v>
                </c:pt>
                <c:pt idx="6">
                  <c:v>W7</c:v>
                </c:pt>
                <c:pt idx="7">
                  <c:v>W8</c:v>
                </c:pt>
                <c:pt idx="8">
                  <c:v>W9</c:v>
                </c:pt>
                <c:pt idx="9">
                  <c:v>W10</c:v>
                </c:pt>
                <c:pt idx="10">
                  <c:v>W11</c:v>
                </c:pt>
                <c:pt idx="11">
                  <c:v>W12</c:v>
                </c:pt>
                <c:pt idx="12">
                  <c:v>W13</c:v>
                </c:pt>
              </c:strCache>
            </c:strRef>
          </c:cat>
          <c:val>
            <c:numRef>
              <c:f>Sheet1!$B$2:$B$14</c:f>
              <c:numCache>
                <c:formatCode>General</c:formatCode>
                <c:ptCount val="13"/>
                <c:pt idx="0">
                  <c:v>60.5</c:v>
                </c:pt>
                <c:pt idx="1">
                  <c:v>60.5</c:v>
                </c:pt>
                <c:pt idx="2">
                  <c:v>78.5</c:v>
                </c:pt>
                <c:pt idx="3">
                  <c:v>87.7</c:v>
                </c:pt>
                <c:pt idx="4">
                  <c:v>60.2</c:v>
                </c:pt>
                <c:pt idx="5">
                  <c:v>-6.3</c:v>
                </c:pt>
                <c:pt idx="6">
                  <c:v>75.7</c:v>
                </c:pt>
                <c:pt idx="7">
                  <c:v>57.1</c:v>
                </c:pt>
                <c:pt idx="8">
                  <c:v>57.1</c:v>
                </c:pt>
                <c:pt idx="9">
                  <c:v>-9.5</c:v>
                </c:pt>
                <c:pt idx="10">
                  <c:v>77.5</c:v>
                </c:pt>
                <c:pt idx="11">
                  <c:v>74.5</c:v>
                </c:pt>
                <c:pt idx="12">
                  <c:v>70.9</c:v>
                </c:pt>
              </c:numCache>
            </c:numRef>
          </c:val>
        </c:ser>
        <c:gapWidth val="45"/>
        <c:axId val="-2068027336"/>
        <c:axId val="-2113994440"/>
      </c:barChart>
      <c:catAx>
        <c:axId val="-2068027336"/>
        <c:scaling>
          <c:orientation val="minMax"/>
        </c:scaling>
        <c:delete val="0"/>
        <c:axPos val="b"/>
        <c:majorTickMark val="out"/>
        <c:minorTickMark val="none"/>
        <c:tickLblPos val="low"/>
        <c:spPr>
          <a:ln>
            <a:solidFill>
              <a:srgbClr val="5A6B63"/>
            </a:solidFill>
          </a:ln>
        </c:spPr>
        <c:txPr>
          <a:bodyPr/>
          <a:lstStyle/>
          <a:p>
            <a:pPr>
              <a:defRPr sz="1400">
                <a:solidFill>
                  <a:srgbClr val="9FB5AB"/>
                </a:solidFill>
              </a:defRPr>
            </a:pPr>
          </a:p>
        </c:txPr>
        <c:crossAx val="-2113994440"/>
        <c:crosses val="autoZero"/>
        <c:auto val="1"/>
        <c:lblAlgn val="ctr"/>
        <c:lblOffset val="100"/>
        <c:noMultiLvlLbl val="0"/>
      </c:catAx>
      <c:valAx>
        <c:axId val="-2113994440"/>
        <c:scaling/>
        <c:delete val="0"/>
        <c:axPos val="l"/>
        <c:majorGridlines>
          <c:spPr>
            <a:ln>
              <a:solidFill>
                <a:srgbClr val="222A26"/>
              </a:solidFill>
            </a:ln>
          </c:spPr>
        </c:majorGridlines>
        <c:majorTickMark val="out"/>
        <c:minorTickMark val="none"/>
        <c:tickLblPos val="nextTo"/>
        <c:spPr>
          <a:ln>
            <a:noFill/>
          </a:ln>
        </c:spPr>
        <c:txPr>
          <a:bodyPr/>
          <a:lstStyle/>
          <a:p>
            <a:pPr>
              <a:defRPr sz="1400">
                <a:solidFill>
                  <a:srgbClr val="9FB5AB"/>
                </a:solidFill>
              </a:defRPr>
            </a:pPr>
          </a:p>
        </c:txPr>
        <c:crossAx val="-2068027336"/>
        <c:crosses val="autoZero"/>
      </c:valAx>
    </c:plotArea>
    <c:dispBlanksAs val="gap"/>
  </c:chart>
  <c:txPr>
    <a:bodyPr/>
    <a:lstStyle/>
    <a:p>
      <a:pPr>
        <a:defRPr sz="1600">
          <a:solidFill>
            <a:srgbClr val="F2FFF9"/>
          </a:solidFill>
          <a:latin typeface="Open Sauce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0">
                <a:solidFill>
                  <a:srgbClr val="9FB5AB"/>
                </a:solidFill>
                <a:latin typeface="Open Sauce Light"/>
                <a:ea typeface="Open Sauce Light"/>
                <a:cs typeface="Open Sauce Light"/>
              </a:rPr>
              <a:t>True cost of €10,000 for 31 days, €</a:t>
            </a:r>
          </a:p>
        </c:rich>
      </c:tx>
      <c:layout/>
      <c:overlay val="0"/>
    </c:title>
    <c:autoTitleDeleted val="0"/>
    <c:plotArea>
      <c:barChart>
        <c:barDir val="bar"/>
        <c:grouping val="clustered"/>
        <c:ser>
          <c:idx val="0"/>
          <c:order val="0"/>
          <c:tx>
            <c:strRef>
              <c:f>Sheet1!$B$1</c:f>
              <c:strCache>
                <c:ptCount val="1"/>
                <c:pt idx="0">
                  <c:v>True cost (EUR)</c:v>
                </c:pt>
              </c:strCache>
            </c:strRef>
          </c:tx>
          <c:dPt>
            <c:idx val="0"/>
            <c:spPr>
              <a:solidFill>
                <a:srgbClr val="3E5E51"/>
              </a:solidFill>
            </c:spPr>
          </c:dPt>
          <c:dPt>
            <c:idx val="1"/>
            <c:spPr>
              <a:solidFill>
                <a:srgbClr val="3E5E51"/>
              </a:solidFill>
            </c:spPr>
          </c:dPt>
          <c:dPt>
            <c:idx val="2"/>
            <c:spPr>
              <a:solidFill>
                <a:srgbClr val="3E5E51"/>
              </a:solidFill>
            </c:spPr>
          </c:dPt>
          <c:dPt>
            <c:idx val="3"/>
            <c:spPr>
              <a:solidFill>
                <a:srgbClr val="3E5E51"/>
              </a:solidFill>
            </c:spPr>
          </c:dPt>
          <c:dPt>
            <c:idx val="4"/>
            <c:spPr>
              <a:solidFill>
                <a:srgbClr val="56D5A2"/>
              </a:solidFill>
            </c:spPr>
          </c:dPt>
          <c:cat>
            <c:strRef>
              <c:f>Sheet1!$A$2:$A$6</c:f>
              <c:strCache>
                <c:ptCount val="5"/>
                <c:pt idx="0">
                  <c:v>State-guaranteed loan · cash 10 Nov</c:v>
                </c:pt>
                <c:pt idx="1">
                  <c:v>Short-term loan · cash 25 Oct</c:v>
                </c:pt>
                <c:pt idx="2">
                  <c:v>Overdraft · cash 21 Oct</c:v>
                </c:pt>
                <c:pt idx="3">
                  <c:v>Invoice financing · cash 22 Oct</c:v>
                </c:pt>
                <c:pt idx="4">
                  <c:v>Supply-chain finance · cash 24 Oct</c:v>
                </c:pt>
              </c:strCache>
            </c:strRef>
          </c:cat>
          <c:val>
            <c:numRef>
              <c:f>Sheet1!$B$2:$B$6</c:f>
              <c:numCache>
                <c:formatCode>General</c:formatCode>
                <c:ptCount val="5"/>
                <c:pt idx="0">
                  <c:v>700.0</c:v>
                </c:pt>
                <c:pt idx="1">
                  <c:v>551.23</c:v>
                </c:pt>
                <c:pt idx="2">
                  <c:v>301.92</c:v>
                </c:pt>
                <c:pt idx="3">
                  <c:v>300.0</c:v>
                </c:pt>
                <c:pt idx="4">
                  <c:v>120.0</c:v>
                </c:pt>
              </c:numCache>
            </c:numRef>
          </c:val>
        </c:ser>
        <c:dLbls>
          <c:numFmt formatCode="#,##0.00" sourceLinked="0"/>
          <c:txPr>
            <a:bodyPr/>
            <a:lstStyle/>
            <a:p>
              <a:pPr>
                <a:defRPr sz="1600">
                  <a:solidFill>
                    <a:srgbClr val="F2FFF9"/>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5A6B63"/>
            </a:solidFill>
          </a:ln>
        </c:spPr>
        <c:txPr>
          <a:bodyPr/>
          <a:lstStyle/>
          <a:p>
            <a:pPr>
              <a:defRPr sz="1500">
                <a:solidFill>
                  <a:srgbClr val="F2FFF9"/>
                </a:solidFill>
              </a:defRPr>
            </a:pPr>
          </a:p>
        </c:txPr>
        <c:crossAx val="-2113994440"/>
        <c:crosses val="autoZero"/>
        <c:auto val="1"/>
        <c:lblAlgn val="ctr"/>
        <c:lblOffset val="100"/>
        <c:noMultiLvlLbl val="0"/>
      </c:catAx>
      <c:valAx>
        <c:axId val="-2113994440"/>
        <c:scaling>
          <c:max val="900.0"/>
        </c:scaling>
        <c:delete/>
        <c:axPos val="b"/>
        <c:majorTickMark val="out"/>
        <c:minorTickMark val="none"/>
        <c:tickLblPos val="nextTo"/>
        <c:crossAx val="-2068027336"/>
        <c:crosses val="autoZero"/>
      </c:valAx>
    </c:plotArea>
    <c:dispBlanksAs val="gap"/>
  </c:chart>
  <c:txPr>
    <a:bodyPr/>
    <a:lstStyle/>
    <a:p>
      <a:pPr>
        <a:defRPr sz="1600">
          <a:solidFill>
            <a:srgbClr val="F2FFF9"/>
          </a:solidFill>
          <a:latin typeface="Open Sauce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Hi, we are Team Hexcellent from Politehnica Bucharest. Runway is an AI copilot that keeps small businesses from running out of cash: it forecasts, warns early, finds financing and prepares the application, under limits you can see. All data in the demo is fictional.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Small businesses rarely fail because they are unprofitable. They fail in the gap between paying their own bills and being paid. The hidden cause is late-paying customers. Our demo company, Lumen Packaging, 20 employees, sells 65 percent of its output to one appliance maker that pays 75 days after invoice. Payroll, VAT and the paperboard supplier do not wait.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Runway is one agent that does four jobs. It forecasts cash 13 weeks ahead, alerts early when the balance will go below zero, matches financing to the need, and prepares the application. It also chases overdue customers and can move a non-critical supplier payment. It works with the owner and the external accountant, and it runs on a cloud model, a local model or completely offline.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agent, a cloud model, a local Ollama model or the offline planner, only requests tools. Names, e-mails and IBANs are masked before any model call. Every request goes through one executor: the rules engine, plain Python with no AI, says allow, ask a human, or deny; the decision is written to a hash-chained audit log before anything runs; only then does a tool touch the mock bank, which has its own token scopes and checks. The model never holds a bank credential, and there is no tool that can add or change a payee or an IBAN.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Plain Python builds the forecast from the trial balance and the bank statement, and walks the balance day by day, payments before receipts. Each expected receipt is moved by that customer's own average lateness: in this data Brightfield pays on its due date, day 75, so no shift is needed, but a late payer would be moved automatically. The result: from 115,100 euros today, the company is profitable yet goes below zero twice: minus 6,303 euros on 25 November, when payroll and VAT leave three days before Brightfield pays, and minus 9,495 euros on Christmas Day. Any number can be clicked to show the ledger rows it comes from; if a figure cannot be traced, it is not shown.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need is computed by a tool, not by the model: 10,000 euros from 25 November for 31 days. Before borrowing, it checks the cheaper fixes: here no customer is overdue and no payment can safely move, and it says so. Runway checks each product's eligibility, for example supply-chain finance only against the big customer's invoices, and ranks every option by true cost with its cash date. All five options arrive in time. Cheapest: supply-chain finance at 120 euros; the state-guaranteed loan is last at 700. It then prepares the application PDF; the agent never submits it. And any amount or action in a reply that no tool result or document backs up gets a visible 'Check by Runway' note.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Five permission tiers. Reading and analysis are automatic and logged. Low-risk actions, reminders and small payments backed by an invoice, are automatic within hard daily and weekly caps. Anything material waits for named humans, each signed in with their own PIN; above 5,000 euros it needs both owner and accountant from two sessions. An optional review team of AI agents can comment, but never approve. The dangerous actions do not exist as tools. And before anything reaches a language model, names, e-mails and IBANs are replaced by placeholders. The kill switch drops the agent to read-only at once.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Everything the agent and the people do lands in a hash-chained audit log. Someone who owns the database could rebuild the whole chain, and our console shows the local check being fooled; so we publish the chain head outside the database, and against it the forgery is detected. We also built Runway to be attacked: all ten attack scenarios, A1 to A10, are stopped, and each is an automated test. A hidden-text invoice asking to pay a new IBAN is flagged and the payment blocked. A paraphrased fraud e-mail fools our keyword scanner, on purpose, and the rules engine still blocks the payment. A forged approval fails the signature check. Judges can try all of this in the red-team console.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What makes it different to use. Everything is plain language: approvals, the audit log and what the agent did read as sentences. Alerts come before the problem: on 20 October the Monday brief already names the 25 November gap, five weeks ahead, and fraud alerts reach the owner as soon as a document is flagged. It works offline: a deterministic planner runs the same tools with no network, and if the model fails the turn finishes offline and says so. And it asks when a request is ambiguous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We list our risks openly; the numbers match our security self-assessment. PIN sign-in is demo-grade. Keyword detection can be evaded, which is why it is not the control. One SQLite file is the root of trust, which is why we publish the audit head outside it. Attack tests run against the offline planner. Pseudonymisation is partial. Signing keys are per role and held on the server. Next: real bank APIs, real identity with per-person keys, more country packs beyond the EU and China, and automatic anchoring to a public chain.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Thank you. The code, the documentation and the execution logs are on GitHub, and the demo video is part of our submission. The agent proposes, code enforces, humans decide.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14.png"/><Relationship Id="rId9" Type="http://schemas.openxmlformats.org/officeDocument/2006/relationships/image" Target="../media/image15.jpe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jpe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9.jpe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6.jpe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5.png"/><Relationship Id="rId12" Type="http://schemas.openxmlformats.org/officeDocument/2006/relationships/image" Target="../media/image6.svg"/><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6.jpe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chart" Target="../charts/char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9.jpeg"/><Relationship Id="rId8" Type="http://schemas.openxmlformats.org/officeDocument/2006/relationships/image" Target="../media/image27.jpeg"/><Relationship Id="rId9" Type="http://schemas.openxmlformats.org/officeDocument/2006/relationships/image" Target="../media/image28.jpeg"/><Relationship Id="rId10" Type="http://schemas.openxmlformats.org/officeDocument/2006/relationships/image" Target="../media/image5.png"/><Relationship Id="rId11" Type="http://schemas.openxmlformats.org/officeDocument/2006/relationships/image" Target="../media/image6.svg"/><Relationship Id="rId12" Type="http://schemas.openxmlformats.org/officeDocument/2006/relationships/chart" Target="../charts/char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1.jpe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9.jpe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9.jpeg"/><Relationship Id="rId8" Type="http://schemas.openxmlformats.org/officeDocument/2006/relationships/image" Target="../media/image27.jpeg"/><Relationship Id="rId9" Type="http://schemas.openxmlformats.org/officeDocument/2006/relationships/image" Target="../media/image28.jpeg"/><Relationship Id="rId10" Type="http://schemas.openxmlformats.org/officeDocument/2006/relationships/image" Target="../media/image5.png"/><Relationship Id="rId11" Type="http://schemas.openxmlformats.org/officeDocument/2006/relationships/image" Target="../media/image6.svg"/><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1.jpe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1.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0">
            <a:off x="12415991" y="0"/>
            <a:ext cx="5779424" cy="10287000"/>
          </a:xfrm>
          <a:custGeom>
            <a:avLst/>
            <a:gdLst/>
            <a:ahLst/>
            <a:cxnLst/>
            <a:rect r="r" b="b" t="t" l="l"/>
            <a:pathLst>
              <a:path h="10287000" w="5779424">
                <a:moveTo>
                  <a:pt x="0" y="0"/>
                </a:moveTo>
                <a:lnTo>
                  <a:pt x="5779424" y="0"/>
                </a:lnTo>
                <a:lnTo>
                  <a:pt x="5779424" y="10287000"/>
                </a:lnTo>
                <a:lnTo>
                  <a:pt x="0" y="10287000"/>
                </a:lnTo>
                <a:lnTo>
                  <a:pt x="0" y="0"/>
                </a:lnTo>
                <a:close/>
              </a:path>
            </a:pathLst>
          </a:custGeom>
          <a:blipFill>
            <a:blip r:embed="rId2"/>
            <a:stretch>
              <a:fillRect l="0" t="0" r="0" b="0"/>
            </a:stretch>
          </a:blipFill>
        </p:spPr>
      </p:sp>
      <p:sp>
        <p:nvSpPr>
          <p:cNvPr id="3" name="TextBox 2"/>
          <p:cNvSpPr txBox="1"/>
          <p:nvPr/>
        </p:nvSpPr>
        <p:spPr>
          <a:xfrm>
            <a:off x="1682496" y="2697480"/>
            <a:ext cx="91440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TOPIC E  ·  SME FINANCE COPILOT</a:t>
            </a:r>
          </a:p>
        </p:txBody>
      </p:sp>
      <p:sp>
        <p:nvSpPr>
          <p:cNvPr id="4" name="Runway wordmark"/>
          <p:cNvSpPr txBox="1"/>
          <p:nvPr/>
        </p:nvSpPr>
        <p:spPr>
          <a:xfrm>
            <a:off x="1682496" y="2971800"/>
            <a:ext cx="10058400" cy="2381250"/>
          </a:xfrm>
          <a:prstGeom prst="rect">
            <a:avLst/>
          </a:prstGeom>
          <a:noFill/>
        </p:spPr>
        <p:txBody>
          <a:bodyPr wrap="square" lIns="0" rIns="0" tIns="0" bIns="0">
            <a:spAutoFit/>
          </a:bodyPr>
          <a:lstStyle/>
          <a:p>
            <a:r>
              <a:rPr sz="15000" b="1" spc="-900">
                <a:solidFill>
                  <a:srgbClr val="F2FFF9"/>
                </a:solidFill>
                <a:latin typeface="Segoe UI"/>
                <a:ea typeface="Segoe UI"/>
                <a:cs typeface="Segoe UI"/>
              </a:rPr>
              <a:t>runway</a:t>
            </a:r>
            <a:r>
              <a:rPr sz="15000" b="1" spc="-900">
                <a:solidFill>
                  <a:srgbClr val="A4D0B5"/>
                </a:solidFill>
                <a:latin typeface="Segoe UI"/>
                <a:ea typeface="Segoe UI"/>
                <a:cs typeface="Segoe UI"/>
              </a:rPr>
              <a:t>.</a:t>
            </a:r>
          </a:p>
        </p:txBody>
      </p:sp>
      <p:sp>
        <p:nvSpPr>
          <p:cNvPr id="5" name="TextBox 4"/>
          <p:cNvSpPr txBox="1"/>
          <p:nvPr/>
        </p:nvSpPr>
        <p:spPr>
          <a:xfrm>
            <a:off x="1682496" y="5577840"/>
            <a:ext cx="9875520" cy="1188720"/>
          </a:xfrm>
          <a:prstGeom prst="rect">
            <a:avLst/>
          </a:prstGeom>
          <a:noFill/>
        </p:spPr>
        <p:txBody>
          <a:bodyPr wrap="square" lIns="0" rIns="0" tIns="0" bIns="0" anchor="t">
            <a:spAutoFit/>
          </a:bodyPr>
          <a:lstStyle/>
          <a:p>
            <a:pPr algn="l">
              <a:lnSpc>
                <a:spcPct val="115000"/>
              </a:lnSpc>
              <a:spcAft>
                <a:spcPts val="0"/>
              </a:spcAft>
            </a:pPr>
            <a:r>
              <a:rPr sz="2600" b="0">
                <a:solidFill>
                  <a:srgbClr val="F2FFF9"/>
                </a:solidFill>
                <a:latin typeface="Open Sauce Light"/>
                <a:ea typeface="Open Sauce Light"/>
                <a:cs typeface="Open Sauce Light"/>
              </a:rPr>
              <a:t>An AI copilot that keeps small businesses from running out of cash, and can never move money it should not.</a:t>
            </a:r>
          </a:p>
        </p:txBody>
      </p:sp>
      <p:sp>
        <p:nvSpPr>
          <p:cNvPr id="6" name="TextBox 5"/>
          <p:cNvSpPr txBox="1"/>
          <p:nvPr/>
        </p:nvSpPr>
        <p:spPr>
          <a:xfrm>
            <a:off x="1682496" y="8092440"/>
            <a:ext cx="3840480" cy="320040"/>
          </a:xfrm>
          <a:prstGeom prst="rect">
            <a:avLst/>
          </a:prstGeom>
          <a:noFill/>
        </p:spPr>
        <p:txBody>
          <a:bodyPr wrap="square" lIns="0" rIns="0" tIns="0" bIns="0" anchor="t">
            <a:spAutoFit/>
          </a:bodyPr>
          <a:lstStyle/>
          <a:p>
            <a:pPr algn="l">
              <a:spcAft>
                <a:spcPts val="0"/>
              </a:spcAft>
            </a:pPr>
            <a:r>
              <a:rPr sz="1800" b="0">
                <a:solidFill>
                  <a:srgbClr val="56D5A2"/>
                </a:solidFill>
                <a:latin typeface="Open Sauce Light"/>
                <a:ea typeface="Open Sauce Light"/>
                <a:cs typeface="Open Sauce Light"/>
              </a:rPr>
              <a:t>Presented by</a:t>
            </a:r>
          </a:p>
        </p:txBody>
      </p:sp>
      <p:sp>
        <p:nvSpPr>
          <p:cNvPr id="7" name="TextBox 6"/>
          <p:cNvSpPr txBox="1"/>
          <p:nvPr/>
        </p:nvSpPr>
        <p:spPr>
          <a:xfrm>
            <a:off x="1682496" y="8485632"/>
            <a:ext cx="4206240" cy="457200"/>
          </a:xfrm>
          <a:prstGeom prst="rect">
            <a:avLst/>
          </a:prstGeom>
          <a:noFill/>
        </p:spPr>
        <p:txBody>
          <a:bodyPr wrap="square" lIns="0" rIns="0" tIns="0" bIns="0" anchor="t">
            <a:spAutoFit/>
          </a:bodyPr>
          <a:lstStyle/>
          <a:p>
            <a:pPr algn="l">
              <a:spcAft>
                <a:spcPts val="0"/>
              </a:spcAft>
            </a:pPr>
            <a:r>
              <a:rPr sz="2400" b="0">
                <a:solidFill>
                  <a:srgbClr val="F2FFF9"/>
                </a:solidFill>
                <a:latin typeface="Open Sauce Light"/>
                <a:ea typeface="Open Sauce Light"/>
                <a:cs typeface="Open Sauce Light"/>
              </a:rPr>
              <a:t>Team Hexcellent</a:t>
            </a:r>
          </a:p>
        </p:txBody>
      </p:sp>
      <p:sp>
        <p:nvSpPr>
          <p:cNvPr id="8" name="TextBox 7"/>
          <p:cNvSpPr txBox="1"/>
          <p:nvPr/>
        </p:nvSpPr>
        <p:spPr>
          <a:xfrm>
            <a:off x="6035040" y="8092440"/>
            <a:ext cx="5486400" cy="320040"/>
          </a:xfrm>
          <a:prstGeom prst="rect">
            <a:avLst/>
          </a:prstGeom>
          <a:noFill/>
        </p:spPr>
        <p:txBody>
          <a:bodyPr wrap="square" lIns="0" rIns="0" tIns="0" bIns="0" anchor="t">
            <a:spAutoFit/>
          </a:bodyPr>
          <a:lstStyle/>
          <a:p>
            <a:pPr algn="l">
              <a:spcAft>
                <a:spcPts val="0"/>
              </a:spcAft>
            </a:pPr>
            <a:r>
              <a:rPr sz="1800" b="0">
                <a:solidFill>
                  <a:srgbClr val="56D5A2"/>
                </a:solidFill>
                <a:latin typeface="Open Sauce Light"/>
                <a:ea typeface="Open Sauce Light"/>
                <a:cs typeface="Open Sauce Light"/>
              </a:rPr>
              <a:t>Event</a:t>
            </a:r>
          </a:p>
        </p:txBody>
      </p:sp>
      <p:sp>
        <p:nvSpPr>
          <p:cNvPr id="9" name="TextBox 8"/>
          <p:cNvSpPr txBox="1"/>
          <p:nvPr/>
        </p:nvSpPr>
        <p:spPr>
          <a:xfrm>
            <a:off x="6035040" y="8485632"/>
            <a:ext cx="5852160" cy="457200"/>
          </a:xfrm>
          <a:prstGeom prst="rect">
            <a:avLst/>
          </a:prstGeom>
          <a:noFill/>
        </p:spPr>
        <p:txBody>
          <a:bodyPr wrap="square" lIns="0" rIns="0" tIns="0" bIns="0" anchor="t">
            <a:spAutoFit/>
          </a:bodyPr>
          <a:lstStyle/>
          <a:p>
            <a:pPr algn="l">
              <a:spcAft>
                <a:spcPts val="0"/>
              </a:spcAft>
            </a:pPr>
            <a:r>
              <a:rPr sz="2400" b="0">
                <a:solidFill>
                  <a:srgbClr val="F2FFF9"/>
                </a:solidFill>
                <a:latin typeface="Open Sauce Light"/>
                <a:ea typeface="Open Sauce Light"/>
                <a:cs typeface="Open Sauce Light"/>
              </a:rPr>
              <a:t>2026 Shenzhen International FinTech Competition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5" id="5"/>
          <p:cNvSpPr/>
          <p:nvPr/>
        </p:nvSpPr>
        <p:spPr>
          <a:xfrm flipH="false" flipV="false" rot="0">
            <a:off x="10725912" y="2075688"/>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725912" y="395020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725912" y="582472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4006735" y="3511732"/>
            <a:ext cx="10274531" cy="18288000"/>
          </a:xfrm>
          <a:custGeom>
            <a:avLst/>
            <a:gdLst/>
            <a:ahLst/>
            <a:cxnLst/>
            <a:rect r="r" b="b" t="t" l="l"/>
            <a:pathLst>
              <a:path h="18288000" w="10274531">
                <a:moveTo>
                  <a:pt x="0" y="0"/>
                </a:moveTo>
                <a:lnTo>
                  <a:pt x="10274530" y="0"/>
                </a:lnTo>
                <a:lnTo>
                  <a:pt x="10274530" y="18288000"/>
                </a:lnTo>
                <a:lnTo>
                  <a:pt x="0" y="18288000"/>
                </a:lnTo>
                <a:lnTo>
                  <a:pt x="0" y="0"/>
                </a:lnTo>
                <a:close/>
              </a:path>
            </a:pathLst>
          </a:custGeom>
          <a:blipFill>
            <a:blip r:embed="rId8"/>
            <a:stretch>
              <a:fillRect l="0" t="0" r="0" b="0"/>
            </a:stretch>
          </a:blipFill>
        </p:spPr>
      </p:sp>
      <p:sp>
        <p:nvSpPr>
          <p:cNvPr id="17"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8" name="TextBox 17"/>
          <p:cNvSpPr txBox="1"/>
          <p:nvPr/>
        </p:nvSpPr>
        <p:spPr>
          <a:xfrm>
            <a:off x="1682496" y="283464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THE PROBLEM</a:t>
            </a:r>
          </a:p>
        </p:txBody>
      </p:sp>
      <p:sp>
        <p:nvSpPr>
          <p:cNvPr id="19" name="TextBox 18"/>
          <p:cNvSpPr txBox="1"/>
          <p:nvPr/>
        </p:nvSpPr>
        <p:spPr>
          <a:xfrm>
            <a:off x="1682496" y="3383280"/>
            <a:ext cx="9144000" cy="274320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PROFITABLE,</a:t>
            </a:r>
          </a:p>
          <a:p>
            <a:pPr algn="l">
              <a:lnSpc>
                <a:spcPct val="95000"/>
              </a:lnSpc>
              <a:spcAft>
                <a:spcPts val="0"/>
              </a:spcAft>
            </a:pPr>
            <a:r>
              <a:rPr sz="8000" b="0">
                <a:solidFill>
                  <a:srgbClr val="F2FFF9"/>
                </a:solidFill>
                <a:latin typeface="Open Sauce"/>
                <a:ea typeface="Open Sauce"/>
                <a:cs typeface="Open Sauce"/>
              </a:rPr>
              <a:t>BUT OUT</a:t>
            </a:r>
          </a:p>
          <a:p>
            <a:pPr algn="l">
              <a:lnSpc>
                <a:spcPct val="95000"/>
              </a:lnSpc>
              <a:spcAft>
                <a:spcPts val="0"/>
              </a:spcAft>
            </a:pPr>
            <a:r>
              <a:rPr sz="8000" b="0">
                <a:solidFill>
                  <a:srgbClr val="F2FFF9"/>
                </a:solidFill>
                <a:latin typeface="Open Sauce"/>
                <a:ea typeface="Open Sauce"/>
                <a:cs typeface="Open Sauce"/>
              </a:rPr>
              <a:t>OF CASH</a:t>
            </a:r>
          </a:p>
        </p:txBody>
      </p:sp>
      <p:sp>
        <p:nvSpPr>
          <p:cNvPr id="20" name="TextBox 19"/>
          <p:cNvSpPr txBox="1"/>
          <p:nvPr/>
        </p:nvSpPr>
        <p:spPr>
          <a:xfrm>
            <a:off x="11658600" y="2057400"/>
            <a:ext cx="5029200" cy="411480"/>
          </a:xfrm>
          <a:prstGeom prst="rect">
            <a:avLst/>
          </a:prstGeom>
          <a:noFill/>
        </p:spPr>
        <p:txBody>
          <a:bodyPr wrap="square" lIns="0" rIns="0" tIns="0" bIns="0" anchor="t">
            <a:spAutoFit/>
          </a:bodyPr>
          <a:lstStyle/>
          <a:p>
            <a:pPr algn="l">
              <a:spcAft>
                <a:spcPts val="0"/>
              </a:spcAft>
            </a:pPr>
            <a:r>
              <a:rPr sz="2400" b="0">
                <a:solidFill>
                  <a:srgbClr val="F2F99E"/>
                </a:solidFill>
                <a:latin typeface="Open Sauce Light"/>
                <a:ea typeface="Open Sauce Light"/>
                <a:cs typeface="Open Sauce Light"/>
              </a:rPr>
              <a:t>GAPS, NOT LOSSES</a:t>
            </a:r>
          </a:p>
        </p:txBody>
      </p:sp>
      <p:sp>
        <p:nvSpPr>
          <p:cNvPr id="21" name="TextBox 20"/>
          <p:cNvSpPr txBox="1"/>
          <p:nvPr/>
        </p:nvSpPr>
        <p:spPr>
          <a:xfrm>
            <a:off x="11658600" y="2532888"/>
            <a:ext cx="4937760" cy="109728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Small businesses fail from cash-flow gaps, not from a lack of profit.</a:t>
            </a:r>
          </a:p>
        </p:txBody>
      </p:sp>
      <p:sp>
        <p:nvSpPr>
          <p:cNvPr id="22" name="TextBox 21"/>
          <p:cNvSpPr txBox="1"/>
          <p:nvPr/>
        </p:nvSpPr>
        <p:spPr>
          <a:xfrm>
            <a:off x="11658600" y="3931920"/>
            <a:ext cx="5029200" cy="411480"/>
          </a:xfrm>
          <a:prstGeom prst="rect">
            <a:avLst/>
          </a:prstGeom>
          <a:noFill/>
        </p:spPr>
        <p:txBody>
          <a:bodyPr wrap="square" lIns="0" rIns="0" tIns="0" bIns="0" anchor="t">
            <a:spAutoFit/>
          </a:bodyPr>
          <a:lstStyle/>
          <a:p>
            <a:pPr algn="l">
              <a:spcAft>
                <a:spcPts val="0"/>
              </a:spcAft>
            </a:pPr>
            <a:r>
              <a:rPr sz="2400" b="0">
                <a:solidFill>
                  <a:srgbClr val="F2F99E"/>
                </a:solidFill>
                <a:latin typeface="Open Sauce Light"/>
                <a:ea typeface="Open Sauce Light"/>
                <a:cs typeface="Open Sauce Light"/>
              </a:rPr>
              <a:t>LATE PAYERS, THE HIDDEN CAUSE</a:t>
            </a:r>
          </a:p>
        </p:txBody>
      </p:sp>
      <p:sp>
        <p:nvSpPr>
          <p:cNvPr id="23" name="TextBox 22"/>
          <p:cNvSpPr txBox="1"/>
          <p:nvPr/>
        </p:nvSpPr>
        <p:spPr>
          <a:xfrm>
            <a:off x="11658600" y="4407408"/>
            <a:ext cx="4937760" cy="109728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Lumen Packaging sells 65% of its output to one customer that pays 75 days after invoice.</a:t>
            </a:r>
          </a:p>
        </p:txBody>
      </p:sp>
      <p:sp>
        <p:nvSpPr>
          <p:cNvPr id="24" name="TextBox 23"/>
          <p:cNvSpPr txBox="1"/>
          <p:nvPr/>
        </p:nvSpPr>
        <p:spPr>
          <a:xfrm>
            <a:off x="11658600" y="5806440"/>
            <a:ext cx="5029200" cy="411480"/>
          </a:xfrm>
          <a:prstGeom prst="rect">
            <a:avLst/>
          </a:prstGeom>
          <a:noFill/>
        </p:spPr>
        <p:txBody>
          <a:bodyPr wrap="square" lIns="0" rIns="0" tIns="0" bIns="0" anchor="t">
            <a:spAutoFit/>
          </a:bodyPr>
          <a:lstStyle/>
          <a:p>
            <a:pPr algn="l">
              <a:spcAft>
                <a:spcPts val="0"/>
              </a:spcAft>
            </a:pPr>
            <a:r>
              <a:rPr sz="2400" b="0">
                <a:solidFill>
                  <a:srgbClr val="F2F99E"/>
                </a:solidFill>
                <a:latin typeface="Open Sauce Light"/>
                <a:ea typeface="Open Sauce Light"/>
                <a:cs typeface="Open Sauce Light"/>
              </a:rPr>
              <a:t>BILLS DO NOT WAIT</a:t>
            </a:r>
          </a:p>
        </p:txBody>
      </p:sp>
      <p:sp>
        <p:nvSpPr>
          <p:cNvPr id="25" name="TextBox 24"/>
          <p:cNvSpPr txBox="1"/>
          <p:nvPr/>
        </p:nvSpPr>
        <p:spPr>
          <a:xfrm>
            <a:off x="11658600" y="6281927"/>
            <a:ext cx="4937760" cy="109728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Payroll, VAT and suppliers fall due first. The owner sees the gap when the bank calls.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7" id="7"/>
          <p:cNvSpPr/>
          <p:nvPr/>
        </p:nvSpPr>
        <p:spPr>
          <a:xfrm flipH="false" flipV="false" rot="5400000">
            <a:off x="8001000" y="8138160"/>
            <a:ext cx="1129492" cy="1129492"/>
          </a:xfrm>
          <a:custGeom>
            <a:avLst/>
            <a:gdLst/>
            <a:ahLst/>
            <a:cxnLst/>
            <a:rect r="r" b="b" t="t" l="l"/>
            <a:pathLst>
              <a:path h="1129492" w="1129492">
                <a:moveTo>
                  <a:pt x="0" y="0"/>
                </a:moveTo>
                <a:lnTo>
                  <a:pt x="1129491" y="0"/>
                </a:lnTo>
                <a:lnTo>
                  <a:pt x="1129491" y="1129492"/>
                </a:lnTo>
                <a:lnTo>
                  <a:pt x="0" y="11294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730991" y="-6219201"/>
            <a:ext cx="10679272" cy="9941431"/>
          </a:xfrm>
          <a:custGeom>
            <a:avLst/>
            <a:gdLst/>
            <a:ahLst/>
            <a:cxnLst/>
            <a:rect r="r" b="b" t="t" l="l"/>
            <a:pathLst>
              <a:path h="9941431" w="10679272">
                <a:moveTo>
                  <a:pt x="0" y="0"/>
                </a:moveTo>
                <a:lnTo>
                  <a:pt x="10679272" y="0"/>
                </a:lnTo>
                <a:lnTo>
                  <a:pt x="10679272" y="9941431"/>
                </a:lnTo>
                <a:lnTo>
                  <a:pt x="0" y="99414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id="15"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6" name="TextBox 15"/>
          <p:cNvSpPr txBox="1"/>
          <p:nvPr/>
        </p:nvSpPr>
        <p:spPr>
          <a:xfrm>
            <a:off x="1682496" y="2450592"/>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THE SOLUTION</a:t>
            </a:r>
          </a:p>
        </p:txBody>
      </p:sp>
      <p:sp>
        <p:nvSpPr>
          <p:cNvPr id="17" name="TextBox 16"/>
          <p:cNvSpPr txBox="1"/>
          <p:nvPr/>
        </p:nvSpPr>
        <p:spPr>
          <a:xfrm>
            <a:off x="1682496" y="3017520"/>
            <a:ext cx="7863840" cy="201168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MEET</a:t>
            </a:r>
          </a:p>
          <a:p>
            <a:pPr algn="l">
              <a:lnSpc>
                <a:spcPct val="95000"/>
              </a:lnSpc>
              <a:spcAft>
                <a:spcPts val="0"/>
              </a:spcAft>
            </a:pPr>
            <a:r>
              <a:rPr sz="8000" b="0">
                <a:solidFill>
                  <a:srgbClr val="F2FFF9"/>
                </a:solidFill>
                <a:latin typeface="Open Sauce"/>
                <a:ea typeface="Open Sauce"/>
                <a:cs typeface="Open Sauce"/>
              </a:rPr>
              <a:t>RUNWAY</a:t>
            </a:r>
          </a:p>
        </p:txBody>
      </p:sp>
      <p:sp>
        <p:nvSpPr>
          <p:cNvPr id="18" name="TextBox 17"/>
          <p:cNvSpPr txBox="1"/>
          <p:nvPr/>
        </p:nvSpPr>
        <p:spPr>
          <a:xfrm>
            <a:off x="1682496" y="5440680"/>
            <a:ext cx="6949440" cy="1280160"/>
          </a:xfrm>
          <a:prstGeom prst="rect">
            <a:avLst/>
          </a:prstGeom>
          <a:noFill/>
        </p:spPr>
        <p:txBody>
          <a:bodyPr wrap="square" lIns="0" rIns="0" tIns="0" bIns="0" anchor="t">
            <a:spAutoFit/>
          </a:bodyPr>
          <a:lstStyle/>
          <a:p>
            <a:pPr algn="l">
              <a:lnSpc>
                <a:spcPct val="110000"/>
              </a:lnSpc>
              <a:spcAft>
                <a:spcPts val="0"/>
              </a:spcAft>
            </a:pPr>
            <a:r>
              <a:rPr sz="2800" b="0">
                <a:solidFill>
                  <a:srgbClr val="56D5A2"/>
                </a:solidFill>
                <a:latin typeface="Open Sauce"/>
                <a:ea typeface="Open Sauce"/>
                <a:cs typeface="Open Sauce"/>
              </a:rPr>
              <a:t>One agent. It does the work; code and people keep it in bounds.</a:t>
            </a:r>
          </a:p>
        </p:txBody>
      </p:sp>
      <p:sp>
        <p:nvSpPr>
          <p:cNvPr id="19" name="TextBox 18"/>
          <p:cNvSpPr txBox="1"/>
          <p:nvPr/>
        </p:nvSpPr>
        <p:spPr>
          <a:xfrm>
            <a:off x="1682496" y="6858000"/>
            <a:ext cx="6583680" cy="1188720"/>
          </a:xfrm>
          <a:prstGeom prst="rect">
            <a:avLst/>
          </a:prstGeom>
          <a:noFill/>
        </p:spPr>
        <p:txBody>
          <a:bodyPr wrap="square" lIns="0" rIns="0" tIns="0" bIns="0" anchor="t">
            <a:spAutoFit/>
          </a:bodyPr>
          <a:lstStyle/>
          <a:p>
            <a:pPr algn="l">
              <a:lnSpc>
                <a:spcPct val="125000"/>
              </a:lnSpc>
              <a:spcAft>
                <a:spcPts val="0"/>
              </a:spcAft>
            </a:pPr>
            <a:r>
              <a:rPr sz="1900" b="0">
                <a:solidFill>
                  <a:srgbClr val="F2FFF9"/>
                </a:solidFill>
                <a:latin typeface="Open Sauce Light"/>
                <a:ea typeface="Open Sauce Light"/>
                <a:cs typeface="Open Sauce Light"/>
              </a:rPr>
              <a:t>Works with the owner and the external accountant. Runs on DeepSeek, Gemini, a local model through Ollama, or fully offline.</a:t>
            </a:r>
          </a:p>
        </p:txBody>
      </p:sp>
      <p:sp>
        <p:nvSpPr>
          <p:cNvPr id="20" name="Rounded Rectangle 19"/>
          <p:cNvSpPr/>
          <p:nvPr/>
        </p:nvSpPr>
        <p:spPr>
          <a:xfrm>
            <a:off x="9418320" y="388620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38360" y="4160520"/>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01</a:t>
            </a:r>
          </a:p>
        </p:txBody>
      </p:sp>
      <p:sp>
        <p:nvSpPr>
          <p:cNvPr id="22" name="TextBox 21"/>
          <p:cNvSpPr txBox="1"/>
          <p:nvPr/>
        </p:nvSpPr>
        <p:spPr>
          <a:xfrm>
            <a:off x="9738360" y="459943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FORECAST</a:t>
            </a:r>
          </a:p>
        </p:txBody>
      </p:sp>
      <p:sp>
        <p:nvSpPr>
          <p:cNvPr id="23" name="TextBox 22"/>
          <p:cNvSpPr txBox="1"/>
          <p:nvPr/>
        </p:nvSpPr>
        <p:spPr>
          <a:xfrm>
            <a:off x="9738360" y="510235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13 weeks of cash, day by day, from the books.</a:t>
            </a:r>
          </a:p>
        </p:txBody>
      </p:sp>
      <p:sp>
        <p:nvSpPr>
          <p:cNvPr id="24" name="Rounded Rectangle 23"/>
          <p:cNvSpPr/>
          <p:nvPr/>
        </p:nvSpPr>
        <p:spPr>
          <a:xfrm>
            <a:off x="13121640" y="388620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441680" y="4160520"/>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02</a:t>
            </a:r>
          </a:p>
        </p:txBody>
      </p:sp>
      <p:sp>
        <p:nvSpPr>
          <p:cNvPr id="26" name="TextBox 25"/>
          <p:cNvSpPr txBox="1"/>
          <p:nvPr/>
        </p:nvSpPr>
        <p:spPr>
          <a:xfrm>
            <a:off x="13441680" y="459943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ALERT EARLY</a:t>
            </a:r>
          </a:p>
        </p:txBody>
      </p:sp>
      <p:sp>
        <p:nvSpPr>
          <p:cNvPr id="27" name="TextBox 26"/>
          <p:cNvSpPr txBox="1"/>
          <p:nvPr/>
        </p:nvSpPr>
        <p:spPr>
          <a:xfrm>
            <a:off x="13441680" y="510235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Says when cash goes below zero, why, and what ends it.</a:t>
            </a:r>
          </a:p>
        </p:txBody>
      </p:sp>
      <p:sp>
        <p:nvSpPr>
          <p:cNvPr id="28" name="Rounded Rectangle 27"/>
          <p:cNvSpPr/>
          <p:nvPr/>
        </p:nvSpPr>
        <p:spPr>
          <a:xfrm>
            <a:off x="9418320" y="649224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738360" y="6766559"/>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03</a:t>
            </a:r>
          </a:p>
        </p:txBody>
      </p:sp>
      <p:sp>
        <p:nvSpPr>
          <p:cNvPr id="30" name="TextBox 29"/>
          <p:cNvSpPr txBox="1"/>
          <p:nvPr/>
        </p:nvSpPr>
        <p:spPr>
          <a:xfrm>
            <a:off x="9738360" y="720547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MATCH FINANCING</a:t>
            </a:r>
          </a:p>
        </p:txBody>
      </p:sp>
      <p:sp>
        <p:nvSpPr>
          <p:cNvPr id="31" name="TextBox 30"/>
          <p:cNvSpPr txBox="1"/>
          <p:nvPr/>
        </p:nvSpPr>
        <p:spPr>
          <a:xfrm>
            <a:off x="9738360" y="770839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Sizes the need in code and ranks products by true cost.</a:t>
            </a:r>
          </a:p>
        </p:txBody>
      </p:sp>
      <p:sp>
        <p:nvSpPr>
          <p:cNvPr id="32" name="Rounded Rectangle 31"/>
          <p:cNvSpPr/>
          <p:nvPr/>
        </p:nvSpPr>
        <p:spPr>
          <a:xfrm>
            <a:off x="13121640" y="649224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441680" y="6766559"/>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04</a:t>
            </a:r>
          </a:p>
        </p:txBody>
      </p:sp>
      <p:sp>
        <p:nvSpPr>
          <p:cNvPr id="34" name="TextBox 33"/>
          <p:cNvSpPr txBox="1"/>
          <p:nvPr/>
        </p:nvSpPr>
        <p:spPr>
          <a:xfrm>
            <a:off x="13441680" y="720547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APPLICATION</a:t>
            </a:r>
          </a:p>
        </p:txBody>
      </p:sp>
      <p:sp>
        <p:nvSpPr>
          <p:cNvPr id="35" name="TextBox 34"/>
          <p:cNvSpPr txBox="1"/>
          <p:nvPr/>
        </p:nvSpPr>
        <p:spPr>
          <a:xfrm>
            <a:off x="13441680" y="770839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Prepares a signed PDF for the owner and the accountant.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FF9"/>
        </a:solidFill>
      </p:bgPr>
    </p:bg>
    <p:spTree>
      <p:nvGrpSpPr>
        <p:cNvPr id="1" name=""/>
        <p:cNvGrpSpPr/>
        <p:nvPr/>
      </p:nvGrpSpPr>
      <p:grpSpPr>
        <a:xfrm>
          <a:off x="0" y="0"/>
          <a:ext cx="0" cy="0"/>
          <a:chOff x="0" y="0"/>
          <a:chExt cx="0" cy="0"/>
        </a:xfrm>
      </p:grpSpPr>
      <p:sp>
        <p:nvSpPr>
          <p:cNvPr name="Freeform 16" id="16"/>
          <p:cNvSpPr/>
          <p:nvPr/>
        </p:nvSpPr>
        <p:spPr>
          <a:xfrm flipH="false" flipV="false" rot="0">
            <a:off x="10379940" y="-6627112"/>
            <a:ext cx="10679272" cy="9941431"/>
          </a:xfrm>
          <a:custGeom>
            <a:avLst/>
            <a:gdLst/>
            <a:ahLst/>
            <a:cxnLst/>
            <a:rect r="r" b="b" t="t" l="l"/>
            <a:pathLst>
              <a:path h="9941431" w="10679272">
                <a:moveTo>
                  <a:pt x="0" y="0"/>
                </a:moveTo>
                <a:lnTo>
                  <a:pt x="10679272" y="0"/>
                </a:lnTo>
                <a:lnTo>
                  <a:pt x="10679272" y="9941431"/>
                </a:lnTo>
                <a:lnTo>
                  <a:pt x="0" y="99414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5769618" y="5521139"/>
            <a:ext cx="10679272" cy="9941431"/>
          </a:xfrm>
          <a:custGeom>
            <a:avLst/>
            <a:gdLst/>
            <a:ahLst/>
            <a:cxnLst/>
            <a:rect r="r" b="b" t="t" l="l"/>
            <a:pathLst>
              <a:path h="9941431" w="10679272">
                <a:moveTo>
                  <a:pt x="0" y="0"/>
                </a:moveTo>
                <a:lnTo>
                  <a:pt x="10679272" y="0"/>
                </a:lnTo>
                <a:lnTo>
                  <a:pt x="10679272" y="9941432"/>
                </a:lnTo>
                <a:lnTo>
                  <a:pt x="0" y="9941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9"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242B29"/>
                </a:solidFill>
                <a:latin typeface="Segoe UI"/>
                <a:ea typeface="Segoe UI"/>
                <a:cs typeface="Segoe UI"/>
              </a:rPr>
              <a:t>runway</a:t>
            </a:r>
            <a:r>
              <a:rPr sz="4000" b="1" spc="-240">
                <a:solidFill>
                  <a:srgbClr val="21644B"/>
                </a:solidFill>
                <a:latin typeface="Segoe UI"/>
                <a:ea typeface="Segoe UI"/>
                <a:cs typeface="Segoe UI"/>
              </a:rPr>
              <a:t>.</a:t>
            </a:r>
          </a:p>
        </p:txBody>
      </p:sp>
      <p:sp>
        <p:nvSpPr>
          <p:cNvPr id="20" name="TextBox 19"/>
          <p:cNvSpPr txBox="1"/>
          <p:nvPr/>
        </p:nvSpPr>
        <p:spPr>
          <a:xfrm>
            <a:off x="1682496" y="1920240"/>
            <a:ext cx="7315200" cy="457200"/>
          </a:xfrm>
          <a:prstGeom prst="rect">
            <a:avLst/>
          </a:prstGeom>
          <a:noFill/>
        </p:spPr>
        <p:txBody>
          <a:bodyPr wrap="square" lIns="0" rIns="0" tIns="0" bIns="0" anchor="t">
            <a:spAutoFit/>
          </a:bodyPr>
          <a:lstStyle/>
          <a:p>
            <a:pPr algn="l">
              <a:spcAft>
                <a:spcPts val="0"/>
              </a:spcAft>
            </a:pPr>
            <a:r>
              <a:rPr sz="2200" b="0">
                <a:solidFill>
                  <a:srgbClr val="2E9D71"/>
                </a:solidFill>
                <a:latin typeface="Open Sauce Light"/>
                <a:ea typeface="Open Sauce Light"/>
                <a:cs typeface="Open Sauce Light"/>
              </a:rPr>
              <a:t>ARCHITECTURE</a:t>
            </a:r>
          </a:p>
        </p:txBody>
      </p:sp>
      <p:sp>
        <p:nvSpPr>
          <p:cNvPr id="21" name="TextBox 20"/>
          <p:cNvSpPr txBox="1"/>
          <p:nvPr/>
        </p:nvSpPr>
        <p:spPr>
          <a:xfrm>
            <a:off x="1682496" y="2377440"/>
            <a:ext cx="8229600" cy="914400"/>
          </a:xfrm>
          <a:prstGeom prst="rect">
            <a:avLst/>
          </a:prstGeom>
          <a:noFill/>
        </p:spPr>
        <p:txBody>
          <a:bodyPr wrap="square" lIns="0" rIns="0" tIns="0" bIns="0" anchor="t">
            <a:spAutoFit/>
          </a:bodyPr>
          <a:lstStyle/>
          <a:p>
            <a:pPr algn="l">
              <a:spcAft>
                <a:spcPts val="0"/>
              </a:spcAft>
            </a:pPr>
            <a:r>
              <a:rPr sz="7200" b="0">
                <a:solidFill>
                  <a:srgbClr val="080808"/>
                </a:solidFill>
                <a:latin typeface="Open Sauce"/>
                <a:ea typeface="Open Sauce"/>
                <a:cs typeface="Open Sauce"/>
              </a:rPr>
              <a:t>ONE GATE</a:t>
            </a:r>
          </a:p>
        </p:txBody>
      </p:sp>
      <p:sp>
        <p:nvSpPr>
          <p:cNvPr id="22" name="TextBox 21"/>
          <p:cNvSpPr txBox="1"/>
          <p:nvPr/>
        </p:nvSpPr>
        <p:spPr>
          <a:xfrm>
            <a:off x="9326880" y="2514600"/>
            <a:ext cx="7278624" cy="914400"/>
          </a:xfrm>
          <a:prstGeom prst="rect">
            <a:avLst/>
          </a:prstGeom>
          <a:noFill/>
        </p:spPr>
        <p:txBody>
          <a:bodyPr wrap="square" lIns="0" rIns="0" tIns="0" bIns="0" anchor="t">
            <a:spAutoFit/>
          </a:bodyPr>
          <a:lstStyle/>
          <a:p>
            <a:pPr algn="l">
              <a:lnSpc>
                <a:spcPct val="120000"/>
              </a:lnSpc>
              <a:spcAft>
                <a:spcPts val="0"/>
              </a:spcAft>
            </a:pPr>
            <a:r>
              <a:rPr sz="1900" b="0">
                <a:solidFill>
                  <a:srgbClr val="080808"/>
                </a:solidFill>
                <a:latin typeface="Open Sauce Light"/>
                <a:ea typeface="Open Sauce Light"/>
                <a:cs typeface="Open Sauce Light"/>
              </a:rPr>
              <a:t>The language model never touches the bank or payee details. Every tool call passes the rules engine first.</a:t>
            </a:r>
          </a:p>
        </p:txBody>
      </p:sp>
      <p:sp>
        <p:nvSpPr>
          <p:cNvPr id="23" name="Rounded Rectangle 22"/>
          <p:cNvSpPr/>
          <p:nvPr/>
        </p:nvSpPr>
        <p:spPr>
          <a:xfrm>
            <a:off x="1682496"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911095"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Humans</a:t>
            </a:r>
          </a:p>
        </p:txBody>
      </p:sp>
      <p:sp>
        <p:nvSpPr>
          <p:cNvPr id="25" name="TextBox 24"/>
          <p:cNvSpPr txBox="1"/>
          <p:nvPr/>
        </p:nvSpPr>
        <p:spPr>
          <a:xfrm>
            <a:off x="1911095"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owner and accountant, PIN sign-in per role</a:t>
            </a:r>
          </a:p>
        </p:txBody>
      </p:sp>
      <p:cxnSp>
        <p:nvCxnSpPr>
          <p:cNvPr id="26" name="Connector 25"/>
          <p:cNvCxnSpPr/>
          <p:nvPr/>
        </p:nvCxnSpPr>
        <p:spPr>
          <a:xfrm>
            <a:off x="4343400"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754880"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983480"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Agent</a:t>
            </a:r>
          </a:p>
        </p:txBody>
      </p:sp>
      <p:sp>
        <p:nvSpPr>
          <p:cNvPr id="29" name="TextBox 28"/>
          <p:cNvSpPr txBox="1"/>
          <p:nvPr/>
        </p:nvSpPr>
        <p:spPr>
          <a:xfrm>
            <a:off x="4983480"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DeepSeek, Gemini, local Ollama or offline</a:t>
            </a:r>
          </a:p>
        </p:txBody>
      </p:sp>
      <p:cxnSp>
        <p:nvCxnSpPr>
          <p:cNvPr id="30" name="Connector 29"/>
          <p:cNvCxnSpPr/>
          <p:nvPr/>
        </p:nvCxnSpPr>
        <p:spPr>
          <a:xfrm>
            <a:off x="7415784"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827264"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55864"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Tool executor</a:t>
            </a:r>
          </a:p>
        </p:txBody>
      </p:sp>
      <p:sp>
        <p:nvSpPr>
          <p:cNvPr id="33" name="TextBox 32"/>
          <p:cNvSpPr txBox="1"/>
          <p:nvPr/>
        </p:nvSpPr>
        <p:spPr>
          <a:xfrm>
            <a:off x="8055864"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the only path to side effects</a:t>
            </a:r>
          </a:p>
        </p:txBody>
      </p:sp>
      <p:cxnSp>
        <p:nvCxnSpPr>
          <p:cNvPr id="34" name="Connector 33"/>
          <p:cNvCxnSpPr/>
          <p:nvPr/>
        </p:nvCxnSpPr>
        <p:spPr>
          <a:xfrm>
            <a:off x="10488168"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899648" y="3794760"/>
            <a:ext cx="2606040" cy="1417320"/>
          </a:xfrm>
          <a:prstGeom prst="roundRect">
            <a:avLst>
              <a:gd name="adj" fmla="val 8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128248" y="4023360"/>
            <a:ext cx="214884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Rules engine</a:t>
            </a:r>
          </a:p>
        </p:txBody>
      </p:sp>
      <p:sp>
        <p:nvSpPr>
          <p:cNvPr id="37" name="TextBox 36"/>
          <p:cNvSpPr txBox="1"/>
          <p:nvPr/>
        </p:nvSpPr>
        <p:spPr>
          <a:xfrm>
            <a:off x="11128248"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56D5A2"/>
                </a:solidFill>
                <a:latin typeface="Open Sauce Light"/>
                <a:ea typeface="Open Sauce Light"/>
                <a:cs typeface="Open Sauce Light"/>
              </a:rPr>
              <a:t>plain Python: allow, ask a human, deny</a:t>
            </a:r>
          </a:p>
        </p:txBody>
      </p:sp>
      <p:cxnSp>
        <p:nvCxnSpPr>
          <p:cNvPr id="38" name="Connector 37"/>
          <p:cNvCxnSpPr/>
          <p:nvPr/>
        </p:nvCxnSpPr>
        <p:spPr>
          <a:xfrm>
            <a:off x="13560552"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3972032"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4200632"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Mock bank</a:t>
            </a:r>
          </a:p>
        </p:txBody>
      </p:sp>
      <p:sp>
        <p:nvSpPr>
          <p:cNvPr id="41" name="TextBox 40"/>
          <p:cNvSpPr txBox="1"/>
          <p:nvPr/>
        </p:nvSpPr>
        <p:spPr>
          <a:xfrm>
            <a:off x="14200632"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separate API, scoped tokens, own checks</a:t>
            </a:r>
          </a:p>
        </p:txBody>
      </p:sp>
      <p:cxnSp>
        <p:nvCxnSpPr>
          <p:cNvPr id="42" name="Connector 41"/>
          <p:cNvCxnSpPr/>
          <p:nvPr/>
        </p:nvCxnSpPr>
        <p:spPr>
          <a:xfrm>
            <a:off x="6057900" y="5257800"/>
            <a:ext cx="0" cy="45720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754880" y="5760720"/>
            <a:ext cx="2606040" cy="132588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983480" y="5943600"/>
            <a:ext cx="2148840" cy="365760"/>
          </a:xfrm>
          <a:prstGeom prst="rect">
            <a:avLst/>
          </a:prstGeom>
          <a:noFill/>
        </p:spPr>
        <p:txBody>
          <a:bodyPr wrap="square" lIns="0" rIns="0" tIns="0" bIns="0" anchor="t">
            <a:spAutoFit/>
          </a:bodyPr>
          <a:lstStyle/>
          <a:p>
            <a:pPr algn="l">
              <a:spcAft>
                <a:spcPts val="0"/>
              </a:spcAft>
            </a:pPr>
            <a:r>
              <a:rPr sz="1700" b="0">
                <a:solidFill>
                  <a:srgbClr val="080808"/>
                </a:solidFill>
                <a:latin typeface="Open Sauce"/>
                <a:ea typeface="Open Sauce"/>
                <a:cs typeface="Open Sauce"/>
              </a:rPr>
              <a:t>Pseudonymizer</a:t>
            </a:r>
          </a:p>
        </p:txBody>
      </p:sp>
      <p:sp>
        <p:nvSpPr>
          <p:cNvPr id="45" name="TextBox 44"/>
          <p:cNvSpPr txBox="1"/>
          <p:nvPr/>
        </p:nvSpPr>
        <p:spPr>
          <a:xfrm>
            <a:off x="4983480" y="6355080"/>
            <a:ext cx="2148840" cy="640080"/>
          </a:xfrm>
          <a:prstGeom prst="rect">
            <a:avLst/>
          </a:prstGeom>
          <a:noFill/>
        </p:spPr>
        <p:txBody>
          <a:bodyPr wrap="square" lIns="0" rIns="0" tIns="0" bIns="0" anchor="t">
            <a:spAutoFit/>
          </a:bodyPr>
          <a:lstStyle/>
          <a:p>
            <a:pPr algn="l">
              <a:lnSpc>
                <a:spcPct val="110000"/>
              </a:lnSpc>
              <a:spcAft>
                <a:spcPts val="0"/>
              </a:spcAft>
            </a:pPr>
            <a:r>
              <a:rPr sz="1400" b="0">
                <a:solidFill>
                  <a:srgbClr val="3B4A44"/>
                </a:solidFill>
                <a:latin typeface="Open Sauce Light"/>
                <a:ea typeface="Open Sauce Light"/>
                <a:cs typeface="Open Sauce Light"/>
              </a:rPr>
              <a:t>names, e-mails, IBANs masked before any model call</a:t>
            </a:r>
          </a:p>
        </p:txBody>
      </p:sp>
      <p:cxnSp>
        <p:nvCxnSpPr>
          <p:cNvPr id="46" name="Connector 45"/>
          <p:cNvCxnSpPr/>
          <p:nvPr/>
        </p:nvCxnSpPr>
        <p:spPr>
          <a:xfrm>
            <a:off x="9130284" y="5257800"/>
            <a:ext cx="0" cy="45720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827264" y="5760720"/>
            <a:ext cx="2606040" cy="132588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055864" y="5943600"/>
            <a:ext cx="2148840" cy="365760"/>
          </a:xfrm>
          <a:prstGeom prst="rect">
            <a:avLst/>
          </a:prstGeom>
          <a:noFill/>
        </p:spPr>
        <p:txBody>
          <a:bodyPr wrap="square" lIns="0" rIns="0" tIns="0" bIns="0" anchor="t">
            <a:spAutoFit/>
          </a:bodyPr>
          <a:lstStyle/>
          <a:p>
            <a:pPr algn="l">
              <a:spcAft>
                <a:spcPts val="0"/>
              </a:spcAft>
            </a:pPr>
            <a:r>
              <a:rPr sz="1700" b="0">
                <a:solidFill>
                  <a:srgbClr val="080808"/>
                </a:solidFill>
                <a:latin typeface="Open Sauce"/>
                <a:ea typeface="Open Sauce"/>
                <a:cs typeface="Open Sauce"/>
              </a:rPr>
              <a:t>Audit log</a:t>
            </a:r>
          </a:p>
        </p:txBody>
      </p:sp>
      <p:sp>
        <p:nvSpPr>
          <p:cNvPr id="49" name="TextBox 48"/>
          <p:cNvSpPr txBox="1"/>
          <p:nvPr/>
        </p:nvSpPr>
        <p:spPr>
          <a:xfrm>
            <a:off x="8055864" y="6355080"/>
            <a:ext cx="2148840" cy="640080"/>
          </a:xfrm>
          <a:prstGeom prst="rect">
            <a:avLst/>
          </a:prstGeom>
          <a:noFill/>
        </p:spPr>
        <p:txBody>
          <a:bodyPr wrap="square" lIns="0" rIns="0" tIns="0" bIns="0" anchor="t">
            <a:spAutoFit/>
          </a:bodyPr>
          <a:lstStyle/>
          <a:p>
            <a:pPr algn="l">
              <a:lnSpc>
                <a:spcPct val="110000"/>
              </a:lnSpc>
              <a:spcAft>
                <a:spcPts val="0"/>
              </a:spcAft>
            </a:pPr>
            <a:r>
              <a:rPr sz="1400" b="0">
                <a:solidFill>
                  <a:srgbClr val="3B4A44"/>
                </a:solidFill>
                <a:latin typeface="Open Sauce Light"/>
                <a:ea typeface="Open Sauce Light"/>
                <a:cs typeface="Open Sauce Light"/>
              </a:rPr>
              <a:t>hash chain; every decision logged first</a:t>
            </a:r>
          </a:p>
        </p:txBody>
      </p:sp>
      <p:cxnSp>
        <p:nvCxnSpPr>
          <p:cNvPr id="50" name="Connector 49"/>
          <p:cNvCxnSpPr/>
          <p:nvPr/>
        </p:nvCxnSpPr>
        <p:spPr>
          <a:xfrm>
            <a:off x="10488168" y="6419088"/>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10899648" y="5760720"/>
            <a:ext cx="5678424" cy="132588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1128248" y="5943600"/>
            <a:ext cx="5120640" cy="365760"/>
          </a:xfrm>
          <a:prstGeom prst="rect">
            <a:avLst/>
          </a:prstGeom>
          <a:noFill/>
        </p:spPr>
        <p:txBody>
          <a:bodyPr wrap="square" lIns="0" rIns="0" tIns="0" bIns="0" anchor="t">
            <a:spAutoFit/>
          </a:bodyPr>
          <a:lstStyle/>
          <a:p>
            <a:pPr algn="l">
              <a:spcAft>
                <a:spcPts val="0"/>
              </a:spcAft>
            </a:pPr>
            <a:r>
              <a:rPr sz="1700" b="0">
                <a:solidFill>
                  <a:srgbClr val="080808"/>
                </a:solidFill>
                <a:latin typeface="Open Sauce"/>
                <a:ea typeface="Open Sauce"/>
                <a:cs typeface="Open Sauce"/>
              </a:rPr>
              <a:t>Head published outside the database</a:t>
            </a:r>
          </a:p>
        </p:txBody>
      </p:sp>
      <p:sp>
        <p:nvSpPr>
          <p:cNvPr id="53" name="TextBox 52"/>
          <p:cNvSpPr txBox="1"/>
          <p:nvPr/>
        </p:nvSpPr>
        <p:spPr>
          <a:xfrm>
            <a:off x="11128248" y="6355080"/>
            <a:ext cx="5212080" cy="640080"/>
          </a:xfrm>
          <a:prstGeom prst="rect">
            <a:avLst/>
          </a:prstGeom>
          <a:noFill/>
        </p:spPr>
        <p:txBody>
          <a:bodyPr wrap="square" lIns="0" rIns="0" tIns="0" bIns="0" anchor="t">
            <a:spAutoFit/>
          </a:bodyPr>
          <a:lstStyle/>
          <a:p>
            <a:pPr algn="l">
              <a:spcAft>
                <a:spcPts val="0"/>
              </a:spcAft>
            </a:pPr>
            <a:r>
              <a:rPr sz="1400" b="0">
                <a:solidFill>
                  <a:srgbClr val="3B4A44"/>
                </a:solidFill>
                <a:latin typeface="Open Sauce Light"/>
                <a:ea typeface="Open Sauce Light"/>
                <a:cs typeface="Open Sauce Light"/>
              </a:rPr>
              <a:t>notary file or a transaction on any EVM chain</a:t>
            </a:r>
          </a:p>
        </p:txBody>
      </p:sp>
      <p:sp>
        <p:nvSpPr>
          <p:cNvPr id="54" name="TextBox 53"/>
          <p:cNvSpPr txBox="1"/>
          <p:nvPr/>
        </p:nvSpPr>
        <p:spPr>
          <a:xfrm>
            <a:off x="4754880" y="7635240"/>
            <a:ext cx="5486400" cy="365760"/>
          </a:xfrm>
          <a:prstGeom prst="rect">
            <a:avLst/>
          </a:prstGeom>
          <a:noFill/>
        </p:spPr>
        <p:txBody>
          <a:bodyPr wrap="square" lIns="0" rIns="0" tIns="0" bIns="0" anchor="t">
            <a:spAutoFit/>
          </a:bodyPr>
          <a:lstStyle/>
          <a:p>
            <a:pPr algn="l">
              <a:spcAft>
                <a:spcPts val="0"/>
              </a:spcAft>
            </a:pPr>
            <a:r>
              <a:rPr sz="1800" b="0">
                <a:solidFill>
                  <a:srgbClr val="2E9D71"/>
                </a:solidFill>
                <a:latin typeface="Open Sauce Light"/>
                <a:ea typeface="Open Sauce Light"/>
                <a:cs typeface="Open Sauce Light"/>
              </a:rPr>
              <a:t>FIVE DESIGN RULES</a:t>
            </a:r>
          </a:p>
        </p:txBody>
      </p:sp>
      <p:sp>
        <p:nvSpPr>
          <p:cNvPr id="55" name="Rounded Rectangle 54"/>
          <p:cNvSpPr/>
          <p:nvPr/>
        </p:nvSpPr>
        <p:spPr>
          <a:xfrm>
            <a:off x="475488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89204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No AI arithmetic</a:t>
            </a:r>
          </a:p>
        </p:txBody>
      </p:sp>
      <p:sp>
        <p:nvSpPr>
          <p:cNvPr id="57" name="Rounded Rectangle 56"/>
          <p:cNvSpPr/>
          <p:nvPr/>
        </p:nvSpPr>
        <p:spPr>
          <a:xfrm>
            <a:off x="713232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26948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No credentials for the AI</a:t>
            </a:r>
          </a:p>
        </p:txBody>
      </p:sp>
      <p:sp>
        <p:nvSpPr>
          <p:cNvPr id="59" name="Rounded Rectangle 58"/>
          <p:cNvSpPr/>
          <p:nvPr/>
        </p:nvSpPr>
        <p:spPr>
          <a:xfrm>
            <a:off x="950976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64692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Rules are plain code</a:t>
            </a:r>
          </a:p>
        </p:txBody>
      </p:sp>
      <p:sp>
        <p:nvSpPr>
          <p:cNvPr id="61" name="Rounded Rectangle 60"/>
          <p:cNvSpPr/>
          <p:nvPr/>
        </p:nvSpPr>
        <p:spPr>
          <a:xfrm>
            <a:off x="1188720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202436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No payee tool exists</a:t>
            </a:r>
          </a:p>
        </p:txBody>
      </p:sp>
      <p:sp>
        <p:nvSpPr>
          <p:cNvPr id="63" name="Rounded Rectangle 62"/>
          <p:cNvSpPr/>
          <p:nvPr/>
        </p:nvSpPr>
        <p:spPr>
          <a:xfrm>
            <a:off x="1426464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440180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Every figure traceable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13" id="13"/>
          <p:cNvSpPr/>
          <p:nvPr/>
        </p:nvSpPr>
        <p:spPr>
          <a:xfrm flipH="false" flipV="false" rot="0">
            <a:off x="9730991" y="-6219201"/>
            <a:ext cx="10679272" cy="9941431"/>
          </a:xfrm>
          <a:custGeom>
            <a:avLst/>
            <a:gdLst/>
            <a:ahLst/>
            <a:cxnLst/>
            <a:rect r="r" b="b" t="t" l="l"/>
            <a:pathLst>
              <a:path h="9941431" w="10679272">
                <a:moveTo>
                  <a:pt x="0" y="0"/>
                </a:moveTo>
                <a:lnTo>
                  <a:pt x="10679272" y="0"/>
                </a:lnTo>
                <a:lnTo>
                  <a:pt x="10679272" y="9941431"/>
                </a:lnTo>
                <a:lnTo>
                  <a:pt x="0" y="99414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id="14"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5" name="TextBox 14"/>
          <p:cNvSpPr txBox="1"/>
          <p:nvPr/>
        </p:nvSpPr>
        <p:spPr>
          <a:xfrm>
            <a:off x="1682496" y="2011680"/>
            <a:ext cx="91440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13-WEEK FORECAST, LATENESS-ADJUSTED</a:t>
            </a:r>
          </a:p>
        </p:txBody>
      </p:sp>
      <p:sp>
        <p:nvSpPr>
          <p:cNvPr id="16" name="TextBox 15"/>
          <p:cNvSpPr txBox="1"/>
          <p:nvPr/>
        </p:nvSpPr>
        <p:spPr>
          <a:xfrm>
            <a:off x="1682496" y="2560320"/>
            <a:ext cx="8229600" cy="914400"/>
          </a:xfrm>
          <a:prstGeom prst="rect">
            <a:avLst/>
          </a:prstGeom>
          <a:noFill/>
        </p:spPr>
        <p:txBody>
          <a:bodyPr wrap="square" lIns="0" rIns="0" tIns="0" bIns="0" anchor="t">
            <a:spAutoFit/>
          </a:bodyPr>
          <a:lstStyle/>
          <a:p>
            <a:pPr algn="l">
              <a:spcAft>
                <a:spcPts val="0"/>
              </a:spcAft>
            </a:pPr>
            <a:r>
              <a:rPr sz="8000" b="0">
                <a:solidFill>
                  <a:srgbClr val="F2FFF9"/>
                </a:solidFill>
                <a:latin typeface="Open Sauce"/>
                <a:ea typeface="Open Sauce"/>
                <a:cs typeface="Open Sauce"/>
              </a:rPr>
              <a:t>THE CASH GAP</a:t>
            </a:r>
          </a:p>
        </p:txBody>
      </p:sp>
      <p:sp>
        <p:nvSpPr>
          <p:cNvPr id="17" name="TextBox 16"/>
          <p:cNvSpPr txBox="1"/>
          <p:nvPr/>
        </p:nvSpPr>
        <p:spPr>
          <a:xfrm>
            <a:off x="1682496" y="4206240"/>
            <a:ext cx="5852160" cy="1371600"/>
          </a:xfrm>
          <a:prstGeom prst="rect">
            <a:avLst/>
          </a:prstGeom>
          <a:noFill/>
        </p:spPr>
        <p:txBody>
          <a:bodyPr wrap="square" lIns="0" rIns="0" tIns="0" bIns="0" anchor="t">
            <a:spAutoFit/>
          </a:bodyPr>
          <a:lstStyle/>
          <a:p>
            <a:pPr algn="l">
              <a:spcAft>
                <a:spcPts val="0"/>
              </a:spcAft>
            </a:pPr>
            <a:r>
              <a:rPr sz="8800" b="0">
                <a:solidFill>
                  <a:srgbClr val="F2F99E"/>
                </a:solidFill>
                <a:latin typeface="Open Sauce"/>
                <a:ea typeface="Open Sauce"/>
                <a:cs typeface="Open Sauce"/>
              </a:rPr>
              <a:t>–€9,495</a:t>
            </a:r>
          </a:p>
        </p:txBody>
      </p:sp>
      <p:sp>
        <p:nvSpPr>
          <p:cNvPr id="18" name="TextBox 17"/>
          <p:cNvSpPr txBox="1"/>
          <p:nvPr/>
        </p:nvSpPr>
        <p:spPr>
          <a:xfrm>
            <a:off x="1682496" y="5623560"/>
            <a:ext cx="5669280" cy="822960"/>
          </a:xfrm>
          <a:prstGeom prst="rect">
            <a:avLst/>
          </a:prstGeom>
          <a:noFill/>
        </p:spPr>
        <p:txBody>
          <a:bodyPr wrap="square" lIns="0" rIns="0" tIns="0" bIns="0" anchor="t">
            <a:spAutoFit/>
          </a:bodyPr>
          <a:lstStyle/>
          <a:p>
            <a:pPr algn="l">
              <a:lnSpc>
                <a:spcPct val="120000"/>
              </a:lnSpc>
              <a:spcAft>
                <a:spcPts val="0"/>
              </a:spcAft>
            </a:pPr>
            <a:r>
              <a:rPr sz="1900" b="0">
                <a:solidFill>
                  <a:srgbClr val="F2FFF9"/>
                </a:solidFill>
                <a:latin typeface="Open Sauce Light"/>
                <a:ea typeface="Open Sauce Light"/>
                <a:cs typeface="Open Sauce Light"/>
              </a:rPr>
              <a:t>Lowest balance, 25 December (week 10), from €115,100 today. First below zero on 25 November.</a:t>
            </a:r>
          </a:p>
        </p:txBody>
      </p:sp>
      <p:sp>
        <p:nvSpPr>
          <p:cNvPr id="19" name="TextBox 18"/>
          <p:cNvSpPr txBox="1"/>
          <p:nvPr/>
        </p:nvSpPr>
        <p:spPr>
          <a:xfrm>
            <a:off x="1682496" y="6720840"/>
            <a:ext cx="576072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ADJUSTED FOR LATENESS</a:t>
            </a:r>
          </a:p>
        </p:txBody>
      </p:sp>
      <p:sp>
        <p:nvSpPr>
          <p:cNvPr id="20" name="TextBox 19"/>
          <p:cNvSpPr txBox="1"/>
          <p:nvPr/>
        </p:nvSpPr>
        <p:spPr>
          <a:xfrm>
            <a:off x="1682496" y="7114031"/>
            <a:ext cx="5760720" cy="73152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Each receipt moves by that customer's own average delay, from its payment history.</a:t>
            </a:r>
          </a:p>
        </p:txBody>
      </p:sp>
      <p:sp>
        <p:nvSpPr>
          <p:cNvPr id="21" name="TextBox 20"/>
          <p:cNvSpPr txBox="1"/>
          <p:nvPr/>
        </p:nvSpPr>
        <p:spPr>
          <a:xfrm>
            <a:off x="1682496" y="7909560"/>
            <a:ext cx="576072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EVERY NUMBER EXPLAINED</a:t>
            </a:r>
          </a:p>
        </p:txBody>
      </p:sp>
      <p:sp>
        <p:nvSpPr>
          <p:cNvPr id="22" name="TextBox 21"/>
          <p:cNvSpPr txBox="1"/>
          <p:nvPr/>
        </p:nvSpPr>
        <p:spPr>
          <a:xfrm>
            <a:off x="1682496" y="8302752"/>
            <a:ext cx="5760720" cy="73152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Click any figure to see the ledger rows behind it. No AI arithmetic.</a:t>
            </a:r>
          </a:p>
        </p:txBody>
      </p:sp>
      <p:graphicFrame>
        <p:nvGraphicFramePr>
          <p:cNvPr id="23" name="Chart 22"/>
          <p:cNvGraphicFramePr>
            <a:graphicFrameLocks noGrp="1"/>
          </p:cNvGraphicFramePr>
          <p:nvPr/>
        </p:nvGraphicFramePr>
        <p:xfrm>
          <a:off x="7955279" y="3931920"/>
          <a:ext cx="8650224" cy="5120640"/>
        </p:xfrm>
        <a:graphic>
          <a:graphicData uri="http://schemas.openxmlformats.org/drawingml/2006/chart">
            <c:chart xmlns:c="http://schemas.openxmlformats.org/drawingml/2006/chart" r:id="rId9"/>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5" id="5"/>
          <p:cNvSpPr/>
          <p:nvPr/>
        </p:nvSpPr>
        <p:spPr>
          <a:xfrm flipH="true" flipV="false" rot="4506284">
            <a:off x="-272430" y="3963060"/>
            <a:ext cx="10705830" cy="10725331"/>
          </a:xfrm>
          <a:custGeom>
            <a:avLst/>
            <a:gdLst/>
            <a:ahLst/>
            <a:cxnLst/>
            <a:rect r="r" b="b" t="t" l="l"/>
            <a:pathLst>
              <a:path h="10725331" w="10705830">
                <a:moveTo>
                  <a:pt x="10705830" y="0"/>
                </a:moveTo>
                <a:lnTo>
                  <a:pt x="0" y="0"/>
                </a:lnTo>
                <a:lnTo>
                  <a:pt x="0" y="10725331"/>
                </a:lnTo>
                <a:lnTo>
                  <a:pt x="10705830" y="10725331"/>
                </a:lnTo>
                <a:lnTo>
                  <a:pt x="10705830" y="0"/>
                </a:lnTo>
                <a:close/>
              </a:path>
            </a:pathLst>
          </a:custGeom>
          <a:blipFill>
            <a:blip r:embed="rId4"/>
            <a:stretch>
              <a:fillRect l="0" t="0" r="0" b="0"/>
            </a:stretch>
          </a:blipFill>
        </p:spPr>
      </p:sp>
      <p:sp>
        <p:nvSpPr>
          <p:cNvPr name="Freeform 15" id="15"/>
          <p:cNvSpPr/>
          <p:nvPr/>
        </p:nvSpPr>
        <p:spPr>
          <a:xfrm flipH="false" flipV="false" rot="5400000">
            <a:off x="16021677" y="1574581"/>
            <a:ext cx="956414" cy="956414"/>
          </a:xfrm>
          <a:custGeom>
            <a:avLst/>
            <a:gdLst/>
            <a:ahLst/>
            <a:cxnLst/>
            <a:rect r="r" b="b" t="t" l="l"/>
            <a:pathLst>
              <a:path h="956414" w="956414">
                <a:moveTo>
                  <a:pt x="0" y="0"/>
                </a:moveTo>
                <a:lnTo>
                  <a:pt x="956414" y="0"/>
                </a:lnTo>
                <a:lnTo>
                  <a:pt x="956414" y="956414"/>
                </a:lnTo>
                <a:lnTo>
                  <a:pt x="0" y="9564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id="23"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24" name="TextBox 23"/>
          <p:cNvSpPr txBox="1"/>
          <p:nvPr/>
        </p:nvSpPr>
        <p:spPr>
          <a:xfrm>
            <a:off x="1682496" y="201168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FINANCING MATCH</a:t>
            </a:r>
          </a:p>
        </p:txBody>
      </p:sp>
      <p:sp>
        <p:nvSpPr>
          <p:cNvPr id="25" name="TextBox 24"/>
          <p:cNvSpPr txBox="1"/>
          <p:nvPr/>
        </p:nvSpPr>
        <p:spPr>
          <a:xfrm>
            <a:off x="1682496" y="2560320"/>
            <a:ext cx="14630400" cy="914400"/>
          </a:xfrm>
          <a:prstGeom prst="rect">
            <a:avLst/>
          </a:prstGeom>
          <a:noFill/>
        </p:spPr>
        <p:txBody>
          <a:bodyPr wrap="square" lIns="0" rIns="0" tIns="0" bIns="0" anchor="t">
            <a:spAutoFit/>
          </a:bodyPr>
          <a:lstStyle/>
          <a:p>
            <a:pPr algn="l">
              <a:spcAft>
                <a:spcPts val="0"/>
              </a:spcAft>
            </a:pPr>
            <a:r>
              <a:rPr sz="7200" b="0">
                <a:solidFill>
                  <a:srgbClr val="F2FFF9"/>
                </a:solidFill>
                <a:latin typeface="Open Sauce"/>
                <a:ea typeface="Open Sauce"/>
                <a:cs typeface="Open Sauce"/>
              </a:rPr>
              <a:t>FINANCING BY TRUE COST</a:t>
            </a:r>
          </a:p>
        </p:txBody>
      </p:sp>
      <p:sp>
        <p:nvSpPr>
          <p:cNvPr id="26" name="TextBox 25"/>
          <p:cNvSpPr txBox="1"/>
          <p:nvPr/>
        </p:nvSpPr>
        <p:spPr>
          <a:xfrm>
            <a:off x="1682496" y="3977639"/>
            <a:ext cx="6400800" cy="1371600"/>
          </a:xfrm>
          <a:prstGeom prst="rect">
            <a:avLst/>
          </a:prstGeom>
          <a:noFill/>
        </p:spPr>
        <p:txBody>
          <a:bodyPr wrap="square" lIns="0" rIns="0" tIns="0" bIns="0" anchor="t">
            <a:spAutoFit/>
          </a:bodyPr>
          <a:lstStyle/>
          <a:p>
            <a:pPr algn="l">
              <a:spcAft>
                <a:spcPts val="0"/>
              </a:spcAft>
            </a:pPr>
            <a:r>
              <a:rPr sz="8800" b="0">
                <a:solidFill>
                  <a:srgbClr val="56D5A2"/>
                </a:solidFill>
                <a:latin typeface="Open Sauce"/>
                <a:ea typeface="Open Sauce"/>
                <a:cs typeface="Open Sauce"/>
              </a:rPr>
              <a:t>€10,000</a:t>
            </a:r>
          </a:p>
        </p:txBody>
      </p:sp>
      <p:sp>
        <p:nvSpPr>
          <p:cNvPr id="27" name="TextBox 26"/>
          <p:cNvSpPr txBox="1"/>
          <p:nvPr/>
        </p:nvSpPr>
        <p:spPr>
          <a:xfrm>
            <a:off x="1682496" y="5349240"/>
            <a:ext cx="6217920" cy="457200"/>
          </a:xfrm>
          <a:prstGeom prst="rect">
            <a:avLst/>
          </a:prstGeom>
          <a:noFill/>
        </p:spPr>
        <p:txBody>
          <a:bodyPr wrap="square" lIns="0" rIns="0" tIns="0" bIns="0" anchor="t">
            <a:spAutoFit/>
          </a:bodyPr>
          <a:lstStyle/>
          <a:p>
            <a:pPr algn="l">
              <a:spcAft>
                <a:spcPts val="0"/>
              </a:spcAft>
            </a:pPr>
            <a:r>
              <a:rPr sz="1900" b="0">
                <a:solidFill>
                  <a:srgbClr val="F2FFF9"/>
                </a:solidFill>
                <a:latin typeface="Open Sauce Light"/>
                <a:ea typeface="Open Sauce Light"/>
                <a:cs typeface="Open Sauce Light"/>
              </a:rPr>
              <a:t>needed from 25 Nov for 31 days, computed in code</a:t>
            </a:r>
          </a:p>
        </p:txBody>
      </p:sp>
      <p:sp>
        <p:nvSpPr>
          <p:cNvPr id="28" name="TextBox 27"/>
          <p:cNvSpPr txBox="1"/>
          <p:nvPr/>
        </p:nvSpPr>
        <p:spPr>
          <a:xfrm>
            <a:off x="1682496" y="5943600"/>
            <a:ext cx="6126480" cy="36576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MATCHED, NOT GUESSED</a:t>
            </a:r>
          </a:p>
        </p:txBody>
      </p:sp>
      <p:sp>
        <p:nvSpPr>
          <p:cNvPr id="29" name="TextBox 28"/>
          <p:cNvSpPr txBox="1"/>
          <p:nvPr/>
        </p:nvSpPr>
        <p:spPr>
          <a:xfrm>
            <a:off x="1682496" y="6309360"/>
            <a:ext cx="6126480" cy="59436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Eligibility checked per product: supply-chain finance only against Brightfield invoices.</a:t>
            </a:r>
          </a:p>
        </p:txBody>
      </p:sp>
      <p:sp>
        <p:nvSpPr>
          <p:cNvPr id="30" name="TextBox 29"/>
          <p:cNvSpPr txBox="1"/>
          <p:nvPr/>
        </p:nvSpPr>
        <p:spPr>
          <a:xfrm>
            <a:off x="1682496" y="7086600"/>
            <a:ext cx="6126480" cy="36576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APPLICATION PREPARED</a:t>
            </a:r>
          </a:p>
        </p:txBody>
      </p:sp>
      <p:sp>
        <p:nvSpPr>
          <p:cNvPr id="31" name="TextBox 30"/>
          <p:cNvSpPr txBox="1"/>
          <p:nvPr/>
        </p:nvSpPr>
        <p:spPr>
          <a:xfrm>
            <a:off x="1682496" y="7452360"/>
            <a:ext cx="6126480" cy="59436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A PDF with both signatures, for the owner and the accountant. Never sent by the agent.</a:t>
            </a:r>
          </a:p>
        </p:txBody>
      </p:sp>
      <p:sp>
        <p:nvSpPr>
          <p:cNvPr id="32" name="TextBox 31"/>
          <p:cNvSpPr txBox="1"/>
          <p:nvPr/>
        </p:nvSpPr>
        <p:spPr>
          <a:xfrm>
            <a:off x="1682496" y="8229600"/>
            <a:ext cx="6126480" cy="36576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CLAIMS BACKED BY DATA</a:t>
            </a:r>
          </a:p>
        </p:txBody>
      </p:sp>
      <p:sp>
        <p:nvSpPr>
          <p:cNvPr id="33" name="TextBox 32"/>
          <p:cNvSpPr txBox="1"/>
          <p:nvPr/>
        </p:nvSpPr>
        <p:spPr>
          <a:xfrm>
            <a:off x="1682496" y="8595360"/>
            <a:ext cx="6126480" cy="59436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An amount or an action in a reply with no tool result behind it gets a visible check note.</a:t>
            </a:r>
          </a:p>
        </p:txBody>
      </p:sp>
      <p:graphicFrame>
        <p:nvGraphicFramePr>
          <p:cNvPr id="34" name="Chart 33"/>
          <p:cNvGraphicFramePr>
            <a:graphicFrameLocks noGrp="1"/>
          </p:cNvGraphicFramePr>
          <p:nvPr/>
        </p:nvGraphicFramePr>
        <p:xfrm>
          <a:off x="8138160" y="3931920"/>
          <a:ext cx="8467344" cy="4572000"/>
        </p:xfrm>
        <a:graphic>
          <a:graphicData uri="http://schemas.openxmlformats.org/drawingml/2006/chart">
            <c:chart xmlns:c="http://schemas.openxmlformats.org/drawingml/2006/chart" r:id="rId12"/>
          </a:graphicData>
        </a:graphic>
      </p:graphicFrame>
      <p:sp>
        <p:nvSpPr>
          <p:cNvPr id="35" name="TextBox 34"/>
          <p:cNvSpPr txBox="1"/>
          <p:nvPr/>
        </p:nvSpPr>
        <p:spPr>
          <a:xfrm>
            <a:off x="8138160" y="8641080"/>
            <a:ext cx="8467344"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Every option arrives before 25 November, so none is excluded; each is ranked by cost.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0">
            <a:off x="-1955157" y="-219165"/>
            <a:ext cx="10705830" cy="10725331"/>
          </a:xfrm>
          <a:custGeom>
            <a:avLst/>
            <a:gdLst/>
            <a:ahLst/>
            <a:cxnLst/>
            <a:rect r="r" b="b" t="t" l="l"/>
            <a:pathLst>
              <a:path h="10725331" w="10705830">
                <a:moveTo>
                  <a:pt x="0" y="0"/>
                </a:moveTo>
                <a:lnTo>
                  <a:pt x="10705830" y="0"/>
                </a:lnTo>
                <a:lnTo>
                  <a:pt x="10705830" y="10725330"/>
                </a:lnTo>
                <a:lnTo>
                  <a:pt x="0" y="10725330"/>
                </a:lnTo>
                <a:lnTo>
                  <a:pt x="0" y="0"/>
                </a:lnTo>
                <a:close/>
              </a:path>
            </a:pathLst>
          </a:custGeom>
          <a:blipFill>
            <a:blip r:embed="rId2"/>
            <a:stretch>
              <a:fillRect l="0" t="0" r="0" b="0"/>
            </a:stretch>
          </a:blipFill>
        </p:spPr>
      </p:sp>
      <p:sp>
        <p:nvSpPr>
          <p:cNvPr id="15"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6" name="TextBox 15"/>
          <p:cNvSpPr txBox="1"/>
          <p:nvPr/>
        </p:nvSpPr>
        <p:spPr>
          <a:xfrm>
            <a:off x="1682496" y="1965960"/>
            <a:ext cx="6766560" cy="36576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PIN FOR RISKY ACTIONS</a:t>
            </a:r>
          </a:p>
        </p:txBody>
      </p:sp>
      <p:sp>
        <p:nvSpPr>
          <p:cNvPr id="17" name="TextBox 16"/>
          <p:cNvSpPr txBox="1"/>
          <p:nvPr/>
        </p:nvSpPr>
        <p:spPr>
          <a:xfrm>
            <a:off x="1682496" y="2350008"/>
            <a:ext cx="6766560" cy="77724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Each role signs in with its own PIN; wrong guesses lock it.</a:t>
            </a:r>
          </a:p>
        </p:txBody>
      </p:sp>
      <p:sp>
        <p:nvSpPr>
          <p:cNvPr id="18" name="TextBox 17"/>
          <p:cNvSpPr txBox="1"/>
          <p:nvPr/>
        </p:nvSpPr>
        <p:spPr>
          <a:xfrm>
            <a:off x="1682496" y="3291839"/>
            <a:ext cx="6766560" cy="36576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HUMAN REVIEW</a:t>
            </a:r>
          </a:p>
        </p:txBody>
      </p:sp>
      <p:sp>
        <p:nvSpPr>
          <p:cNvPr id="19" name="TextBox 18"/>
          <p:cNvSpPr txBox="1"/>
          <p:nvPr/>
        </p:nvSpPr>
        <p:spPr>
          <a:xfrm>
            <a:off x="1682496" y="3675887"/>
            <a:ext cx="6766560" cy="77724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Owner, or both roles from two sessions; AI reviewers only advise.</a:t>
            </a:r>
          </a:p>
        </p:txBody>
      </p:sp>
      <p:sp>
        <p:nvSpPr>
          <p:cNvPr id="20" name="TextBox 19"/>
          <p:cNvSpPr txBox="1"/>
          <p:nvPr/>
        </p:nvSpPr>
        <p:spPr>
          <a:xfrm>
            <a:off x="1682496" y="4617720"/>
            <a:ext cx="6766560" cy="36576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PSEUDONYMISED BEFORE THE LLM</a:t>
            </a:r>
          </a:p>
        </p:txBody>
      </p:sp>
      <p:sp>
        <p:nvSpPr>
          <p:cNvPr id="21" name="TextBox 20"/>
          <p:cNvSpPr txBox="1"/>
          <p:nvPr/>
        </p:nvSpPr>
        <p:spPr>
          <a:xfrm>
            <a:off x="1682496" y="5001768"/>
            <a:ext cx="6766560" cy="77724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Names, e-mails and IBANs become placeholders.</a:t>
            </a:r>
          </a:p>
        </p:txBody>
      </p:sp>
      <p:sp>
        <p:nvSpPr>
          <p:cNvPr id="22" name="TextBox 21"/>
          <p:cNvSpPr txBox="1"/>
          <p:nvPr/>
        </p:nvSpPr>
        <p:spPr>
          <a:xfrm>
            <a:off x="1682496" y="576072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SECURITY: PERMISSIONS</a:t>
            </a:r>
          </a:p>
        </p:txBody>
      </p:sp>
      <p:sp>
        <p:nvSpPr>
          <p:cNvPr id="23" name="TextBox 22"/>
          <p:cNvSpPr txBox="1"/>
          <p:nvPr/>
        </p:nvSpPr>
        <p:spPr>
          <a:xfrm>
            <a:off x="1682496" y="6309360"/>
            <a:ext cx="7863840" cy="219456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PERMISSION</a:t>
            </a:r>
          </a:p>
          <a:p>
            <a:pPr algn="l">
              <a:lnSpc>
                <a:spcPct val="95000"/>
              </a:lnSpc>
              <a:spcAft>
                <a:spcPts val="0"/>
              </a:spcAft>
            </a:pPr>
            <a:r>
              <a:rPr sz="8000" b="0">
                <a:solidFill>
                  <a:srgbClr val="F2FFF9"/>
                </a:solidFill>
                <a:latin typeface="Open Sauce"/>
                <a:ea typeface="Open Sauce"/>
                <a:cs typeface="Open Sauce"/>
              </a:rPr>
              <a:t>TIERS</a:t>
            </a:r>
          </a:p>
        </p:txBody>
      </p:sp>
      <p:sp>
        <p:nvSpPr>
          <p:cNvPr id="24" name="Rounded Rectangle 23"/>
          <p:cNvSpPr/>
          <p:nvPr/>
        </p:nvSpPr>
        <p:spPr>
          <a:xfrm>
            <a:off x="9509760" y="201168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9738360" y="2286000"/>
            <a:ext cx="914400" cy="685800"/>
          </a:xfrm>
          <a:prstGeom prst="roundRect">
            <a:avLst>
              <a:gd name="adj" fmla="val 20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738360" y="2286000"/>
            <a:ext cx="914400" cy="685800"/>
          </a:xfrm>
          <a:prstGeom prst="rect">
            <a:avLst/>
          </a:prstGeom>
          <a:noFill/>
        </p:spPr>
        <p:txBody>
          <a:bodyPr wrap="square" lIns="0" rIns="0" tIns="0" bIns="0" anchor="ctr">
            <a:spAutoFit/>
          </a:bodyPr>
          <a:lstStyle/>
          <a:p>
            <a:pPr algn="ctr">
              <a:spcAft>
                <a:spcPts val="0"/>
              </a:spcAft>
            </a:pPr>
            <a:r>
              <a:rPr sz="2200" b="0">
                <a:solidFill>
                  <a:srgbClr val="56D5A2"/>
                </a:solidFill>
                <a:latin typeface="Open Sauce"/>
                <a:ea typeface="Open Sauce"/>
                <a:cs typeface="Open Sauce"/>
              </a:rPr>
              <a:t>T0</a:t>
            </a:r>
          </a:p>
        </p:txBody>
      </p:sp>
      <p:sp>
        <p:nvSpPr>
          <p:cNvPr id="27" name="TextBox 26"/>
          <p:cNvSpPr txBox="1"/>
          <p:nvPr/>
        </p:nvSpPr>
        <p:spPr>
          <a:xfrm>
            <a:off x="10927080" y="221284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READ</a:t>
            </a:r>
          </a:p>
        </p:txBody>
      </p:sp>
      <p:sp>
        <p:nvSpPr>
          <p:cNvPr id="28" name="TextBox 27"/>
          <p:cNvSpPr txBox="1"/>
          <p:nvPr/>
        </p:nvSpPr>
        <p:spPr>
          <a:xfrm>
            <a:off x="13350240" y="2212848"/>
            <a:ext cx="3108960" cy="411480"/>
          </a:xfrm>
          <a:prstGeom prst="rect">
            <a:avLst/>
          </a:prstGeom>
          <a:noFill/>
        </p:spPr>
        <p:txBody>
          <a:bodyPr wrap="square" lIns="0" rIns="0" tIns="0" bIns="0" anchor="t">
            <a:spAutoFit/>
          </a:bodyPr>
          <a:lstStyle/>
          <a:p>
            <a:pPr algn="r">
              <a:spcAft>
                <a:spcPts val="0"/>
              </a:spcAft>
            </a:pPr>
            <a:r>
              <a:rPr sz="1600" b="0">
                <a:solidFill>
                  <a:srgbClr val="56D5A2"/>
                </a:solidFill>
                <a:latin typeface="Open Sauce Light"/>
                <a:ea typeface="Open Sauce Light"/>
                <a:cs typeface="Open Sauce Light"/>
              </a:rPr>
              <a:t>Automatic</a:t>
            </a:r>
          </a:p>
        </p:txBody>
      </p:sp>
      <p:sp>
        <p:nvSpPr>
          <p:cNvPr id="29" name="TextBox 28"/>
          <p:cNvSpPr txBox="1"/>
          <p:nvPr/>
        </p:nvSpPr>
        <p:spPr>
          <a:xfrm>
            <a:off x="10927080" y="267004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Balances, invoices, flag a document</a:t>
            </a:r>
          </a:p>
        </p:txBody>
      </p:sp>
      <p:sp>
        <p:nvSpPr>
          <p:cNvPr id="30" name="Rounded Rectangle 29"/>
          <p:cNvSpPr/>
          <p:nvPr/>
        </p:nvSpPr>
        <p:spPr>
          <a:xfrm>
            <a:off x="9509760" y="342900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738360" y="3703320"/>
            <a:ext cx="914400" cy="685800"/>
          </a:xfrm>
          <a:prstGeom prst="roundRect">
            <a:avLst>
              <a:gd name="adj" fmla="val 20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38360" y="3703320"/>
            <a:ext cx="914400" cy="685800"/>
          </a:xfrm>
          <a:prstGeom prst="rect">
            <a:avLst/>
          </a:prstGeom>
          <a:noFill/>
        </p:spPr>
        <p:txBody>
          <a:bodyPr wrap="square" lIns="0" rIns="0" tIns="0" bIns="0" anchor="ctr">
            <a:spAutoFit/>
          </a:bodyPr>
          <a:lstStyle/>
          <a:p>
            <a:pPr algn="ctr">
              <a:spcAft>
                <a:spcPts val="0"/>
              </a:spcAft>
            </a:pPr>
            <a:r>
              <a:rPr sz="2200" b="0">
                <a:solidFill>
                  <a:srgbClr val="56D5A2"/>
                </a:solidFill>
                <a:latin typeface="Open Sauce"/>
                <a:ea typeface="Open Sauce"/>
                <a:cs typeface="Open Sauce"/>
              </a:rPr>
              <a:t>T1</a:t>
            </a:r>
          </a:p>
        </p:txBody>
      </p:sp>
      <p:sp>
        <p:nvSpPr>
          <p:cNvPr id="33" name="TextBox 32"/>
          <p:cNvSpPr txBox="1"/>
          <p:nvPr/>
        </p:nvSpPr>
        <p:spPr>
          <a:xfrm>
            <a:off x="10927080" y="363016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ANALYSE</a:t>
            </a:r>
          </a:p>
        </p:txBody>
      </p:sp>
      <p:sp>
        <p:nvSpPr>
          <p:cNvPr id="34" name="TextBox 33"/>
          <p:cNvSpPr txBox="1"/>
          <p:nvPr/>
        </p:nvSpPr>
        <p:spPr>
          <a:xfrm>
            <a:off x="13350240" y="3630168"/>
            <a:ext cx="3108960" cy="411480"/>
          </a:xfrm>
          <a:prstGeom prst="rect">
            <a:avLst/>
          </a:prstGeom>
          <a:noFill/>
        </p:spPr>
        <p:txBody>
          <a:bodyPr wrap="square" lIns="0" rIns="0" tIns="0" bIns="0" anchor="t">
            <a:spAutoFit/>
          </a:bodyPr>
          <a:lstStyle/>
          <a:p>
            <a:pPr algn="r">
              <a:spcAft>
                <a:spcPts val="0"/>
              </a:spcAft>
            </a:pPr>
            <a:r>
              <a:rPr sz="1600" b="0">
                <a:solidFill>
                  <a:srgbClr val="56D5A2"/>
                </a:solidFill>
                <a:latin typeface="Open Sauce Light"/>
                <a:ea typeface="Open Sauce Light"/>
                <a:cs typeface="Open Sauce Light"/>
              </a:rPr>
              <a:t>Automatic, logged</a:t>
            </a:r>
          </a:p>
        </p:txBody>
      </p:sp>
      <p:sp>
        <p:nvSpPr>
          <p:cNvPr id="35" name="TextBox 34"/>
          <p:cNvSpPr txBox="1"/>
          <p:nvPr/>
        </p:nvSpPr>
        <p:spPr>
          <a:xfrm>
            <a:off x="10927080" y="408736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Forecast, scenarios, compare financing</a:t>
            </a:r>
          </a:p>
        </p:txBody>
      </p:sp>
      <p:sp>
        <p:nvSpPr>
          <p:cNvPr id="36" name="Rounded Rectangle 35"/>
          <p:cNvSpPr/>
          <p:nvPr/>
        </p:nvSpPr>
        <p:spPr>
          <a:xfrm>
            <a:off x="9509760" y="484632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9738360" y="5120640"/>
            <a:ext cx="914400" cy="685800"/>
          </a:xfrm>
          <a:prstGeom prst="roundRect">
            <a:avLst>
              <a:gd name="adj" fmla="val 20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738360" y="5120640"/>
            <a:ext cx="914400" cy="685800"/>
          </a:xfrm>
          <a:prstGeom prst="rect">
            <a:avLst/>
          </a:prstGeom>
          <a:noFill/>
        </p:spPr>
        <p:txBody>
          <a:bodyPr wrap="square" lIns="0" rIns="0" tIns="0" bIns="0" anchor="ctr">
            <a:spAutoFit/>
          </a:bodyPr>
          <a:lstStyle/>
          <a:p>
            <a:pPr algn="ctr">
              <a:spcAft>
                <a:spcPts val="0"/>
              </a:spcAft>
            </a:pPr>
            <a:r>
              <a:rPr sz="2200" b="0">
                <a:solidFill>
                  <a:srgbClr val="56D5A2"/>
                </a:solidFill>
                <a:latin typeface="Open Sauce"/>
                <a:ea typeface="Open Sauce"/>
                <a:cs typeface="Open Sauce"/>
              </a:rPr>
              <a:t>T2</a:t>
            </a:r>
          </a:p>
        </p:txBody>
      </p:sp>
      <p:sp>
        <p:nvSpPr>
          <p:cNvPr id="39" name="TextBox 38"/>
          <p:cNvSpPr txBox="1"/>
          <p:nvPr/>
        </p:nvSpPr>
        <p:spPr>
          <a:xfrm>
            <a:off x="10927080" y="504748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LOW RISK</a:t>
            </a:r>
          </a:p>
        </p:txBody>
      </p:sp>
      <p:sp>
        <p:nvSpPr>
          <p:cNvPr id="40" name="TextBox 39"/>
          <p:cNvSpPr txBox="1"/>
          <p:nvPr/>
        </p:nvSpPr>
        <p:spPr>
          <a:xfrm>
            <a:off x="13350240" y="5047488"/>
            <a:ext cx="3108960" cy="411480"/>
          </a:xfrm>
          <a:prstGeom prst="rect">
            <a:avLst/>
          </a:prstGeom>
          <a:noFill/>
        </p:spPr>
        <p:txBody>
          <a:bodyPr wrap="square" lIns="0" rIns="0" tIns="0" bIns="0" anchor="t">
            <a:spAutoFit/>
          </a:bodyPr>
          <a:lstStyle/>
          <a:p>
            <a:pPr algn="r">
              <a:spcAft>
                <a:spcPts val="0"/>
              </a:spcAft>
            </a:pPr>
            <a:r>
              <a:rPr sz="1600" b="0">
                <a:solidFill>
                  <a:srgbClr val="56D5A2"/>
                </a:solidFill>
                <a:latin typeface="Open Sauce Light"/>
                <a:ea typeface="Open Sauce Light"/>
                <a:cs typeface="Open Sauce Light"/>
              </a:rPr>
              <a:t>Automatic</a:t>
            </a:r>
          </a:p>
        </p:txBody>
      </p:sp>
      <p:sp>
        <p:nvSpPr>
          <p:cNvPr id="41" name="TextBox 40"/>
          <p:cNvSpPr txBox="1"/>
          <p:nvPr/>
        </p:nvSpPr>
        <p:spPr>
          <a:xfrm>
            <a:off x="10927080" y="550468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Reminders, capped payments up to €1,000</a:t>
            </a:r>
          </a:p>
        </p:txBody>
      </p:sp>
      <p:sp>
        <p:nvSpPr>
          <p:cNvPr id="42" name="Rounded Rectangle 41"/>
          <p:cNvSpPr/>
          <p:nvPr/>
        </p:nvSpPr>
        <p:spPr>
          <a:xfrm>
            <a:off x="9509760" y="626364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9738360" y="6537960"/>
            <a:ext cx="914400" cy="685800"/>
          </a:xfrm>
          <a:prstGeom prst="roundRect">
            <a:avLst>
              <a:gd name="adj" fmla="val 20000"/>
            </a:avLst>
          </a:prstGeom>
          <a:solidFill>
            <a:srgbClr val="080808"/>
          </a:solidFill>
          <a:ln w="19050">
            <a:solidFill>
              <a:srgbClr val="F2F9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738360" y="6537960"/>
            <a:ext cx="914400" cy="685800"/>
          </a:xfrm>
          <a:prstGeom prst="rect">
            <a:avLst/>
          </a:prstGeom>
          <a:noFill/>
        </p:spPr>
        <p:txBody>
          <a:bodyPr wrap="square" lIns="0" rIns="0" tIns="0" bIns="0" anchor="ctr">
            <a:spAutoFit/>
          </a:bodyPr>
          <a:lstStyle/>
          <a:p>
            <a:pPr algn="ctr">
              <a:spcAft>
                <a:spcPts val="0"/>
              </a:spcAft>
            </a:pPr>
            <a:r>
              <a:rPr sz="2200" b="0">
                <a:solidFill>
                  <a:srgbClr val="F2F99E"/>
                </a:solidFill>
                <a:latin typeface="Open Sauce"/>
                <a:ea typeface="Open Sauce"/>
                <a:cs typeface="Open Sauce"/>
              </a:rPr>
              <a:t>T3</a:t>
            </a:r>
          </a:p>
        </p:txBody>
      </p:sp>
      <p:sp>
        <p:nvSpPr>
          <p:cNvPr id="45" name="TextBox 44"/>
          <p:cNvSpPr txBox="1"/>
          <p:nvPr/>
        </p:nvSpPr>
        <p:spPr>
          <a:xfrm>
            <a:off x="10927080" y="646480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APPROVAL</a:t>
            </a:r>
          </a:p>
        </p:txBody>
      </p:sp>
      <p:sp>
        <p:nvSpPr>
          <p:cNvPr id="46" name="TextBox 45"/>
          <p:cNvSpPr txBox="1"/>
          <p:nvPr/>
        </p:nvSpPr>
        <p:spPr>
          <a:xfrm>
            <a:off x="13350240" y="6464808"/>
            <a:ext cx="3108960" cy="411480"/>
          </a:xfrm>
          <a:prstGeom prst="rect">
            <a:avLst/>
          </a:prstGeom>
          <a:noFill/>
        </p:spPr>
        <p:txBody>
          <a:bodyPr wrap="square" lIns="0" rIns="0" tIns="0" bIns="0" anchor="t">
            <a:spAutoFit/>
          </a:bodyPr>
          <a:lstStyle/>
          <a:p>
            <a:pPr algn="r">
              <a:spcAft>
                <a:spcPts val="0"/>
              </a:spcAft>
            </a:pPr>
            <a:r>
              <a:rPr sz="1600" b="0">
                <a:solidFill>
                  <a:srgbClr val="F2F99E"/>
                </a:solidFill>
                <a:latin typeface="Open Sauce Light"/>
                <a:ea typeface="Open Sauce Light"/>
                <a:cs typeface="Open Sauce Light"/>
              </a:rPr>
              <a:t>Owner, or owner + accountant</a:t>
            </a:r>
          </a:p>
        </p:txBody>
      </p:sp>
      <p:sp>
        <p:nvSpPr>
          <p:cNvPr id="47" name="TextBox 46"/>
          <p:cNvSpPr txBox="1"/>
          <p:nvPr/>
        </p:nvSpPr>
        <p:spPr>
          <a:xfrm>
            <a:off x="10927080" y="692200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Reschedule, financing, larger payments</a:t>
            </a:r>
          </a:p>
        </p:txBody>
      </p:sp>
      <p:sp>
        <p:nvSpPr>
          <p:cNvPr id="48" name="Rounded Rectangle 47"/>
          <p:cNvSpPr/>
          <p:nvPr/>
        </p:nvSpPr>
        <p:spPr>
          <a:xfrm>
            <a:off x="9509760" y="768096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9738360" y="7955280"/>
            <a:ext cx="914400" cy="685800"/>
          </a:xfrm>
          <a:prstGeom prst="roundRect">
            <a:avLst>
              <a:gd name="adj" fmla="val 20000"/>
            </a:avLst>
          </a:prstGeom>
          <a:solidFill>
            <a:srgbClr val="080808"/>
          </a:solidFill>
          <a:ln w="19050">
            <a:solidFill>
              <a:srgbClr val="F08A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738360" y="7955280"/>
            <a:ext cx="914400" cy="685800"/>
          </a:xfrm>
          <a:prstGeom prst="rect">
            <a:avLst/>
          </a:prstGeom>
          <a:noFill/>
        </p:spPr>
        <p:txBody>
          <a:bodyPr wrap="square" lIns="0" rIns="0" tIns="0" bIns="0" anchor="ctr">
            <a:spAutoFit/>
          </a:bodyPr>
          <a:lstStyle/>
          <a:p>
            <a:pPr algn="ctr">
              <a:spcAft>
                <a:spcPts val="0"/>
              </a:spcAft>
            </a:pPr>
            <a:r>
              <a:rPr sz="2200" b="0">
                <a:solidFill>
                  <a:srgbClr val="F08A7A"/>
                </a:solidFill>
                <a:latin typeface="Open Sauce"/>
                <a:ea typeface="Open Sauce"/>
                <a:cs typeface="Open Sauce"/>
              </a:rPr>
              <a:t>T4</a:t>
            </a:r>
          </a:p>
        </p:txBody>
      </p:sp>
      <p:sp>
        <p:nvSpPr>
          <p:cNvPr id="51" name="TextBox 50"/>
          <p:cNvSpPr txBox="1"/>
          <p:nvPr/>
        </p:nvSpPr>
        <p:spPr>
          <a:xfrm>
            <a:off x="10927080" y="788212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FORBIDDEN</a:t>
            </a:r>
          </a:p>
        </p:txBody>
      </p:sp>
      <p:sp>
        <p:nvSpPr>
          <p:cNvPr id="52" name="TextBox 51"/>
          <p:cNvSpPr txBox="1"/>
          <p:nvPr/>
        </p:nvSpPr>
        <p:spPr>
          <a:xfrm>
            <a:off x="13350240" y="7882128"/>
            <a:ext cx="3108960" cy="411480"/>
          </a:xfrm>
          <a:prstGeom prst="rect">
            <a:avLst/>
          </a:prstGeom>
          <a:noFill/>
        </p:spPr>
        <p:txBody>
          <a:bodyPr wrap="square" lIns="0" rIns="0" tIns="0" bIns="0" anchor="t">
            <a:spAutoFit/>
          </a:bodyPr>
          <a:lstStyle/>
          <a:p>
            <a:pPr algn="r">
              <a:spcAft>
                <a:spcPts val="0"/>
              </a:spcAft>
            </a:pPr>
            <a:r>
              <a:rPr sz="1600" b="0">
                <a:solidFill>
                  <a:srgbClr val="F08A7A"/>
                </a:solidFill>
                <a:latin typeface="Open Sauce Light"/>
                <a:ea typeface="Open Sauce Light"/>
                <a:cs typeface="Open Sauce Light"/>
              </a:rPr>
              <a:t>No such tool exists</a:t>
            </a:r>
          </a:p>
        </p:txBody>
      </p:sp>
      <p:sp>
        <p:nvSpPr>
          <p:cNvPr id="53" name="TextBox 52"/>
          <p:cNvSpPr txBox="1"/>
          <p:nvPr/>
        </p:nvSpPr>
        <p:spPr>
          <a:xfrm>
            <a:off x="10927080" y="833932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Add a payee, change limits, export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72754" y="-3002400"/>
            <a:ext cx="10705830" cy="10725331"/>
          </a:xfrm>
          <a:custGeom>
            <a:avLst/>
            <a:gdLst/>
            <a:ahLst/>
            <a:cxnLst/>
            <a:rect r="r" b="b" t="t" l="l"/>
            <a:pathLst>
              <a:path h="10725331" w="10705830">
                <a:moveTo>
                  <a:pt x="0" y="0"/>
                </a:moveTo>
                <a:lnTo>
                  <a:pt x="10705830" y="0"/>
                </a:lnTo>
                <a:lnTo>
                  <a:pt x="10705830" y="10725331"/>
                </a:lnTo>
                <a:lnTo>
                  <a:pt x="0" y="10725331"/>
                </a:lnTo>
                <a:lnTo>
                  <a:pt x="0" y="0"/>
                </a:lnTo>
                <a:close/>
              </a:path>
            </a:pathLst>
          </a:custGeom>
          <a:blipFill>
            <a:blip r:embed="rId2"/>
            <a:stretch>
              <a:fillRect l="0" t="0" r="0" b="0"/>
            </a:stretch>
          </a:blipFill>
        </p:spPr>
      </p:sp>
      <p:sp>
        <p:nvSpPr>
          <p:cNvPr id="17"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8" name="TextBox 17"/>
          <p:cNvSpPr txBox="1"/>
          <p:nvPr/>
        </p:nvSpPr>
        <p:spPr>
          <a:xfrm>
            <a:off x="1682496" y="2011680"/>
            <a:ext cx="5486400" cy="1371600"/>
          </a:xfrm>
          <a:prstGeom prst="rect">
            <a:avLst/>
          </a:prstGeom>
          <a:noFill/>
        </p:spPr>
        <p:txBody>
          <a:bodyPr wrap="square" lIns="0" rIns="0" tIns="0" bIns="0" anchor="t">
            <a:spAutoFit/>
          </a:bodyPr>
          <a:lstStyle/>
          <a:p>
            <a:pPr algn="l">
              <a:spcAft>
                <a:spcPts val="0"/>
              </a:spcAft>
            </a:pPr>
            <a:r>
              <a:rPr sz="9600" b="0">
                <a:solidFill>
                  <a:srgbClr val="56D5A2"/>
                </a:solidFill>
                <a:latin typeface="Open Sauce"/>
                <a:ea typeface="Open Sauce"/>
                <a:cs typeface="Open Sauce"/>
              </a:rPr>
              <a:t>10 / 10</a:t>
            </a:r>
          </a:p>
        </p:txBody>
      </p:sp>
      <p:sp>
        <p:nvSpPr>
          <p:cNvPr id="19" name="TextBox 18"/>
          <p:cNvSpPr txBox="1"/>
          <p:nvPr/>
        </p:nvSpPr>
        <p:spPr>
          <a:xfrm>
            <a:off x="1682496" y="3520440"/>
            <a:ext cx="5486400" cy="822960"/>
          </a:xfrm>
          <a:prstGeom prst="rect">
            <a:avLst/>
          </a:prstGeom>
          <a:noFill/>
        </p:spPr>
        <p:txBody>
          <a:bodyPr wrap="square" lIns="0" rIns="0" tIns="0" bIns="0" anchor="t">
            <a:spAutoFit/>
          </a:bodyPr>
          <a:lstStyle/>
          <a:p>
            <a:pPr algn="l">
              <a:lnSpc>
                <a:spcPct val="120000"/>
              </a:lnSpc>
              <a:spcAft>
                <a:spcPts val="0"/>
              </a:spcAft>
            </a:pPr>
            <a:r>
              <a:rPr sz="1900" b="0">
                <a:solidFill>
                  <a:srgbClr val="F2FFF9"/>
                </a:solidFill>
                <a:latin typeface="Open Sauce Light"/>
                <a:ea typeface="Open Sauce Light"/>
                <a:cs typeface="Open Sauce Light"/>
              </a:rPr>
              <a:t>attack scenarios stopped (A1 to A10), each an automated test</a:t>
            </a:r>
          </a:p>
        </p:txBody>
      </p:sp>
      <p:sp>
        <p:nvSpPr>
          <p:cNvPr id="20" name="TextBox 19"/>
          <p:cNvSpPr txBox="1"/>
          <p:nvPr/>
        </p:nvSpPr>
        <p:spPr>
          <a:xfrm>
            <a:off x="1682496" y="4526280"/>
            <a:ext cx="6035040" cy="822960"/>
          </a:xfrm>
          <a:prstGeom prst="rect">
            <a:avLst/>
          </a:prstGeom>
          <a:noFill/>
        </p:spPr>
        <p:txBody>
          <a:bodyPr wrap="square" lIns="0" rIns="0" tIns="0" bIns="0" anchor="t">
            <a:spAutoFit/>
          </a:bodyPr>
          <a:lstStyle/>
          <a:p>
            <a:pPr algn="l">
              <a:lnSpc>
                <a:spcPct val="120000"/>
              </a:lnSpc>
              <a:spcAft>
                <a:spcPts val="0"/>
              </a:spcAft>
            </a:pPr>
            <a:r>
              <a:rPr sz="1600" b="0">
                <a:solidFill>
                  <a:srgbClr val="9FB5AB"/>
                </a:solidFill>
                <a:latin typeface="Open Sauce Light"/>
                <a:ea typeface="Open Sauce Light"/>
                <a:cs typeface="Open Sauce Light"/>
              </a:rPr>
              <a:t>702 tests in all · judge tasks 19/19 offline, 20/21 on live DeepSeek</a:t>
            </a:r>
          </a:p>
        </p:txBody>
      </p:sp>
      <p:sp>
        <p:nvSpPr>
          <p:cNvPr id="21" name="TextBox 20"/>
          <p:cNvSpPr txBox="1"/>
          <p:nvPr/>
        </p:nvSpPr>
        <p:spPr>
          <a:xfrm>
            <a:off x="1682496" y="576072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SECURITY: AUDIT + RED TEAM</a:t>
            </a:r>
          </a:p>
        </p:txBody>
      </p:sp>
      <p:sp>
        <p:nvSpPr>
          <p:cNvPr id="22" name="TextBox 21"/>
          <p:cNvSpPr txBox="1"/>
          <p:nvPr/>
        </p:nvSpPr>
        <p:spPr>
          <a:xfrm>
            <a:off x="1682496" y="6309360"/>
            <a:ext cx="6583680" cy="219456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BUILT TO BE</a:t>
            </a:r>
          </a:p>
          <a:p>
            <a:pPr algn="l">
              <a:lnSpc>
                <a:spcPct val="95000"/>
              </a:lnSpc>
              <a:spcAft>
                <a:spcPts val="0"/>
              </a:spcAft>
            </a:pPr>
            <a:r>
              <a:rPr sz="8000" b="0">
                <a:solidFill>
                  <a:srgbClr val="F2FFF9"/>
                </a:solidFill>
                <a:latin typeface="Open Sauce"/>
                <a:ea typeface="Open Sauce"/>
                <a:cs typeface="Open Sauce"/>
              </a:rPr>
              <a:t>ATTACKED</a:t>
            </a:r>
          </a:p>
        </p:txBody>
      </p:sp>
      <p:sp>
        <p:nvSpPr>
          <p:cNvPr id="23" name="TextBox 22"/>
          <p:cNvSpPr txBox="1"/>
          <p:nvPr/>
        </p:nvSpPr>
        <p:spPr>
          <a:xfrm>
            <a:off x="8778240" y="2011680"/>
            <a:ext cx="777240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HASH-CHAINED AUDIT LOG</a:t>
            </a:r>
          </a:p>
        </p:txBody>
      </p:sp>
      <p:sp>
        <p:nvSpPr>
          <p:cNvPr id="24" name="Rounded Rectangle 23"/>
          <p:cNvSpPr/>
          <p:nvPr/>
        </p:nvSpPr>
        <p:spPr>
          <a:xfrm>
            <a:off x="8778240" y="2514600"/>
            <a:ext cx="1600200" cy="777240"/>
          </a:xfrm>
          <a:prstGeom prst="roundRect">
            <a:avLst>
              <a:gd name="adj" fmla="val 8000"/>
            </a:avLst>
          </a:prstGeom>
          <a:solidFill>
            <a:srgbClr val="111C17"/>
          </a:solidFill>
          <a:ln w="1905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778240" y="2514600"/>
            <a:ext cx="1600200" cy="777240"/>
          </a:xfrm>
          <a:prstGeom prst="rect">
            <a:avLst/>
          </a:prstGeom>
          <a:noFill/>
        </p:spPr>
        <p:txBody>
          <a:bodyPr wrap="square" lIns="0" rIns="0" tIns="0" bIns="0" anchor="ctr">
            <a:spAutoFit/>
          </a:bodyPr>
          <a:lstStyle/>
          <a:p>
            <a:pPr algn="ctr">
              <a:spcAft>
                <a:spcPts val="0"/>
              </a:spcAft>
            </a:pPr>
            <a:r>
              <a:rPr sz="1900" b="0">
                <a:solidFill>
                  <a:srgbClr val="F2FFF9"/>
                </a:solidFill>
                <a:latin typeface="Open Sauce"/>
                <a:ea typeface="Open Sauce"/>
                <a:cs typeface="Open Sauce"/>
              </a:rPr>
              <a:t>#43</a:t>
            </a:r>
          </a:p>
        </p:txBody>
      </p:sp>
      <p:cxnSp>
        <p:nvCxnSpPr>
          <p:cNvPr id="26" name="Connector 25"/>
          <p:cNvCxnSpPr/>
          <p:nvPr/>
        </p:nvCxnSpPr>
        <p:spPr>
          <a:xfrm>
            <a:off x="10396728" y="2898648"/>
            <a:ext cx="329184" cy="0"/>
          </a:xfrm>
          <a:prstGeom prst="line">
            <a:avLst/>
          </a:prstGeom>
          <a:ln w="22225">
            <a:solidFill>
              <a:srgbClr val="2847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744200" y="2514600"/>
            <a:ext cx="1600200" cy="777240"/>
          </a:xfrm>
          <a:prstGeom prst="roundRect">
            <a:avLst>
              <a:gd name="adj" fmla="val 8000"/>
            </a:avLst>
          </a:prstGeom>
          <a:solidFill>
            <a:srgbClr val="111C17"/>
          </a:solidFill>
          <a:ln w="1905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744200" y="2514600"/>
            <a:ext cx="1600200" cy="777240"/>
          </a:xfrm>
          <a:prstGeom prst="rect">
            <a:avLst/>
          </a:prstGeom>
          <a:noFill/>
        </p:spPr>
        <p:txBody>
          <a:bodyPr wrap="square" lIns="0" rIns="0" tIns="0" bIns="0" anchor="ctr">
            <a:spAutoFit/>
          </a:bodyPr>
          <a:lstStyle/>
          <a:p>
            <a:pPr algn="ctr">
              <a:spcAft>
                <a:spcPts val="0"/>
              </a:spcAft>
            </a:pPr>
            <a:r>
              <a:rPr sz="1900" b="0">
                <a:solidFill>
                  <a:srgbClr val="F2FFF9"/>
                </a:solidFill>
                <a:latin typeface="Open Sauce"/>
                <a:ea typeface="Open Sauce"/>
                <a:cs typeface="Open Sauce"/>
              </a:rPr>
              <a:t>#44</a:t>
            </a:r>
          </a:p>
        </p:txBody>
      </p:sp>
      <p:cxnSp>
        <p:nvCxnSpPr>
          <p:cNvPr id="29" name="Connector 28"/>
          <p:cNvCxnSpPr/>
          <p:nvPr/>
        </p:nvCxnSpPr>
        <p:spPr>
          <a:xfrm>
            <a:off x="12362688" y="2898648"/>
            <a:ext cx="329184" cy="0"/>
          </a:xfrm>
          <a:prstGeom prst="line">
            <a:avLst/>
          </a:prstGeom>
          <a:ln w="22225">
            <a:solidFill>
              <a:srgbClr val="2847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2710159" y="2514600"/>
            <a:ext cx="1600200" cy="777240"/>
          </a:xfrm>
          <a:prstGeom prst="roundRect">
            <a:avLst>
              <a:gd name="adj" fmla="val 8000"/>
            </a:avLst>
          </a:prstGeom>
          <a:solidFill>
            <a:srgbClr val="111C17"/>
          </a:solidFill>
          <a:ln w="1905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710159" y="2514600"/>
            <a:ext cx="1600200" cy="777240"/>
          </a:xfrm>
          <a:prstGeom prst="rect">
            <a:avLst/>
          </a:prstGeom>
          <a:noFill/>
        </p:spPr>
        <p:txBody>
          <a:bodyPr wrap="square" lIns="0" rIns="0" tIns="0" bIns="0" anchor="ctr">
            <a:spAutoFit/>
          </a:bodyPr>
          <a:lstStyle/>
          <a:p>
            <a:pPr algn="ctr">
              <a:spcAft>
                <a:spcPts val="0"/>
              </a:spcAft>
            </a:pPr>
            <a:r>
              <a:rPr sz="1900" b="0">
                <a:solidFill>
                  <a:srgbClr val="F2FFF9"/>
                </a:solidFill>
                <a:latin typeface="Open Sauce"/>
                <a:ea typeface="Open Sauce"/>
                <a:cs typeface="Open Sauce"/>
              </a:rPr>
              <a:t>#45</a:t>
            </a:r>
          </a:p>
        </p:txBody>
      </p:sp>
      <p:cxnSp>
        <p:nvCxnSpPr>
          <p:cNvPr id="32" name="Connector 31"/>
          <p:cNvCxnSpPr/>
          <p:nvPr/>
        </p:nvCxnSpPr>
        <p:spPr>
          <a:xfrm>
            <a:off x="14328647" y="2898648"/>
            <a:ext cx="329184" cy="0"/>
          </a:xfrm>
          <a:prstGeom prst="line">
            <a:avLst/>
          </a:prstGeom>
          <a:ln w="22225">
            <a:solidFill>
              <a:srgbClr val="56D5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4676119" y="2514600"/>
            <a:ext cx="1600200" cy="777240"/>
          </a:xfrm>
          <a:prstGeom prst="roundRect">
            <a:avLst>
              <a:gd name="adj" fmla="val 8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4676119" y="2514600"/>
            <a:ext cx="1600200" cy="777240"/>
          </a:xfrm>
          <a:prstGeom prst="rect">
            <a:avLst/>
          </a:prstGeom>
          <a:noFill/>
        </p:spPr>
        <p:txBody>
          <a:bodyPr wrap="square" lIns="0" rIns="0" tIns="0" bIns="0" anchor="ctr">
            <a:spAutoFit/>
          </a:bodyPr>
          <a:lstStyle/>
          <a:p>
            <a:pPr algn="ctr">
              <a:spcAft>
                <a:spcPts val="0"/>
              </a:spcAft>
            </a:pPr>
            <a:r>
              <a:rPr sz="1900" b="0">
                <a:solidFill>
                  <a:srgbClr val="56D5A2"/>
                </a:solidFill>
                <a:latin typeface="Open Sauce"/>
                <a:ea typeface="Open Sauce"/>
                <a:cs typeface="Open Sauce"/>
              </a:rPr>
              <a:t>HEAD</a:t>
            </a:r>
          </a:p>
        </p:txBody>
      </p:sp>
      <p:sp>
        <p:nvSpPr>
          <p:cNvPr id="35" name="TextBox 34"/>
          <p:cNvSpPr txBox="1"/>
          <p:nvPr/>
        </p:nvSpPr>
        <p:spPr>
          <a:xfrm>
            <a:off x="8778240" y="3429000"/>
            <a:ext cx="777240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Head published outside the database: notary file or EVM transaction.</a:t>
            </a:r>
          </a:p>
        </p:txBody>
      </p:sp>
      <p:sp>
        <p:nvSpPr>
          <p:cNvPr id="36" name="TextBox 35"/>
          <p:cNvSpPr txBox="1"/>
          <p:nvPr/>
        </p:nvSpPr>
        <p:spPr>
          <a:xfrm>
            <a:off x="8778240" y="4023360"/>
            <a:ext cx="777240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Light"/>
                <a:ea typeface="Open Sauce Light"/>
                <a:cs typeface="Open Sauce Light"/>
              </a:rPr>
              <a:t>INSIDER REWRITES AN ENTRY AND RECOMPUTES EVERY HASH</a:t>
            </a:r>
          </a:p>
        </p:txBody>
      </p:sp>
      <p:sp>
        <p:nvSpPr>
          <p:cNvPr id="37" name="Rounded Rectangle 36"/>
          <p:cNvSpPr/>
          <p:nvPr/>
        </p:nvSpPr>
        <p:spPr>
          <a:xfrm>
            <a:off x="8778240" y="4480560"/>
            <a:ext cx="3703320" cy="14173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052560" y="4617720"/>
            <a:ext cx="320040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LOCAL HASH CHAIN</a:t>
            </a:r>
          </a:p>
        </p:txBody>
      </p:sp>
      <p:sp>
        <p:nvSpPr>
          <p:cNvPr id="39" name="TextBox 38"/>
          <p:cNvSpPr txBox="1"/>
          <p:nvPr/>
        </p:nvSpPr>
        <p:spPr>
          <a:xfrm>
            <a:off x="9052560" y="4983480"/>
            <a:ext cx="3291840" cy="731520"/>
          </a:xfrm>
          <a:prstGeom prst="rect">
            <a:avLst/>
          </a:prstGeom>
          <a:noFill/>
        </p:spPr>
        <p:txBody>
          <a:bodyPr wrap="square" lIns="0" rIns="0" tIns="0" bIns="0" anchor="t">
            <a:spAutoFit/>
          </a:bodyPr>
          <a:lstStyle/>
          <a:p>
            <a:pPr algn="l">
              <a:spcAft>
                <a:spcPts val="0"/>
              </a:spcAft>
            </a:pPr>
            <a:r>
              <a:rPr sz="3600" b="0">
                <a:solidFill>
                  <a:srgbClr val="F2F99E"/>
                </a:solidFill>
                <a:latin typeface="Open Sauce"/>
                <a:ea typeface="Open Sauce"/>
                <a:cs typeface="Open Sauce"/>
              </a:rPr>
              <a:t>FOOLED</a:t>
            </a:r>
          </a:p>
        </p:txBody>
      </p:sp>
      <p:sp>
        <p:nvSpPr>
          <p:cNvPr id="40" name="Rounded Rectangle 39"/>
          <p:cNvSpPr/>
          <p:nvPr/>
        </p:nvSpPr>
        <p:spPr>
          <a:xfrm>
            <a:off x="12710159" y="4480560"/>
            <a:ext cx="3703320" cy="14173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2984480" y="4617720"/>
            <a:ext cx="320040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PUBLISHED HEAD</a:t>
            </a:r>
          </a:p>
        </p:txBody>
      </p:sp>
      <p:sp>
        <p:nvSpPr>
          <p:cNvPr id="42" name="TextBox 41"/>
          <p:cNvSpPr txBox="1"/>
          <p:nvPr/>
        </p:nvSpPr>
        <p:spPr>
          <a:xfrm>
            <a:off x="12984480" y="4983480"/>
            <a:ext cx="3291840" cy="731520"/>
          </a:xfrm>
          <a:prstGeom prst="rect">
            <a:avLst/>
          </a:prstGeom>
          <a:noFill/>
        </p:spPr>
        <p:txBody>
          <a:bodyPr wrap="square" lIns="0" rIns="0" tIns="0" bIns="0" anchor="t">
            <a:spAutoFit/>
          </a:bodyPr>
          <a:lstStyle/>
          <a:p>
            <a:pPr algn="l">
              <a:spcAft>
                <a:spcPts val="0"/>
              </a:spcAft>
            </a:pPr>
            <a:r>
              <a:rPr sz="3600" b="0">
                <a:solidFill>
                  <a:srgbClr val="56D5A2"/>
                </a:solidFill>
                <a:latin typeface="Open Sauce"/>
                <a:ea typeface="Open Sauce"/>
                <a:cs typeface="Open Sauce"/>
              </a:rPr>
              <a:t>DETECTED</a:t>
            </a:r>
          </a:p>
        </p:txBody>
      </p:sp>
      <p:sp>
        <p:nvSpPr>
          <p:cNvPr id="43" name="TextBox 42"/>
          <p:cNvSpPr txBox="1"/>
          <p:nvPr/>
        </p:nvSpPr>
        <p:spPr>
          <a:xfrm>
            <a:off x="8778240" y="6355080"/>
            <a:ext cx="777240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RED-TEAM CONSOLE: JUDGES CAN TRY IT</a:t>
            </a:r>
          </a:p>
        </p:txBody>
      </p:sp>
      <p:sp>
        <p:nvSpPr>
          <p:cNvPr id="44" name="Rounded Rectangle 43"/>
          <p:cNvSpPr/>
          <p:nvPr/>
        </p:nvSpPr>
        <p:spPr>
          <a:xfrm>
            <a:off x="8778240" y="685800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052560" y="694944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Hidden-text invoice</a:t>
            </a:r>
          </a:p>
        </p:txBody>
      </p:sp>
      <p:sp>
        <p:nvSpPr>
          <p:cNvPr id="46" name="TextBox 45"/>
          <p:cNvSpPr txBox="1"/>
          <p:nvPr/>
        </p:nvSpPr>
        <p:spPr>
          <a:xfrm>
            <a:off x="9052560" y="731520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flagged, payment blocked</a:t>
            </a:r>
          </a:p>
        </p:txBody>
      </p:sp>
      <p:sp>
        <p:nvSpPr>
          <p:cNvPr id="47" name="Rounded Rectangle 46"/>
          <p:cNvSpPr/>
          <p:nvPr/>
        </p:nvSpPr>
        <p:spPr>
          <a:xfrm>
            <a:off x="12710159" y="685800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984480" y="694944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Chat jailbreak</a:t>
            </a:r>
          </a:p>
        </p:txBody>
      </p:sp>
      <p:sp>
        <p:nvSpPr>
          <p:cNvPr id="49" name="TextBox 48"/>
          <p:cNvSpPr txBox="1"/>
          <p:nvPr/>
        </p:nvSpPr>
        <p:spPr>
          <a:xfrm>
            <a:off x="12984480" y="731520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refused, logged</a:t>
            </a:r>
          </a:p>
        </p:txBody>
      </p:sp>
      <p:sp>
        <p:nvSpPr>
          <p:cNvPr id="50" name="Rounded Rectangle 49"/>
          <p:cNvSpPr/>
          <p:nvPr/>
        </p:nvSpPr>
        <p:spPr>
          <a:xfrm>
            <a:off x="8778240" y="790956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052560" y="800100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Paraphrased fraud e-mail</a:t>
            </a:r>
          </a:p>
        </p:txBody>
      </p:sp>
      <p:sp>
        <p:nvSpPr>
          <p:cNvPr id="52" name="TextBox 51"/>
          <p:cNvSpPr txBox="1"/>
          <p:nvPr/>
        </p:nvSpPr>
        <p:spPr>
          <a:xfrm>
            <a:off x="9052560" y="836676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scanner missed, rules blocked</a:t>
            </a:r>
          </a:p>
        </p:txBody>
      </p:sp>
      <p:sp>
        <p:nvSpPr>
          <p:cNvPr id="53" name="Rounded Rectangle 52"/>
          <p:cNvSpPr/>
          <p:nvPr/>
        </p:nvSpPr>
        <p:spPr>
          <a:xfrm>
            <a:off x="12710159" y="790956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984480" y="800100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Forged approval</a:t>
            </a:r>
          </a:p>
        </p:txBody>
      </p:sp>
      <p:sp>
        <p:nvSpPr>
          <p:cNvPr id="55" name="TextBox 54"/>
          <p:cNvSpPr txBox="1"/>
          <p:nvPr/>
        </p:nvSpPr>
        <p:spPr>
          <a:xfrm>
            <a:off x="12984480" y="836676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signature check fails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5" id="5"/>
          <p:cNvSpPr/>
          <p:nvPr/>
        </p:nvSpPr>
        <p:spPr>
          <a:xfrm flipH="true" flipV="false" rot="4506284">
            <a:off x="-272430" y="3963060"/>
            <a:ext cx="10705830" cy="10725331"/>
          </a:xfrm>
          <a:custGeom>
            <a:avLst/>
            <a:gdLst/>
            <a:ahLst/>
            <a:cxnLst/>
            <a:rect r="r" b="b" t="t" l="l"/>
            <a:pathLst>
              <a:path h="10725331" w="10705830">
                <a:moveTo>
                  <a:pt x="10705830" y="0"/>
                </a:moveTo>
                <a:lnTo>
                  <a:pt x="0" y="0"/>
                </a:lnTo>
                <a:lnTo>
                  <a:pt x="0" y="10725331"/>
                </a:lnTo>
                <a:lnTo>
                  <a:pt x="10705830" y="10725331"/>
                </a:lnTo>
                <a:lnTo>
                  <a:pt x="10705830" y="0"/>
                </a:lnTo>
                <a:close/>
              </a:path>
            </a:pathLst>
          </a:custGeom>
          <a:blipFill>
            <a:blip r:embed="rId4"/>
            <a:stretch>
              <a:fillRect l="0" t="0" r="0" b="0"/>
            </a:stretch>
          </a:blipFill>
        </p:spPr>
      </p:sp>
      <p:sp>
        <p:nvSpPr>
          <p:cNvPr name="Freeform 6" id="6"/>
          <p:cNvSpPr/>
          <p:nvPr/>
        </p:nvSpPr>
        <p:spPr>
          <a:xfrm flipH="false" flipV="false" rot="0">
            <a:off x="6035040" y="2350008"/>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1521440" y="2350008"/>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521440" y="486460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5400000">
            <a:off x="16093440" y="1097280"/>
            <a:ext cx="956414" cy="956414"/>
          </a:xfrm>
          <a:custGeom>
            <a:avLst/>
            <a:gdLst/>
            <a:ahLst/>
            <a:cxnLst/>
            <a:rect r="r" b="b" t="t" l="l"/>
            <a:pathLst>
              <a:path h="956414" w="956414">
                <a:moveTo>
                  <a:pt x="0" y="0"/>
                </a:moveTo>
                <a:lnTo>
                  <a:pt x="956414" y="0"/>
                </a:lnTo>
                <a:lnTo>
                  <a:pt x="956414" y="956414"/>
                </a:lnTo>
                <a:lnTo>
                  <a:pt x="0" y="9564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id="23"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name="Freeform 8b" id="8"/>
          <p:cNvSpPr/>
          <p:nvPr/>
        </p:nvSpPr>
        <p:spPr>
          <a:xfrm flipH="false" flipV="false" rot="0">
            <a:off x="6035040" y="486460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id="24" name="TextBox 23"/>
          <p:cNvSpPr txBox="1"/>
          <p:nvPr/>
        </p:nvSpPr>
        <p:spPr>
          <a:xfrm>
            <a:off x="1682496" y="2240280"/>
            <a:ext cx="4206240" cy="1188720"/>
          </a:xfrm>
          <a:prstGeom prst="rect">
            <a:avLst/>
          </a:prstGeom>
          <a:noFill/>
        </p:spPr>
        <p:txBody>
          <a:bodyPr wrap="square" lIns="0" rIns="0" tIns="0" bIns="0" anchor="t">
            <a:spAutoFit/>
          </a:bodyPr>
          <a:lstStyle/>
          <a:p>
            <a:pPr algn="l">
              <a:spcAft>
                <a:spcPts val="0"/>
              </a:spcAft>
            </a:pPr>
            <a:r>
              <a:rPr sz="6400" b="0">
                <a:solidFill>
                  <a:srgbClr val="56D5A2"/>
                </a:solidFill>
                <a:latin typeface="Open Sauce"/>
                <a:ea typeface="Open Sauce"/>
                <a:cs typeface="Open Sauce"/>
              </a:rPr>
              <a:t>5 weeks</a:t>
            </a:r>
          </a:p>
        </p:txBody>
      </p:sp>
      <p:sp>
        <p:nvSpPr>
          <p:cNvPr id="25" name="TextBox 24"/>
          <p:cNvSpPr txBox="1"/>
          <p:nvPr/>
        </p:nvSpPr>
        <p:spPr>
          <a:xfrm>
            <a:off x="1682496" y="3429000"/>
            <a:ext cx="3931920" cy="91440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of warning before the first cash gap</a:t>
            </a:r>
          </a:p>
        </p:txBody>
      </p:sp>
      <p:sp>
        <p:nvSpPr>
          <p:cNvPr id="26" name="TextBox 25"/>
          <p:cNvSpPr txBox="1"/>
          <p:nvPr/>
        </p:nvSpPr>
        <p:spPr>
          <a:xfrm>
            <a:off x="6903720" y="23317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PLAIN LANGUAGE</a:t>
            </a:r>
          </a:p>
        </p:txBody>
      </p:sp>
      <p:sp>
        <p:nvSpPr>
          <p:cNvPr id="27" name="TextBox 26"/>
          <p:cNvSpPr txBox="1"/>
          <p:nvPr/>
        </p:nvSpPr>
        <p:spPr>
          <a:xfrm>
            <a:off x="6903720" y="28072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Approvals, the audit log and the agent's steps read as sentences, not JSON.</a:t>
            </a:r>
          </a:p>
        </p:txBody>
      </p:sp>
      <p:sp>
        <p:nvSpPr>
          <p:cNvPr id="28" name="TextBox 27"/>
          <p:cNvSpPr txBox="1"/>
          <p:nvPr/>
        </p:nvSpPr>
        <p:spPr>
          <a:xfrm>
            <a:off x="12390119" y="23317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ALERTS BEFORE PROBLEMS</a:t>
            </a:r>
          </a:p>
        </p:txBody>
      </p:sp>
      <p:sp>
        <p:nvSpPr>
          <p:cNvPr id="29" name="TextBox 28"/>
          <p:cNvSpPr txBox="1"/>
          <p:nvPr/>
        </p:nvSpPr>
        <p:spPr>
          <a:xfrm>
            <a:off x="12390119" y="28072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The Monday brief names the gap weeks ahead; fraud alerts reach the owner at once.</a:t>
            </a:r>
          </a:p>
        </p:txBody>
      </p:sp>
      <p:sp>
        <p:nvSpPr>
          <p:cNvPr id="30" name="TextBox 29"/>
          <p:cNvSpPr txBox="1"/>
          <p:nvPr/>
        </p:nvSpPr>
        <p:spPr>
          <a:xfrm>
            <a:off x="6903720" y="48463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WORKS OFFLINE</a:t>
            </a:r>
          </a:p>
        </p:txBody>
      </p:sp>
      <p:sp>
        <p:nvSpPr>
          <p:cNvPr id="31" name="TextBox 30"/>
          <p:cNvSpPr txBox="1"/>
          <p:nvPr/>
        </p:nvSpPr>
        <p:spPr>
          <a:xfrm>
            <a:off x="6903720" y="53218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The offline planner runs the same tools with no network; an outage falls back and says so.</a:t>
            </a:r>
          </a:p>
        </p:txBody>
      </p:sp>
      <p:sp>
        <p:nvSpPr>
          <p:cNvPr id="32" name="TextBox 31"/>
          <p:cNvSpPr txBox="1"/>
          <p:nvPr/>
        </p:nvSpPr>
        <p:spPr>
          <a:xfrm>
            <a:off x="12390119" y="48463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ASKS, THEN ACTS</a:t>
            </a:r>
          </a:p>
        </p:txBody>
      </p:sp>
      <p:sp>
        <p:nvSpPr>
          <p:cNvPr id="33" name="TextBox 32"/>
          <p:cNvSpPr txBox="1"/>
          <p:nvPr/>
        </p:nvSpPr>
        <p:spPr>
          <a:xfrm>
            <a:off x="12390119" y="53218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Asks which invoice when two fit; withdraws its own request when told “no”.</a:t>
            </a:r>
          </a:p>
        </p:txBody>
      </p:sp>
      <p:sp>
        <p:nvSpPr>
          <p:cNvPr id="34" name="TextBox 33"/>
          <p:cNvSpPr txBox="1"/>
          <p:nvPr/>
        </p:nvSpPr>
        <p:spPr>
          <a:xfrm>
            <a:off x="1682496" y="690372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INNOVATION</a:t>
            </a:r>
          </a:p>
        </p:txBody>
      </p:sp>
      <p:sp>
        <p:nvSpPr>
          <p:cNvPr id="35" name="TextBox 34"/>
          <p:cNvSpPr txBox="1"/>
          <p:nvPr/>
        </p:nvSpPr>
        <p:spPr>
          <a:xfrm>
            <a:off x="1682496" y="7452360"/>
            <a:ext cx="9144000" cy="1005840"/>
          </a:xfrm>
          <a:prstGeom prst="rect">
            <a:avLst/>
          </a:prstGeom>
          <a:noFill/>
        </p:spPr>
        <p:txBody>
          <a:bodyPr wrap="square" lIns="0" rIns="0" tIns="0" bIns="0" anchor="t">
            <a:spAutoFit/>
          </a:bodyPr>
          <a:lstStyle/>
          <a:p>
            <a:pPr algn="l">
              <a:spcAft>
                <a:spcPts val="0"/>
              </a:spcAft>
            </a:pPr>
            <a:r>
              <a:rPr sz="8000" b="0">
                <a:solidFill>
                  <a:srgbClr val="F2FFF9"/>
                </a:solidFill>
                <a:latin typeface="Open Sauce"/>
                <a:ea typeface="Open Sauce"/>
                <a:cs typeface="Open Sauce"/>
              </a:rPr>
              <a:t>INNOVATION &amp; UX</a:t>
            </a:r>
          </a:p>
        </p:txBody>
      </p:sp>
      <p:sp>
        <p:nvSpPr>
          <p:cNvPr id="36" name="TextBox 35"/>
          <p:cNvSpPr txBox="1"/>
          <p:nvPr/>
        </p:nvSpPr>
        <p:spPr>
          <a:xfrm>
            <a:off x="11521440" y="7543800"/>
            <a:ext cx="5029200" cy="1097280"/>
          </a:xfrm>
          <a:prstGeom prst="rect">
            <a:avLst/>
          </a:prstGeom>
          <a:noFill/>
        </p:spPr>
        <p:txBody>
          <a:bodyPr wrap="square" lIns="0" rIns="0" tIns="0" bIns="0" anchor="t">
            <a:spAutoFit/>
          </a:bodyPr>
          <a:lstStyle/>
          <a:p>
            <a:pPr algn="l">
              <a:lnSpc>
                <a:spcPct val="120000"/>
              </a:lnSpc>
              <a:spcAft>
                <a:spcPts val="0"/>
              </a:spcAft>
            </a:pPr>
            <a:r>
              <a:rPr sz="1700" b="0">
                <a:solidFill>
                  <a:srgbClr val="9FB5AB"/>
                </a:solidFill>
                <a:latin typeface="Open Sauce Light"/>
                <a:ea typeface="Open Sauce Light"/>
                <a:cs typeface="Open Sauce Light"/>
              </a:rPr>
              <a:t>Same tools and rules on DeepSeek, Gemini, a local Ollama model or offline.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0">
            <a:off x="-1955157" y="-219165"/>
            <a:ext cx="10705830" cy="10725331"/>
          </a:xfrm>
          <a:custGeom>
            <a:avLst/>
            <a:gdLst/>
            <a:ahLst/>
            <a:cxnLst/>
            <a:rect r="r" b="b" t="t" l="l"/>
            <a:pathLst>
              <a:path h="10725331" w="10705830">
                <a:moveTo>
                  <a:pt x="0" y="0"/>
                </a:moveTo>
                <a:lnTo>
                  <a:pt x="10705830" y="0"/>
                </a:lnTo>
                <a:lnTo>
                  <a:pt x="10705830" y="10725330"/>
                </a:lnTo>
                <a:lnTo>
                  <a:pt x="0" y="10725330"/>
                </a:lnTo>
                <a:lnTo>
                  <a:pt x="0" y="0"/>
                </a:lnTo>
                <a:close/>
              </a:path>
            </a:pathLst>
          </a:custGeom>
          <a:blipFill>
            <a:blip r:embed="rId2"/>
            <a:stretch>
              <a:fillRect l="0" t="0" r="0" b="0"/>
            </a:stretch>
          </a:blipFill>
        </p:spPr>
      </p:sp>
      <p:sp>
        <p:nvSpPr>
          <p:cNvPr id="15"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6" name="TextBox 15"/>
          <p:cNvSpPr txBox="1"/>
          <p:nvPr/>
        </p:nvSpPr>
        <p:spPr>
          <a:xfrm>
            <a:off x="1682496" y="2011680"/>
            <a:ext cx="6766560" cy="41148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KNOWN RISKS, FROM OUR SELF-ASSESSMENT</a:t>
            </a:r>
          </a:p>
        </p:txBody>
      </p:sp>
      <p:sp>
        <p:nvSpPr>
          <p:cNvPr id="17" name="TextBox 16"/>
          <p:cNvSpPr txBox="1"/>
          <p:nvPr/>
        </p:nvSpPr>
        <p:spPr>
          <a:xfrm>
            <a:off x="1682496" y="2606040"/>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R1</a:t>
            </a:r>
          </a:p>
        </p:txBody>
      </p:sp>
      <p:sp>
        <p:nvSpPr>
          <p:cNvPr id="18" name="TextBox 17"/>
          <p:cNvSpPr txBox="1"/>
          <p:nvPr/>
        </p:nvSpPr>
        <p:spPr>
          <a:xfrm>
            <a:off x="2514600" y="2606040"/>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PIN sign-in is demo-grade</a:t>
            </a:r>
          </a:p>
        </p:txBody>
      </p:sp>
      <p:sp>
        <p:nvSpPr>
          <p:cNvPr id="19" name="TextBox 18"/>
          <p:cNvSpPr txBox="1"/>
          <p:nvPr/>
        </p:nvSpPr>
        <p:spPr>
          <a:xfrm>
            <a:off x="1682496" y="3136392"/>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R4</a:t>
            </a:r>
          </a:p>
        </p:txBody>
      </p:sp>
      <p:sp>
        <p:nvSpPr>
          <p:cNvPr id="20" name="TextBox 19"/>
          <p:cNvSpPr txBox="1"/>
          <p:nvPr/>
        </p:nvSpPr>
        <p:spPr>
          <a:xfrm>
            <a:off x="2514600" y="3136392"/>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Keyword detection can be evaded</a:t>
            </a:r>
          </a:p>
        </p:txBody>
      </p:sp>
      <p:sp>
        <p:nvSpPr>
          <p:cNvPr id="21" name="TextBox 20"/>
          <p:cNvSpPr txBox="1"/>
          <p:nvPr/>
        </p:nvSpPr>
        <p:spPr>
          <a:xfrm>
            <a:off x="1682496" y="3666744"/>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R7</a:t>
            </a:r>
          </a:p>
        </p:txBody>
      </p:sp>
      <p:sp>
        <p:nvSpPr>
          <p:cNvPr id="22" name="TextBox 21"/>
          <p:cNvSpPr txBox="1"/>
          <p:nvPr/>
        </p:nvSpPr>
        <p:spPr>
          <a:xfrm>
            <a:off x="2514600" y="3666744"/>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One SQLite file is the root of trust</a:t>
            </a:r>
          </a:p>
        </p:txBody>
      </p:sp>
      <p:sp>
        <p:nvSpPr>
          <p:cNvPr id="23" name="TextBox 22"/>
          <p:cNvSpPr txBox="1"/>
          <p:nvPr/>
        </p:nvSpPr>
        <p:spPr>
          <a:xfrm>
            <a:off x="1682496" y="4197096"/>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R8</a:t>
            </a:r>
          </a:p>
        </p:txBody>
      </p:sp>
      <p:sp>
        <p:nvSpPr>
          <p:cNvPr id="24" name="TextBox 23"/>
          <p:cNvSpPr txBox="1"/>
          <p:nvPr/>
        </p:nvSpPr>
        <p:spPr>
          <a:xfrm>
            <a:off x="2514600" y="4197096"/>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Attack tests run on the offline planner</a:t>
            </a:r>
          </a:p>
        </p:txBody>
      </p:sp>
      <p:sp>
        <p:nvSpPr>
          <p:cNvPr id="25" name="TextBox 24"/>
          <p:cNvSpPr txBox="1"/>
          <p:nvPr/>
        </p:nvSpPr>
        <p:spPr>
          <a:xfrm>
            <a:off x="1682496" y="4727448"/>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R10</a:t>
            </a:r>
          </a:p>
        </p:txBody>
      </p:sp>
      <p:sp>
        <p:nvSpPr>
          <p:cNvPr id="26" name="TextBox 25"/>
          <p:cNvSpPr txBox="1"/>
          <p:nvPr/>
        </p:nvSpPr>
        <p:spPr>
          <a:xfrm>
            <a:off x="2514600" y="4727448"/>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Pseudonymisation is partial</a:t>
            </a:r>
          </a:p>
        </p:txBody>
      </p:sp>
      <p:sp>
        <p:nvSpPr>
          <p:cNvPr id="27" name="TextBox 26"/>
          <p:cNvSpPr txBox="1"/>
          <p:nvPr/>
        </p:nvSpPr>
        <p:spPr>
          <a:xfrm>
            <a:off x="1682496" y="5257800"/>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R23</a:t>
            </a:r>
          </a:p>
        </p:txBody>
      </p:sp>
      <p:sp>
        <p:nvSpPr>
          <p:cNvPr id="28" name="TextBox 27"/>
          <p:cNvSpPr txBox="1"/>
          <p:nvPr/>
        </p:nvSpPr>
        <p:spPr>
          <a:xfrm>
            <a:off x="2514600" y="5257800"/>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Signing keys are per role, on the server</a:t>
            </a:r>
          </a:p>
        </p:txBody>
      </p:sp>
      <p:sp>
        <p:nvSpPr>
          <p:cNvPr id="29" name="TextBox 28"/>
          <p:cNvSpPr txBox="1"/>
          <p:nvPr/>
        </p:nvSpPr>
        <p:spPr>
          <a:xfrm>
            <a:off x="1682496" y="589788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HONEST LIMITS</a:t>
            </a:r>
          </a:p>
        </p:txBody>
      </p:sp>
      <p:sp>
        <p:nvSpPr>
          <p:cNvPr id="30" name="TextBox 29"/>
          <p:cNvSpPr txBox="1"/>
          <p:nvPr/>
        </p:nvSpPr>
        <p:spPr>
          <a:xfrm>
            <a:off x="1682496" y="6446520"/>
            <a:ext cx="7863840" cy="219456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RISKS AND</a:t>
            </a:r>
          </a:p>
          <a:p>
            <a:pPr algn="l">
              <a:lnSpc>
                <a:spcPct val="95000"/>
              </a:lnSpc>
              <a:spcAft>
                <a:spcPts val="0"/>
              </a:spcAft>
            </a:pPr>
            <a:r>
              <a:rPr sz="8000" b="0">
                <a:solidFill>
                  <a:srgbClr val="F2FFF9"/>
                </a:solidFill>
                <a:latin typeface="Open Sauce"/>
                <a:ea typeface="Open Sauce"/>
                <a:cs typeface="Open Sauce"/>
              </a:rPr>
              <a:t>NEXT STEPS</a:t>
            </a:r>
          </a:p>
        </p:txBody>
      </p:sp>
      <p:sp>
        <p:nvSpPr>
          <p:cNvPr id="31" name="Rounded Rectangle 30"/>
          <p:cNvSpPr/>
          <p:nvPr/>
        </p:nvSpPr>
        <p:spPr>
          <a:xfrm>
            <a:off x="9509760" y="201168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9800" y="224028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REAL BANK APIS</a:t>
            </a:r>
          </a:p>
        </p:txBody>
      </p:sp>
      <p:sp>
        <p:nvSpPr>
          <p:cNvPr id="33" name="TextBox 32"/>
          <p:cNvSpPr txBox="1"/>
          <p:nvPr/>
        </p:nvSpPr>
        <p:spPr>
          <a:xfrm>
            <a:off x="9829800" y="272491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Replace the mock bank with open-banking APIs such as WeBank's.</a:t>
            </a:r>
          </a:p>
        </p:txBody>
      </p:sp>
      <p:sp>
        <p:nvSpPr>
          <p:cNvPr id="34" name="Rounded Rectangle 33"/>
          <p:cNvSpPr/>
          <p:nvPr/>
        </p:nvSpPr>
        <p:spPr>
          <a:xfrm>
            <a:off x="9509760" y="370332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829800" y="393192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REAL IDENTITY</a:t>
            </a:r>
          </a:p>
        </p:txBody>
      </p:sp>
      <p:sp>
        <p:nvSpPr>
          <p:cNvPr id="36" name="TextBox 35"/>
          <p:cNvSpPr txBox="1"/>
          <p:nvPr/>
        </p:nvSpPr>
        <p:spPr>
          <a:xfrm>
            <a:off x="9829800" y="441655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SSO and MFA; each person's signing key on their own device.</a:t>
            </a:r>
          </a:p>
        </p:txBody>
      </p:sp>
      <p:sp>
        <p:nvSpPr>
          <p:cNvPr id="37" name="Rounded Rectangle 36"/>
          <p:cNvSpPr/>
          <p:nvPr/>
        </p:nvSpPr>
        <p:spPr>
          <a:xfrm>
            <a:off x="9509760" y="539496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829800" y="562356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MORE COUNTRY PACKS</a:t>
            </a:r>
          </a:p>
        </p:txBody>
      </p:sp>
      <p:sp>
        <p:nvSpPr>
          <p:cNvPr id="39" name="TextBox 38"/>
          <p:cNvSpPr txBox="1"/>
          <p:nvPr/>
        </p:nvSpPr>
        <p:spPr>
          <a:xfrm>
            <a:off x="9829800" y="610819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EU and China today; VAT, currency and holidays per country.</a:t>
            </a:r>
          </a:p>
        </p:txBody>
      </p:sp>
      <p:sp>
        <p:nvSpPr>
          <p:cNvPr id="40" name="Rounded Rectangle 39"/>
          <p:cNvSpPr/>
          <p:nvPr/>
        </p:nvSpPr>
        <p:spPr>
          <a:xfrm>
            <a:off x="9509760" y="708660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829800" y="731520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SCHEDULED ANCHORING</a:t>
            </a:r>
          </a:p>
        </p:txBody>
      </p:sp>
      <p:sp>
        <p:nvSpPr>
          <p:cNvPr id="42" name="TextBox 41"/>
          <p:cNvSpPr txBox="1"/>
          <p:nvPr/>
        </p:nvSpPr>
        <p:spPr>
          <a:xfrm>
            <a:off x="9829800" y="779983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Publish the audit head to a public chain automatically.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39594" y="-11283191"/>
            <a:ext cx="11166224" cy="19875157"/>
          </a:xfrm>
          <a:custGeom>
            <a:avLst/>
            <a:gdLst/>
            <a:ahLst/>
            <a:cxnLst/>
            <a:rect r="r" b="b" t="t" l="l"/>
            <a:pathLst>
              <a:path h="19875157" w="11166224">
                <a:moveTo>
                  <a:pt x="0" y="0"/>
                </a:moveTo>
                <a:lnTo>
                  <a:pt x="11166224" y="0"/>
                </a:lnTo>
                <a:lnTo>
                  <a:pt x="11166224" y="19875157"/>
                </a:lnTo>
                <a:lnTo>
                  <a:pt x="0" y="19875157"/>
                </a:lnTo>
                <a:lnTo>
                  <a:pt x="0" y="0"/>
                </a:lnTo>
                <a:close/>
              </a:path>
            </a:pathLst>
          </a:custGeom>
          <a:blipFill>
            <a:blip r:embed="rId2"/>
            <a:stretch>
              <a:fillRect l="0" t="0" r="0" b="0"/>
            </a:stretch>
          </a:blipFill>
        </p:spPr>
      </p:sp>
      <p:sp>
        <p:nvSpPr>
          <p:cNvPr name="Freeform 3" id="3"/>
          <p:cNvSpPr/>
          <p:nvPr/>
        </p:nvSpPr>
        <p:spPr>
          <a:xfrm flipH="false" flipV="false" rot="5400000">
            <a:off x="16552779" y="1733874"/>
            <a:ext cx="956414" cy="956414"/>
          </a:xfrm>
          <a:custGeom>
            <a:avLst/>
            <a:gdLst/>
            <a:ahLst/>
            <a:cxnLst/>
            <a:rect r="r" b="b" t="t" l="l"/>
            <a:pathLst>
              <a:path h="956414" w="956414">
                <a:moveTo>
                  <a:pt x="0" y="0"/>
                </a:moveTo>
                <a:lnTo>
                  <a:pt x="956414" y="0"/>
                </a:lnTo>
                <a:lnTo>
                  <a:pt x="956414" y="956414"/>
                </a:lnTo>
                <a:lnTo>
                  <a:pt x="0" y="9564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id="10" name="Runway wordmark"/>
          <p:cNvSpPr txBox="1"/>
          <p:nvPr/>
        </p:nvSpPr>
        <p:spPr>
          <a:xfrm>
            <a:off x="6935321" y="1660722"/>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1" name="TextBox 10"/>
          <p:cNvSpPr txBox="1"/>
          <p:nvPr/>
        </p:nvSpPr>
        <p:spPr>
          <a:xfrm>
            <a:off x="1746504" y="4434840"/>
            <a:ext cx="4754880" cy="411480"/>
          </a:xfrm>
          <a:prstGeom prst="rect">
            <a:avLst/>
          </a:prstGeom>
          <a:noFill/>
        </p:spPr>
        <p:txBody>
          <a:bodyPr wrap="square" lIns="0" rIns="0" tIns="0" bIns="0" anchor="t">
            <a:spAutoFit/>
          </a:bodyPr>
          <a:lstStyle/>
          <a:p>
            <a:pPr algn="l">
              <a:spcAft>
                <a:spcPts val="0"/>
              </a:spcAft>
            </a:pPr>
            <a:r>
              <a:rPr sz="2200" b="0">
                <a:solidFill>
                  <a:srgbClr val="56D5A2"/>
                </a:solidFill>
                <a:latin typeface="Open Sauce Light"/>
                <a:ea typeface="Open Sauce Light"/>
                <a:cs typeface="Open Sauce Light"/>
              </a:rPr>
              <a:t>TEAM HEXCELLENT</a:t>
            </a:r>
          </a:p>
        </p:txBody>
      </p:sp>
      <p:sp>
        <p:nvSpPr>
          <p:cNvPr id="12" name="TextBox 11"/>
          <p:cNvSpPr txBox="1"/>
          <p:nvPr/>
        </p:nvSpPr>
        <p:spPr>
          <a:xfrm>
            <a:off x="1746504" y="5029200"/>
            <a:ext cx="475488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Voicu Delia-Andreea</a:t>
            </a:r>
          </a:p>
        </p:txBody>
      </p:sp>
      <p:sp>
        <p:nvSpPr>
          <p:cNvPr id="13" name="TextBox 12"/>
          <p:cNvSpPr txBox="1"/>
          <p:nvPr/>
        </p:nvSpPr>
        <p:spPr>
          <a:xfrm>
            <a:off x="1746504" y="5413248"/>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Team leader</a:t>
            </a:r>
          </a:p>
        </p:txBody>
      </p:sp>
      <p:sp>
        <p:nvSpPr>
          <p:cNvPr id="14" name="TextBox 13"/>
          <p:cNvSpPr txBox="1"/>
          <p:nvPr/>
        </p:nvSpPr>
        <p:spPr>
          <a:xfrm>
            <a:off x="1746504" y="5897880"/>
            <a:ext cx="475488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Georgescu Gabriel</a:t>
            </a:r>
          </a:p>
        </p:txBody>
      </p:sp>
      <p:sp>
        <p:nvSpPr>
          <p:cNvPr id="15" name="TextBox 14"/>
          <p:cNvSpPr txBox="1"/>
          <p:nvPr/>
        </p:nvSpPr>
        <p:spPr>
          <a:xfrm>
            <a:off x="1746504" y="6281928"/>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Team member</a:t>
            </a:r>
          </a:p>
        </p:txBody>
      </p:sp>
      <p:sp>
        <p:nvSpPr>
          <p:cNvPr id="16" name="TextBox 15"/>
          <p:cNvSpPr txBox="1"/>
          <p:nvPr/>
        </p:nvSpPr>
        <p:spPr>
          <a:xfrm>
            <a:off x="1746504" y="6766560"/>
            <a:ext cx="475488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Tomescu Vlad-Costin</a:t>
            </a:r>
          </a:p>
        </p:txBody>
      </p:sp>
      <p:sp>
        <p:nvSpPr>
          <p:cNvPr id="17" name="TextBox 16"/>
          <p:cNvSpPr txBox="1"/>
          <p:nvPr/>
        </p:nvSpPr>
        <p:spPr>
          <a:xfrm>
            <a:off x="1746504" y="7150608"/>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Team member</a:t>
            </a:r>
          </a:p>
        </p:txBody>
      </p:sp>
      <p:sp>
        <p:nvSpPr>
          <p:cNvPr id="18" name="TextBox 17"/>
          <p:cNvSpPr txBox="1"/>
          <p:nvPr/>
        </p:nvSpPr>
        <p:spPr>
          <a:xfrm>
            <a:off x="1746504" y="7818120"/>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Politehnica Bucharest</a:t>
            </a:r>
          </a:p>
        </p:txBody>
      </p:sp>
      <p:sp>
        <p:nvSpPr>
          <p:cNvPr id="19" name="TextBox 18"/>
          <p:cNvSpPr txBox="1"/>
          <p:nvPr/>
        </p:nvSpPr>
        <p:spPr>
          <a:xfrm>
            <a:off x="6931152" y="4343400"/>
            <a:ext cx="9875520" cy="1097280"/>
          </a:xfrm>
          <a:prstGeom prst="rect">
            <a:avLst/>
          </a:prstGeom>
          <a:noFill/>
        </p:spPr>
        <p:txBody>
          <a:bodyPr wrap="square" lIns="0" rIns="0" tIns="0" bIns="0" anchor="t">
            <a:spAutoFit/>
          </a:bodyPr>
          <a:lstStyle/>
          <a:p>
            <a:pPr algn="l">
              <a:spcAft>
                <a:spcPts val="0"/>
              </a:spcAft>
            </a:pPr>
            <a:r>
              <a:rPr sz="8000" b="0">
                <a:solidFill>
                  <a:srgbClr val="F2FFF9"/>
                </a:solidFill>
                <a:latin typeface="Open Sauce"/>
                <a:ea typeface="Open Sauce"/>
                <a:cs typeface="Open Sauce"/>
              </a:rPr>
              <a:t>THANK YOU</a:t>
            </a:r>
          </a:p>
        </p:txBody>
      </p:sp>
      <p:sp>
        <p:nvSpPr>
          <p:cNvPr id="20" name="TextBox 19"/>
          <p:cNvSpPr txBox="1"/>
          <p:nvPr/>
        </p:nvSpPr>
        <p:spPr>
          <a:xfrm>
            <a:off x="6931152" y="5577840"/>
            <a:ext cx="9692640" cy="548640"/>
          </a:xfrm>
          <a:prstGeom prst="rect">
            <a:avLst/>
          </a:prstGeom>
          <a:noFill/>
        </p:spPr>
        <p:txBody>
          <a:bodyPr wrap="square" lIns="0" rIns="0" tIns="0" bIns="0" anchor="t">
            <a:spAutoFit/>
          </a:bodyPr>
          <a:lstStyle/>
          <a:p>
            <a:pPr algn="l">
              <a:spcAft>
                <a:spcPts val="0"/>
              </a:spcAft>
            </a:pPr>
            <a:r>
              <a:rPr sz="2600" b="0">
                <a:solidFill>
                  <a:srgbClr val="56D5A2"/>
                </a:solidFill>
                <a:latin typeface="Open Sauce"/>
                <a:ea typeface="Open Sauce"/>
                <a:cs typeface="Open Sauce"/>
              </a:rPr>
              <a:t>The agent proposes. Code enforces. Humans decide.</a:t>
            </a:r>
          </a:p>
        </p:txBody>
      </p:sp>
      <p:sp>
        <p:nvSpPr>
          <p:cNvPr id="21" name="TextBox 20"/>
          <p:cNvSpPr txBox="1"/>
          <p:nvPr/>
        </p:nvSpPr>
        <p:spPr>
          <a:xfrm>
            <a:off x="6931152" y="6675120"/>
            <a:ext cx="2194560" cy="45720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GITHUB</a:t>
            </a:r>
          </a:p>
        </p:txBody>
      </p:sp>
      <p:sp>
        <p:nvSpPr>
          <p:cNvPr id="22" name="TextBox 21"/>
          <p:cNvSpPr txBox="1"/>
          <p:nvPr/>
        </p:nvSpPr>
        <p:spPr>
          <a:xfrm>
            <a:off x="9144000" y="6675120"/>
            <a:ext cx="7315200" cy="45720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github.com/gabi200/runway</a:t>
            </a:r>
          </a:p>
        </p:txBody>
      </p:sp>
      <p:sp>
        <p:nvSpPr>
          <p:cNvPr id="23" name="TextBox 22"/>
          <p:cNvSpPr txBox="1"/>
          <p:nvPr/>
        </p:nvSpPr>
        <p:spPr>
          <a:xfrm>
            <a:off x="6931152" y="7406640"/>
            <a:ext cx="2194560" cy="45720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DEMO VIDEO</a:t>
            </a:r>
          </a:p>
        </p:txBody>
      </p:sp>
      <p:sp>
        <p:nvSpPr>
          <p:cNvPr id="24" name="TextBox 23"/>
          <p:cNvSpPr txBox="1"/>
          <p:nvPr/>
        </p:nvSpPr>
        <p:spPr>
          <a:xfrm>
            <a:off x="9144000" y="7406640"/>
            <a:ext cx="7315200" cy="45720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included with our submission</a:t>
            </a:r>
          </a:p>
        </p:txBody>
      </p:sp>
      <p:sp>
        <p:nvSpPr>
          <p:cNvPr id="25" name="TextBox 24"/>
          <p:cNvSpPr txBox="1"/>
          <p:nvPr/>
        </p:nvSpPr>
        <p:spPr>
          <a:xfrm>
            <a:off x="6931152" y="8138160"/>
            <a:ext cx="2194560" cy="45720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QUESTIONS</a:t>
            </a:r>
          </a:p>
        </p:txBody>
      </p:sp>
      <p:sp>
        <p:nvSpPr>
          <p:cNvPr id="26" name="TextBox 25"/>
          <p:cNvSpPr txBox="1"/>
          <p:nvPr/>
        </p:nvSpPr>
        <p:spPr>
          <a:xfrm>
            <a:off x="9144000" y="8138160"/>
            <a:ext cx="7315200" cy="45720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we are happy to take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DAHYRAtTKCg</dc:identifier>
  <dcterms:modified xsi:type="dcterms:W3CDTF">2011-08-01T06:04:30Z</dcterms:modified>
  <cp:revision>1</cp:revision>
  <dc:title>Green Black and White Corporate Fintech Presentation</dc:title>
</cp:coreProperties>
</file>